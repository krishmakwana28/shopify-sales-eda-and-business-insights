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notesSlides/notesSlide14.xml" ContentType="application/vnd.openxmlformats-officedocument.presentationml.notesSlide+xml"/>
  <Override PartName="/ppt/charts/chart11.xml" ContentType="application/vnd.openxmlformats-officedocument.drawingml.chart+xml"/>
  <Override PartName="/ppt/notesSlides/notesSlide15.xml" ContentType="application/vnd.openxmlformats-officedocument.presentationml.notesSlide+xml"/>
  <Override PartName="/ppt/charts/chart12.xml" ContentType="application/vnd.openxmlformats-officedocument.drawingml.chart+xml"/>
  <Override PartName="/ppt/notesSlides/notesSlide16.xml" ContentType="application/vnd.openxmlformats-officedocument.presentationml.notesSlide+xml"/>
  <Override PartName="/ppt/charts/chart13.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7" d="100"/>
          <a:sy n="107" d="100"/>
        </p:scale>
        <p:origin x="754"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c:v>
                </c:pt>
              </c:strCache>
            </c:strRef>
          </c:tx>
          <c:spPr>
            <a:solidFill>
              <a:srgbClr val="00897B"/>
            </a:solidFill>
            <a:effectLst/>
          </c:spPr>
          <c:invertIfNegative val="0"/>
          <c:dLbls>
            <c:dLbl>
              <c:idx val="0"/>
              <c:layout>
                <c:manualLayout>
                  <c:x val="-1.6203703703703703E-2"/>
                  <c:y val="-3.56125356125357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F0E-49D2-A6FF-C17537E96007}"/>
                </c:ext>
              </c:extLst>
            </c:dLbl>
            <c:dLbl>
              <c:idx val="1"/>
              <c:layout>
                <c:manualLayout>
                  <c:x val="-2.2363178726876643E-2"/>
                  <c:y val="-3.284130847013548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F0E-49D2-A6FF-C17537E96007}"/>
                </c:ext>
              </c:extLst>
            </c:dLbl>
            <c:dLbl>
              <c:idx val="2"/>
              <c:layout>
                <c:manualLayout>
                  <c:x val="-1.1181589363438363E-2"/>
                  <c:y val="-3.28413084701360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F0E-49D2-A6FF-C17537E96007}"/>
                </c:ext>
              </c:extLst>
            </c:dLbl>
            <c:numFmt formatCode="#,##0" sourceLinked="0"/>
            <c:spPr>
              <a:noFill/>
              <a:ln>
                <a:noFill/>
              </a:ln>
              <a:effectLst/>
            </c:spPr>
            <c:txPr>
              <a:bodyPr/>
              <a:lstStyle/>
              <a:p>
                <a:pPr>
                  <a:defRPr sz="80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24116736</c:v>
                </c:pt>
                <c:pt idx="1">
                  <c:v>24227620</c:v>
                </c:pt>
                <c:pt idx="2">
                  <c:v>11301580</c:v>
                </c:pt>
              </c:numCache>
            </c:numRef>
          </c:val>
          <c:extLst>
            <c:ext xmlns:c16="http://schemas.microsoft.com/office/drawing/2014/chart" uri="{C3380CC4-5D6E-409C-BE32-E72D297353CC}">
              <c16:uniqueId val="{00000000-F0B8-4B8A-A861-EF5E7E08947F}"/>
            </c:ext>
          </c:extLst>
        </c:ser>
        <c:ser>
          <c:idx val="1"/>
          <c:order val="1"/>
          <c:tx>
            <c:strRef>
              <c:f>Sheet1!$C$1</c:f>
              <c:strCache>
                <c:ptCount val="1"/>
                <c:pt idx="0">
                  <c:v>Profit (₹)</c:v>
                </c:pt>
              </c:strCache>
            </c:strRef>
          </c:tx>
          <c:spPr>
            <a:solidFill>
              <a:srgbClr val="F9A825"/>
            </a:solidFill>
            <a:effectLst/>
          </c:spPr>
          <c:invertIfNegative val="0"/>
          <c:dLbls>
            <c:dLbl>
              <c:idx val="0"/>
              <c:layout>
                <c:manualLayout>
                  <c:x val="2.546296296296292E-2"/>
                  <c:y val="-3.561253561253561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0E-49D2-A6FF-C17537E96007}"/>
                </c:ext>
              </c:extLst>
            </c:dLbl>
            <c:dLbl>
              <c:idx val="1"/>
              <c:layout>
                <c:manualLayout>
                  <c:x val="1.7890542981501167E-2"/>
                  <c:y val="-3.010418499817687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0E-49D2-A6FF-C17537E96007}"/>
                </c:ext>
              </c:extLst>
            </c:dLbl>
            <c:dLbl>
              <c:idx val="2"/>
              <c:layout>
                <c:manualLayout>
                  <c:x val="2.6835814472251873E-2"/>
                  <c:y val="6.568261694027036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F0E-49D2-A6FF-C17537E96007}"/>
                </c:ext>
              </c:extLst>
            </c:dLbl>
            <c:numFmt formatCode="#,##0" sourceLinked="0"/>
            <c:spPr>
              <a:noFill/>
              <a:ln>
                <a:noFill/>
              </a:ln>
              <a:effectLst/>
            </c:spPr>
            <c:txPr>
              <a:bodyPr/>
              <a:lstStyle/>
              <a:p>
                <a:pPr>
                  <a:defRPr sz="80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Sheet1!$C$2:$C$4</c:f>
              <c:numCache>
                <c:formatCode>General</c:formatCode>
                <c:ptCount val="3"/>
                <c:pt idx="0">
                  <c:v>23789048</c:v>
                </c:pt>
                <c:pt idx="1">
                  <c:v>23896770</c:v>
                </c:pt>
                <c:pt idx="2">
                  <c:v>11148813</c:v>
                </c:pt>
              </c:numCache>
            </c:numRef>
          </c:val>
          <c:extLst>
            <c:ext xmlns:c16="http://schemas.microsoft.com/office/drawing/2014/chart" uri="{C3380CC4-5D6E-409C-BE32-E72D297353CC}">
              <c16:uniqueId val="{00000001-F0B8-4B8A-A861-EF5E7E0894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Monthly Revenue (₹)</c:v>
                </c:pt>
              </c:strCache>
            </c:strRef>
          </c:tx>
          <c:spPr>
            <a:ln w="38100" cap="flat">
              <a:solidFill>
                <a:srgbClr val="00897B"/>
              </a:solidFill>
              <a:prstDash val="solid"/>
              <a:round/>
            </a:ln>
            <a:effectLst/>
          </c:spPr>
          <c:marker>
            <c:symbol val="circle"/>
            <c:size val="6"/>
            <c:spPr>
              <a:solidFill>
                <a:srgbClr val="00897B"/>
              </a:solidFill>
              <a:ln w="9525" cap="flat">
                <a:solidFill>
                  <a:srgbClr val="00897B"/>
                </a:solidFill>
                <a:prstDash val="solid"/>
                <a:round/>
              </a:ln>
              <a:effectLst/>
            </c:spPr>
          </c:marker>
          <c:dLbls>
            <c:dLbl>
              <c:idx val="0"/>
              <c:layout>
                <c:manualLayout>
                  <c:x val="-1.2077294685990338E-2"/>
                  <c:y val="-4.27350427350427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0A5-42BF-962B-184ACD8F46AF}"/>
                </c:ext>
              </c:extLst>
            </c:dLbl>
            <c:dLbl>
              <c:idx val="1"/>
              <c:layout>
                <c:manualLayout>
                  <c:x val="-4.5289855072464047E-3"/>
                  <c:y val="3.84615384615384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0A5-42BF-962B-184ACD8F46AF}"/>
                </c:ext>
              </c:extLst>
            </c:dLbl>
            <c:dLbl>
              <c:idx val="2"/>
              <c:layout>
                <c:manualLayout>
                  <c:x val="-9.057971014492754E-3"/>
                  <c:y val="-4.27350427350427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0A5-42BF-962B-184ACD8F46AF}"/>
                </c:ext>
              </c:extLst>
            </c:dLbl>
            <c:dLbl>
              <c:idx val="3"/>
              <c:layout>
                <c:manualLayout>
                  <c:x val="-6.0386473429952245E-3"/>
                  <c:y val="3.418803418803419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0A5-42BF-962B-184ACD8F46AF}"/>
                </c:ext>
              </c:extLst>
            </c:dLbl>
            <c:dLbl>
              <c:idx val="4"/>
              <c:layout>
                <c:manualLayout>
                  <c:x val="-1.0567632850241546E-2"/>
                  <c:y val="-3.418803418803419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0A5-42BF-962B-184ACD8F46AF}"/>
                </c:ext>
              </c:extLst>
            </c:dLbl>
            <c:dLbl>
              <c:idx val="5"/>
              <c:layout>
                <c:manualLayout>
                  <c:x val="-6.038647342995169E-3"/>
                  <c:y val="-2.99145299145299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0A5-42BF-962B-184ACD8F46AF}"/>
                </c:ext>
              </c:extLst>
            </c:dLbl>
            <c:dLbl>
              <c:idx val="6"/>
              <c:layout>
                <c:manualLayout>
                  <c:x val="-4.3780193236714976E-2"/>
                  <c:y val="2.99145299145298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0A5-42BF-962B-184ACD8F46AF}"/>
                </c:ext>
              </c:extLst>
            </c:dLbl>
            <c:dLbl>
              <c:idx val="7"/>
              <c:layout>
                <c:manualLayout>
                  <c:x val="-4.2270531400966184E-2"/>
                  <c:y val="-3.84615384615384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0A5-42BF-962B-184ACD8F46AF}"/>
                </c:ext>
              </c:extLst>
            </c:dLbl>
            <c:dLbl>
              <c:idx val="8"/>
              <c:layout>
                <c:manualLayout>
                  <c:x val="-4.2270531400966295E-2"/>
                  <c:y val="4.27350427350427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0A5-42BF-962B-184ACD8F46AF}"/>
                </c:ext>
              </c:extLst>
            </c:dLbl>
            <c:dLbl>
              <c:idx val="9"/>
              <c:layout>
                <c:manualLayout>
                  <c:x val="-3.92512077294686E-2"/>
                  <c:y val="-3.8461538461538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0A5-42BF-962B-184ACD8F46AF}"/>
                </c:ext>
              </c:extLst>
            </c:dLbl>
            <c:dLbl>
              <c:idx val="10"/>
              <c:layout>
                <c:manualLayout>
                  <c:x val="-3.9251207729468711E-2"/>
                  <c:y val="3.8461538461538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0A5-42BF-962B-184ACD8F46AF}"/>
                </c:ext>
              </c:extLst>
            </c:dLbl>
            <c:dLbl>
              <c:idx val="11"/>
              <c:layout>
                <c:manualLayout>
                  <c:x val="-2.5664251207729579E-2"/>
                  <c:y val="-2.99145299145299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0A5-42BF-962B-184ACD8F46AF}"/>
                </c:ext>
              </c:extLst>
            </c:dLbl>
            <c:numFmt formatCode="#,##0" sourceLinked="0"/>
            <c:spPr>
              <a:noFill/>
              <a:ln>
                <a:noFill/>
              </a:ln>
              <a:effectLst/>
            </c:spPr>
            <c:txPr>
              <a:bodyPr/>
              <a:lstStyle/>
              <a:p>
                <a:pPr>
                  <a:defRPr sz="850" b="0"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6225552</c:v>
                </c:pt>
                <c:pt idx="1">
                  <c:v>5458378</c:v>
                </c:pt>
                <c:pt idx="2">
                  <c:v>6203826</c:v>
                </c:pt>
                <c:pt idx="3">
                  <c:v>5990321</c:v>
                </c:pt>
                <c:pt idx="4">
                  <c:v>6288907</c:v>
                </c:pt>
                <c:pt idx="5">
                  <c:v>5242844</c:v>
                </c:pt>
                <c:pt idx="6">
                  <c:v>4091552</c:v>
                </c:pt>
                <c:pt idx="7">
                  <c:v>4125474</c:v>
                </c:pt>
                <c:pt idx="8">
                  <c:v>4021391</c:v>
                </c:pt>
                <c:pt idx="9">
                  <c:v>4123502</c:v>
                </c:pt>
                <c:pt idx="10">
                  <c:v>3929909</c:v>
                </c:pt>
                <c:pt idx="11">
                  <c:v>3944280</c:v>
                </c:pt>
              </c:numCache>
            </c:numRef>
          </c:val>
          <c:smooth val="1"/>
          <c:extLst>
            <c:ext xmlns:c16="http://schemas.microsoft.com/office/drawing/2014/chart" uri="{C3380CC4-5D6E-409C-BE32-E72D297353CC}">
              <c16:uniqueId val="{00000000-7BD4-48F4-B6EB-119937FE17DD}"/>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7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c:v>
                </c:pt>
              </c:strCache>
            </c:strRef>
          </c:tx>
          <c:spPr>
            <a:solidFill>
              <a:srgbClr val="00897B"/>
            </a:solidFill>
            <a:effectLst/>
          </c:spPr>
          <c:invertIfNegative val="0"/>
          <c:dPt>
            <c:idx val="0"/>
            <c:invertIfNegative val="0"/>
            <c:bubble3D val="0"/>
            <c:extLst>
              <c:ext xmlns:c16="http://schemas.microsoft.com/office/drawing/2014/chart" uri="{C3380CC4-5D6E-409C-BE32-E72D297353CC}">
                <c16:uniqueId val="{00000001-43F1-4B1E-9596-7CEA04C608CB}"/>
              </c:ext>
            </c:extLst>
          </c:dPt>
          <c:dPt>
            <c:idx val="1"/>
            <c:invertIfNegative val="0"/>
            <c:bubble3D val="0"/>
            <c:spPr>
              <a:solidFill>
                <a:srgbClr val="14B8A6"/>
              </a:solidFill>
              <a:effectLst/>
            </c:spPr>
            <c:extLst>
              <c:ext xmlns:c16="http://schemas.microsoft.com/office/drawing/2014/chart" uri="{C3380CC4-5D6E-409C-BE32-E72D297353CC}">
                <c16:uniqueId val="{00000003-43F1-4B1E-9596-7CEA04C608CB}"/>
              </c:ext>
            </c:extLst>
          </c:dPt>
          <c:dPt>
            <c:idx val="2"/>
            <c:invertIfNegative val="0"/>
            <c:bubble3D val="0"/>
            <c:spPr>
              <a:solidFill>
                <a:srgbClr val="34D399"/>
              </a:solidFill>
              <a:effectLst/>
            </c:spPr>
            <c:extLst>
              <c:ext xmlns:c16="http://schemas.microsoft.com/office/drawing/2014/chart" uri="{C3380CC4-5D6E-409C-BE32-E72D297353CC}">
                <c16:uniqueId val="{00000005-43F1-4B1E-9596-7CEA04C608CB}"/>
              </c:ext>
            </c:extLst>
          </c:dPt>
          <c:dPt>
            <c:idx val="3"/>
            <c:invertIfNegative val="0"/>
            <c:bubble3D val="0"/>
            <c:spPr>
              <a:solidFill>
                <a:srgbClr val="A7F3D0"/>
              </a:solidFill>
              <a:effectLst/>
            </c:spPr>
            <c:extLst>
              <c:ext xmlns:c16="http://schemas.microsoft.com/office/drawing/2014/chart" uri="{C3380CC4-5D6E-409C-BE32-E72D297353CC}">
                <c16:uniqueId val="{00000007-43F1-4B1E-9596-7CEA04C608CB}"/>
              </c:ext>
            </c:extLst>
          </c:dPt>
          <c:dLbls>
            <c:numFmt formatCode="#,##0" sourceLinked="0"/>
            <c:spPr>
              <a:noFill/>
              <a:ln>
                <a:noFill/>
              </a:ln>
              <a:effectLst/>
            </c:spPr>
            <c:txPr>
              <a:bodyPr/>
              <a:lstStyle/>
              <a:p>
                <a:pPr>
                  <a:defRPr sz="100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(Jan–Mar)</c:v>
                </c:pt>
                <c:pt idx="1">
                  <c:v>Q2 (Apr–Jun)</c:v>
                </c:pt>
                <c:pt idx="2">
                  <c:v>Q3 (Jul–Sep)</c:v>
                </c:pt>
                <c:pt idx="3">
                  <c:v>Q4 (Oct–Dec)</c:v>
                </c:pt>
              </c:strCache>
            </c:strRef>
          </c:cat>
          <c:val>
            <c:numRef>
              <c:f>Sheet1!$B$2:$B$5</c:f>
              <c:numCache>
                <c:formatCode>General</c:formatCode>
                <c:ptCount val="4"/>
                <c:pt idx="0">
                  <c:v>17887756</c:v>
                </c:pt>
                <c:pt idx="1">
                  <c:v>17522072</c:v>
                </c:pt>
                <c:pt idx="2">
                  <c:v>12238417</c:v>
                </c:pt>
                <c:pt idx="3">
                  <c:v>11997691</c:v>
                </c:pt>
              </c:numCache>
            </c:numRef>
          </c:val>
          <c:extLst>
            <c:ext xmlns:c16="http://schemas.microsoft.com/office/drawing/2014/chart" uri="{C3380CC4-5D6E-409C-BE32-E72D297353CC}">
              <c16:uniqueId val="{00000008-43F1-4B1E-9596-7CEA04C608C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c:v>
                </c:pt>
              </c:strCache>
            </c:strRef>
          </c:tx>
          <c:spPr>
            <a:solidFill>
              <a:srgbClr val="1565C0"/>
            </a:solidFill>
            <a:effectLst/>
          </c:spPr>
          <c:invertIfNegative val="0"/>
          <c:dPt>
            <c:idx val="0"/>
            <c:invertIfNegative val="0"/>
            <c:bubble3D val="0"/>
            <c:extLst>
              <c:ext xmlns:c16="http://schemas.microsoft.com/office/drawing/2014/chart" uri="{C3380CC4-5D6E-409C-BE32-E72D297353CC}">
                <c16:uniqueId val="{00000001-08AB-4074-A66A-F2FBCC11F86B}"/>
              </c:ext>
            </c:extLst>
          </c:dPt>
          <c:dPt>
            <c:idx val="1"/>
            <c:invertIfNegative val="0"/>
            <c:bubble3D val="0"/>
            <c:spPr>
              <a:solidFill>
                <a:srgbClr val="0097A7"/>
              </a:solidFill>
              <a:effectLst/>
            </c:spPr>
            <c:extLst>
              <c:ext xmlns:c16="http://schemas.microsoft.com/office/drawing/2014/chart" uri="{C3380CC4-5D6E-409C-BE32-E72D297353CC}">
                <c16:uniqueId val="{00000003-08AB-4074-A66A-F2FBCC11F86B}"/>
              </c:ext>
            </c:extLst>
          </c:dPt>
          <c:dPt>
            <c:idx val="2"/>
            <c:invertIfNegative val="0"/>
            <c:bubble3D val="0"/>
            <c:spPr>
              <a:solidFill>
                <a:srgbClr val="2E7D32"/>
              </a:solidFill>
              <a:effectLst/>
            </c:spPr>
            <c:extLst>
              <c:ext xmlns:c16="http://schemas.microsoft.com/office/drawing/2014/chart" uri="{C3380CC4-5D6E-409C-BE32-E72D297353CC}">
                <c16:uniqueId val="{00000005-08AB-4074-A66A-F2FBCC11F86B}"/>
              </c:ext>
            </c:extLst>
          </c:dPt>
          <c:dPt>
            <c:idx val="3"/>
            <c:invertIfNegative val="0"/>
            <c:bubble3D val="0"/>
            <c:spPr>
              <a:solidFill>
                <a:srgbClr val="F57F17"/>
              </a:solidFill>
              <a:effectLst/>
            </c:spPr>
            <c:extLst>
              <c:ext xmlns:c16="http://schemas.microsoft.com/office/drawing/2014/chart" uri="{C3380CC4-5D6E-409C-BE32-E72D297353CC}">
                <c16:uniqueId val="{00000007-08AB-4074-A66A-F2FBCC11F86B}"/>
              </c:ext>
            </c:extLst>
          </c:dPt>
          <c:dPt>
            <c:idx val="4"/>
            <c:invertIfNegative val="0"/>
            <c:bubble3D val="0"/>
            <c:spPr>
              <a:solidFill>
                <a:srgbClr val="AD1457"/>
              </a:solidFill>
              <a:effectLst/>
            </c:spPr>
            <c:extLst>
              <c:ext xmlns:c16="http://schemas.microsoft.com/office/drawing/2014/chart" uri="{C3380CC4-5D6E-409C-BE32-E72D297353CC}">
                <c16:uniqueId val="{00000009-08AB-4074-A66A-F2FBCC11F86B}"/>
              </c:ext>
            </c:extLst>
          </c:dPt>
          <c:dPt>
            <c:idx val="5"/>
            <c:invertIfNegative val="0"/>
            <c:bubble3D val="0"/>
            <c:spPr>
              <a:solidFill>
                <a:srgbClr val="E64A19"/>
              </a:solidFill>
              <a:effectLst/>
            </c:spPr>
            <c:extLst>
              <c:ext xmlns:c16="http://schemas.microsoft.com/office/drawing/2014/chart" uri="{C3380CC4-5D6E-409C-BE32-E72D297353CC}">
                <c16:uniqueId val="{0000000B-08AB-4074-A66A-F2FBCC11F86B}"/>
              </c:ext>
            </c:extLst>
          </c:dPt>
          <c:dPt>
            <c:idx val="6"/>
            <c:invertIfNegative val="0"/>
            <c:bubble3D val="0"/>
            <c:spPr>
              <a:solidFill>
                <a:srgbClr val="5E35B1"/>
              </a:solidFill>
              <a:effectLst/>
            </c:spPr>
            <c:extLst>
              <c:ext xmlns:c16="http://schemas.microsoft.com/office/drawing/2014/chart" uri="{C3380CC4-5D6E-409C-BE32-E72D297353CC}">
                <c16:uniqueId val="{0000000D-08AB-4074-A66A-F2FBCC11F86B}"/>
              </c:ext>
            </c:extLst>
          </c:dPt>
          <c:dLbls>
            <c:numFmt formatCode="#,##0" sourceLinked="0"/>
            <c:spPr>
              <a:noFill/>
              <a:ln>
                <a:noFill/>
              </a:ln>
              <a:effectLst/>
            </c:spPr>
            <c:txPr>
              <a:bodyPr/>
              <a:lstStyle/>
              <a:p>
                <a:pPr>
                  <a:defRPr sz="80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Electronics</c:v>
                </c:pt>
                <c:pt idx="1">
                  <c:v>Accessories</c:v>
                </c:pt>
                <c:pt idx="2">
                  <c:v>Home Decor</c:v>
                </c:pt>
                <c:pt idx="3">
                  <c:v>Beauty</c:v>
                </c:pt>
                <c:pt idx="4">
                  <c:v>Fashion</c:v>
                </c:pt>
                <c:pt idx="5">
                  <c:v>Sports</c:v>
                </c:pt>
                <c:pt idx="6">
                  <c:v>Footwear</c:v>
                </c:pt>
              </c:strCache>
            </c:strRef>
          </c:cat>
          <c:val>
            <c:numRef>
              <c:f>Sheet1!$B$2:$B$8</c:f>
              <c:numCache>
                <c:formatCode>General</c:formatCode>
                <c:ptCount val="7"/>
                <c:pt idx="0">
                  <c:v>8717301</c:v>
                </c:pt>
                <c:pt idx="1">
                  <c:v>8609172</c:v>
                </c:pt>
                <c:pt idx="2">
                  <c:v>8545840</c:v>
                </c:pt>
                <c:pt idx="3">
                  <c:v>8544882</c:v>
                </c:pt>
                <c:pt idx="4">
                  <c:v>8445073</c:v>
                </c:pt>
                <c:pt idx="5">
                  <c:v>8434699</c:v>
                </c:pt>
                <c:pt idx="6">
                  <c:v>8348969</c:v>
                </c:pt>
              </c:numCache>
            </c:numRef>
          </c:val>
          <c:extLst>
            <c:ext xmlns:c16="http://schemas.microsoft.com/office/drawing/2014/chart" uri="{C3380CC4-5D6E-409C-BE32-E72D297353CC}">
              <c16:uniqueId val="{0000000E-08AB-4074-A66A-F2FBCC11F8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7F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Profit Margin (%)</c:v>
                </c:pt>
              </c:strCache>
            </c:strRef>
          </c:tx>
          <c:spPr>
            <a:solidFill>
              <a:srgbClr val="00897B"/>
            </a:solidFill>
            <a:effectLst/>
          </c:spPr>
          <c:invertIfNegative val="0"/>
          <c:dLbls>
            <c:numFmt formatCode="#,##0" sourceLinked="0"/>
            <c:spPr>
              <a:noFill/>
              <a:ln>
                <a:noFill/>
              </a:ln>
              <a:effectLst/>
            </c:spPr>
            <c:txPr>
              <a:bodyPr/>
              <a:lstStyle/>
              <a:p>
                <a:pPr>
                  <a:defRPr sz="90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Electronics</c:v>
                </c:pt>
                <c:pt idx="1">
                  <c:v>Beauty</c:v>
                </c:pt>
                <c:pt idx="2">
                  <c:v>Sports</c:v>
                </c:pt>
                <c:pt idx="3">
                  <c:v>Home Decor</c:v>
                </c:pt>
                <c:pt idx="4">
                  <c:v>Accessories</c:v>
                </c:pt>
                <c:pt idx="5">
                  <c:v>Fashion</c:v>
                </c:pt>
                <c:pt idx="6">
                  <c:v>Footwear</c:v>
                </c:pt>
              </c:strCache>
            </c:strRef>
          </c:cat>
          <c:val>
            <c:numRef>
              <c:f>Sheet1!$B$2:$B$8</c:f>
              <c:numCache>
                <c:formatCode>General</c:formatCode>
                <c:ptCount val="7"/>
                <c:pt idx="0">
                  <c:v>95.51</c:v>
                </c:pt>
                <c:pt idx="1">
                  <c:v>95.21</c:v>
                </c:pt>
                <c:pt idx="2">
                  <c:v>95.3</c:v>
                </c:pt>
                <c:pt idx="3">
                  <c:v>95.1</c:v>
                </c:pt>
                <c:pt idx="4">
                  <c:v>95.13</c:v>
                </c:pt>
                <c:pt idx="5">
                  <c:v>95.1</c:v>
                </c:pt>
                <c:pt idx="6">
                  <c:v>95.08</c:v>
                </c:pt>
              </c:numCache>
            </c:numRef>
          </c:val>
          <c:extLst>
            <c:ext xmlns:c16="http://schemas.microsoft.com/office/drawing/2014/chart" uri="{C3380CC4-5D6E-409C-BE32-E72D297353CC}">
              <c16:uniqueId val="{00000000-DD36-4CE3-8F66-F71D6068505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max val="95.8"/>
          <c:min val="94.8"/>
        </c:scaling>
        <c:delete val="0"/>
        <c:axPos val="b"/>
        <c:majorGridlines>
          <c:spPr>
            <a:ln w="6350"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Quantity Sold</c:v>
                </c:pt>
              </c:strCache>
            </c:strRef>
          </c:tx>
          <c:spPr>
            <a:solidFill>
              <a:schemeClr val="accent1"/>
            </a:solidFill>
            <a:ln w="9525" cap="flat">
              <a:solidFill>
                <a:srgbClr val="F9F9F9"/>
              </a:solidFill>
              <a:prstDash val="solid"/>
              <a:round/>
            </a:ln>
            <a:effectLst/>
          </c:spPr>
          <c:dPt>
            <c:idx val="0"/>
            <c:bubble3D val="0"/>
            <c:spPr>
              <a:solidFill>
                <a:srgbClr val="1565C0"/>
              </a:solidFill>
              <a:effectLst/>
            </c:spPr>
            <c:extLst>
              <c:ext xmlns:c16="http://schemas.microsoft.com/office/drawing/2014/chart" uri="{C3380CC4-5D6E-409C-BE32-E72D297353CC}">
                <c16:uniqueId val="{00000001-D77E-4308-97B7-C1F2C214CCA3}"/>
              </c:ext>
            </c:extLst>
          </c:dPt>
          <c:dPt>
            <c:idx val="1"/>
            <c:bubble3D val="0"/>
            <c:spPr>
              <a:solidFill>
                <a:srgbClr val="0097A7"/>
              </a:solidFill>
              <a:effectLst/>
            </c:spPr>
            <c:extLst>
              <c:ext xmlns:c16="http://schemas.microsoft.com/office/drawing/2014/chart" uri="{C3380CC4-5D6E-409C-BE32-E72D297353CC}">
                <c16:uniqueId val="{00000003-D77E-4308-97B7-C1F2C214CCA3}"/>
              </c:ext>
            </c:extLst>
          </c:dPt>
          <c:dPt>
            <c:idx val="2"/>
            <c:bubble3D val="0"/>
            <c:spPr>
              <a:solidFill>
                <a:srgbClr val="2E7D32"/>
              </a:solidFill>
              <a:effectLst/>
            </c:spPr>
            <c:extLst>
              <c:ext xmlns:c16="http://schemas.microsoft.com/office/drawing/2014/chart" uri="{C3380CC4-5D6E-409C-BE32-E72D297353CC}">
                <c16:uniqueId val="{00000005-D77E-4308-97B7-C1F2C214CCA3}"/>
              </c:ext>
            </c:extLst>
          </c:dPt>
          <c:dPt>
            <c:idx val="3"/>
            <c:bubble3D val="0"/>
            <c:spPr>
              <a:solidFill>
                <a:srgbClr val="F57F17"/>
              </a:solidFill>
              <a:effectLst/>
            </c:spPr>
            <c:extLst>
              <c:ext xmlns:c16="http://schemas.microsoft.com/office/drawing/2014/chart" uri="{C3380CC4-5D6E-409C-BE32-E72D297353CC}">
                <c16:uniqueId val="{00000007-D77E-4308-97B7-C1F2C214CCA3}"/>
              </c:ext>
            </c:extLst>
          </c:dPt>
          <c:dPt>
            <c:idx val="4"/>
            <c:bubble3D val="0"/>
            <c:spPr>
              <a:solidFill>
                <a:srgbClr val="AD1457"/>
              </a:solidFill>
              <a:effectLst/>
            </c:spPr>
            <c:extLst>
              <c:ext xmlns:c16="http://schemas.microsoft.com/office/drawing/2014/chart" uri="{C3380CC4-5D6E-409C-BE32-E72D297353CC}">
                <c16:uniqueId val="{00000009-D77E-4308-97B7-C1F2C214CCA3}"/>
              </c:ext>
            </c:extLst>
          </c:dPt>
          <c:dPt>
            <c:idx val="5"/>
            <c:bubble3D val="0"/>
            <c:spPr>
              <a:solidFill>
                <a:srgbClr val="E64A19"/>
              </a:solidFill>
              <a:effectLst/>
            </c:spPr>
            <c:extLst>
              <c:ext xmlns:c16="http://schemas.microsoft.com/office/drawing/2014/chart" uri="{C3380CC4-5D6E-409C-BE32-E72D297353CC}">
                <c16:uniqueId val="{0000000B-D77E-4308-97B7-C1F2C214CCA3}"/>
              </c:ext>
            </c:extLst>
          </c:dPt>
          <c:dPt>
            <c:idx val="6"/>
            <c:bubble3D val="0"/>
            <c:spPr>
              <a:solidFill>
                <a:srgbClr val="5E35B1"/>
              </a:solidFill>
              <a:effectLst/>
            </c:spPr>
            <c:extLst>
              <c:ext xmlns:c16="http://schemas.microsoft.com/office/drawing/2014/chart" uri="{C3380CC4-5D6E-409C-BE32-E72D297353CC}">
                <c16:uniqueId val="{0000000D-D77E-4308-97B7-C1F2C214CCA3}"/>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77E-4308-97B7-C1F2C214CCA3}"/>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77E-4308-97B7-C1F2C214CCA3}"/>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77E-4308-97B7-C1F2C214CCA3}"/>
                </c:ext>
              </c:extLst>
            </c:dLbl>
            <c:dLbl>
              <c:idx val="3"/>
              <c:layout>
                <c:manualLayout>
                  <c:x val="-7.6289291963504103E-3"/>
                  <c:y val="-1.0990813648293963E-3"/>
                </c:manualLayout>
              </c:layout>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D77E-4308-97B7-C1F2C214CCA3}"/>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D77E-4308-97B7-C1F2C214CCA3}"/>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D77E-4308-97B7-C1F2C214CCA3}"/>
                </c:ext>
              </c:extLst>
            </c:dLbl>
            <c:dLbl>
              <c:idx val="6"/>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D77E-4308-97B7-C1F2C214CCA3}"/>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Electronics</c:v>
                </c:pt>
                <c:pt idx="1">
                  <c:v>Beauty</c:v>
                </c:pt>
                <c:pt idx="2">
                  <c:v>Sports</c:v>
                </c:pt>
                <c:pt idx="3">
                  <c:v>Home Decor</c:v>
                </c:pt>
                <c:pt idx="4">
                  <c:v>Accessories</c:v>
                </c:pt>
                <c:pt idx="5">
                  <c:v>Fashion</c:v>
                </c:pt>
                <c:pt idx="6">
                  <c:v>Footwear</c:v>
                </c:pt>
              </c:strCache>
            </c:strRef>
          </c:cat>
          <c:val>
            <c:numRef>
              <c:f>Sheet1!$B$2:$B$8</c:f>
              <c:numCache>
                <c:formatCode>General</c:formatCode>
                <c:ptCount val="7"/>
                <c:pt idx="0">
                  <c:v>26075</c:v>
                </c:pt>
                <c:pt idx="1">
                  <c:v>25757</c:v>
                </c:pt>
                <c:pt idx="2">
                  <c:v>25500</c:v>
                </c:pt>
                <c:pt idx="3">
                  <c:v>25907</c:v>
                </c:pt>
                <c:pt idx="4">
                  <c:v>26060</c:v>
                </c:pt>
                <c:pt idx="5">
                  <c:v>25925</c:v>
                </c:pt>
                <c:pt idx="6">
                  <c:v>25350</c:v>
                </c:pt>
              </c:numCache>
            </c:numRef>
          </c:val>
          <c:extLst>
            <c:ext xmlns:c16="http://schemas.microsoft.com/office/drawing/2014/chart" uri="{C3380CC4-5D6E-409C-BE32-E72D297353CC}">
              <c16:uniqueId val="{0000000E-D77E-4308-97B7-C1F2C214CCA3}"/>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85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Discount (%)</c:v>
                </c:pt>
              </c:strCache>
            </c:strRef>
          </c:tx>
          <c:spPr>
            <a:solidFill>
              <a:srgbClr val="F9A825"/>
            </a:solidFill>
            <a:effectLst/>
          </c:spPr>
          <c:invertIfNegative val="0"/>
          <c:dLbls>
            <c:numFmt formatCode="#,##0" sourceLinked="0"/>
            <c:spPr>
              <a:noFill/>
              <a:ln>
                <a:noFill/>
              </a:ln>
              <a:effectLst/>
            </c:spPr>
            <c:txPr>
              <a:bodyPr/>
              <a:lstStyle/>
              <a:p>
                <a:pPr>
                  <a:defRPr sz="90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Accessories</c:v>
                </c:pt>
                <c:pt idx="1">
                  <c:v>Sports</c:v>
                </c:pt>
                <c:pt idx="2">
                  <c:v>Electronics</c:v>
                </c:pt>
                <c:pt idx="3">
                  <c:v>Footwear</c:v>
                </c:pt>
                <c:pt idx="4">
                  <c:v>Beauty</c:v>
                </c:pt>
                <c:pt idx="5">
                  <c:v>Fashion</c:v>
                </c:pt>
                <c:pt idx="6">
                  <c:v>Home Decor</c:v>
                </c:pt>
              </c:strCache>
            </c:strRef>
          </c:cat>
          <c:val>
            <c:numRef>
              <c:f>Sheet1!$B$2:$B$8</c:f>
              <c:numCache>
                <c:formatCode>General</c:formatCode>
                <c:ptCount val="7"/>
                <c:pt idx="0">
                  <c:v>18.3</c:v>
                </c:pt>
                <c:pt idx="1">
                  <c:v>18.2</c:v>
                </c:pt>
                <c:pt idx="2">
                  <c:v>18.2</c:v>
                </c:pt>
                <c:pt idx="3">
                  <c:v>18.100000000000001</c:v>
                </c:pt>
                <c:pt idx="4">
                  <c:v>18.100000000000001</c:v>
                </c:pt>
                <c:pt idx="5">
                  <c:v>18</c:v>
                </c:pt>
                <c:pt idx="6">
                  <c:v>18.100000000000001</c:v>
                </c:pt>
              </c:numCache>
            </c:numRef>
          </c:val>
          <c:extLst>
            <c:ext xmlns:c16="http://schemas.microsoft.com/office/drawing/2014/chart" uri="{C3380CC4-5D6E-409C-BE32-E72D297353CC}">
              <c16:uniqueId val="{00000000-47E2-4C43-9547-472214EEA8F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max val="19"/>
          <c:min val="17.5"/>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5F7FA"/>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00897B"/>
              </a:solidFill>
              <a:effectLst/>
            </c:spPr>
            <c:extLst>
              <c:ext xmlns:c16="http://schemas.microsoft.com/office/drawing/2014/chart" uri="{C3380CC4-5D6E-409C-BE32-E72D297353CC}">
                <c16:uniqueId val="{00000001-093A-473F-A1BC-EAA1EED490A6}"/>
              </c:ext>
            </c:extLst>
          </c:dPt>
          <c:dPt>
            <c:idx val="1"/>
            <c:bubble3D val="0"/>
            <c:spPr>
              <a:solidFill>
                <a:srgbClr val="E53935"/>
              </a:solidFill>
              <a:effectLst/>
            </c:spPr>
            <c:extLst>
              <c:ext xmlns:c16="http://schemas.microsoft.com/office/drawing/2014/chart" uri="{C3380CC4-5D6E-409C-BE32-E72D297353CC}">
                <c16:uniqueId val="{00000003-093A-473F-A1BC-EAA1EED490A6}"/>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93A-473F-A1BC-EAA1EED490A6}"/>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93A-473F-A1BC-EAA1EED490A6}"/>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Kept (85.19%)</c:v>
                </c:pt>
                <c:pt idx="1">
                  <c:v>Returned (14.81%)</c:v>
                </c:pt>
              </c:strCache>
            </c:strRef>
          </c:cat>
          <c:val>
            <c:numRef>
              <c:f>Sheet1!$B$2:$B$3</c:f>
              <c:numCache>
                <c:formatCode>General</c:formatCode>
                <c:ptCount val="2"/>
                <c:pt idx="0">
                  <c:v>85.19</c:v>
                </c:pt>
                <c:pt idx="1">
                  <c:v>14.81</c:v>
                </c:pt>
              </c:numCache>
            </c:numRef>
          </c:val>
          <c:extLst>
            <c:ext xmlns:c16="http://schemas.microsoft.com/office/drawing/2014/chart" uri="{C3380CC4-5D6E-409C-BE32-E72D297353CC}">
              <c16:uniqueId val="{00000004-093A-473F-A1BC-EAA1EED490A6}"/>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Returns</c:v>
                </c:pt>
              </c:strCache>
            </c:strRef>
          </c:tx>
          <c:spPr>
            <a:solidFill>
              <a:srgbClr val="E53935"/>
            </a:solidFill>
            <a:effectLst/>
          </c:spPr>
          <c:invertIfNegative val="0"/>
          <c:dLbls>
            <c:numFmt formatCode="#,##0" sourceLinked="0"/>
            <c:spPr>
              <a:noFill/>
              <a:ln>
                <a:noFill/>
              </a:ln>
              <a:effectLst/>
            </c:spPr>
            <c:txPr>
              <a:bodyPr/>
              <a:lstStyle/>
              <a:p>
                <a:pPr>
                  <a:defRPr sz="90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Sports</c:v>
                </c:pt>
                <c:pt idx="1">
                  <c:v>Fashion</c:v>
                </c:pt>
                <c:pt idx="2">
                  <c:v>Beauty</c:v>
                </c:pt>
                <c:pt idx="3">
                  <c:v>Electronics</c:v>
                </c:pt>
                <c:pt idx="4">
                  <c:v>Accessories</c:v>
                </c:pt>
                <c:pt idx="5">
                  <c:v>Footwear</c:v>
                </c:pt>
                <c:pt idx="6">
                  <c:v>Home Decor</c:v>
                </c:pt>
              </c:strCache>
            </c:strRef>
          </c:cat>
          <c:val>
            <c:numRef>
              <c:f>Sheet1!$B$2:$B$8</c:f>
              <c:numCache>
                <c:formatCode>General</c:formatCode>
                <c:ptCount val="7"/>
                <c:pt idx="0">
                  <c:v>1297</c:v>
                </c:pt>
                <c:pt idx="1">
                  <c:v>1292</c:v>
                </c:pt>
                <c:pt idx="2">
                  <c:v>1289</c:v>
                </c:pt>
                <c:pt idx="3">
                  <c:v>1262</c:v>
                </c:pt>
                <c:pt idx="4">
                  <c:v>1262</c:v>
                </c:pt>
                <c:pt idx="5">
                  <c:v>1245</c:v>
                </c:pt>
                <c:pt idx="6">
                  <c:v>1240</c:v>
                </c:pt>
              </c:numCache>
            </c:numRef>
          </c:val>
          <c:extLst>
            <c:ext xmlns:c16="http://schemas.microsoft.com/office/drawing/2014/chart" uri="{C3380CC4-5D6E-409C-BE32-E72D297353CC}">
              <c16:uniqueId val="{00000000-A493-4CAE-B113-DB8CB005AFB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0E0E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Returns by Country</c:v>
                </c:pt>
              </c:strCache>
            </c:strRef>
          </c:tx>
          <c:spPr>
            <a:solidFill>
              <a:srgbClr val="E53935"/>
            </a:solidFill>
            <a:effectLst/>
          </c:spPr>
          <c:invertIfNegative val="0"/>
          <c:dLbls>
            <c:numFmt formatCode="#,##0" sourceLinked="0"/>
            <c:spPr>
              <a:noFill/>
              <a:ln>
                <a:noFill/>
              </a:ln>
              <a:effectLst/>
            </c:spPr>
            <c:txPr>
              <a:bodyPr/>
              <a:lstStyle/>
              <a:p>
                <a:pPr>
                  <a:defRPr sz="85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Germany</c:v>
                </c:pt>
                <c:pt idx="1">
                  <c:v>Canada</c:v>
                </c:pt>
                <c:pt idx="2">
                  <c:v>Australia</c:v>
                </c:pt>
                <c:pt idx="3">
                  <c:v>UAE</c:v>
                </c:pt>
                <c:pt idx="4">
                  <c:v>India</c:v>
                </c:pt>
                <c:pt idx="5">
                  <c:v>USA</c:v>
                </c:pt>
                <c:pt idx="6">
                  <c:v>UK</c:v>
                </c:pt>
              </c:strCache>
            </c:strRef>
          </c:cat>
          <c:val>
            <c:numRef>
              <c:f>Sheet1!$B$2:$B$8</c:f>
              <c:numCache>
                <c:formatCode>General</c:formatCode>
                <c:ptCount val="7"/>
                <c:pt idx="0">
                  <c:v>1328</c:v>
                </c:pt>
                <c:pt idx="1">
                  <c:v>1313</c:v>
                </c:pt>
                <c:pt idx="2">
                  <c:v>1292</c:v>
                </c:pt>
                <c:pt idx="3">
                  <c:v>1276</c:v>
                </c:pt>
                <c:pt idx="4">
                  <c:v>1251</c:v>
                </c:pt>
                <c:pt idx="5">
                  <c:v>1214</c:v>
                </c:pt>
                <c:pt idx="6">
                  <c:v>1213</c:v>
                </c:pt>
              </c:numCache>
            </c:numRef>
          </c:val>
          <c:extLst>
            <c:ext xmlns:c16="http://schemas.microsoft.com/office/drawing/2014/chart" uri="{C3380CC4-5D6E-409C-BE32-E72D297353CC}">
              <c16:uniqueId val="{00000000-7E23-4176-81DE-8B70C8F02E9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min val="115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c:v>
                </c:pt>
              </c:strCache>
            </c:strRef>
          </c:tx>
          <c:spPr>
            <a:solidFill>
              <a:srgbClr val="00897B"/>
            </a:solidFill>
            <a:effectLst/>
          </c:spPr>
          <c:invertIfNegative val="0"/>
          <c:cat>
            <c:strRef>
              <c:f>Sheet1!$A$2:$A$6</c:f>
              <c:strCache>
                <c:ptCount val="5"/>
                <c:pt idx="0">
                  <c:v>Social Media</c:v>
                </c:pt>
                <c:pt idx="1">
                  <c:v>Direct</c:v>
                </c:pt>
                <c:pt idx="2">
                  <c:v>Paid Ads</c:v>
                </c:pt>
                <c:pt idx="3">
                  <c:v>Organic</c:v>
                </c:pt>
                <c:pt idx="4">
                  <c:v>Email</c:v>
                </c:pt>
              </c:strCache>
            </c:strRef>
          </c:cat>
          <c:val>
            <c:numRef>
              <c:f>Sheet1!$B$2:$B$6</c:f>
              <c:numCache>
                <c:formatCode>General</c:formatCode>
                <c:ptCount val="5"/>
                <c:pt idx="0">
                  <c:v>12021807</c:v>
                </c:pt>
                <c:pt idx="1">
                  <c:v>11953141</c:v>
                </c:pt>
                <c:pt idx="2">
                  <c:v>11939378</c:v>
                </c:pt>
                <c:pt idx="3">
                  <c:v>11907665</c:v>
                </c:pt>
                <c:pt idx="4">
                  <c:v>11823944</c:v>
                </c:pt>
              </c:numCache>
            </c:numRef>
          </c:val>
          <c:extLst>
            <c:ext xmlns:c16="http://schemas.microsoft.com/office/drawing/2014/chart" uri="{C3380CC4-5D6E-409C-BE32-E72D297353CC}">
              <c16:uniqueId val="{00000000-C9E1-4C78-8EF1-815C8430E4E4}"/>
            </c:ext>
          </c:extLst>
        </c:ser>
        <c:ser>
          <c:idx val="1"/>
          <c:order val="1"/>
          <c:tx>
            <c:strRef>
              <c:f>Sheet1!$C$1</c:f>
              <c:strCache>
                <c:ptCount val="1"/>
                <c:pt idx="0">
                  <c:v>Profit (₹)</c:v>
                </c:pt>
              </c:strCache>
            </c:strRef>
          </c:tx>
          <c:spPr>
            <a:solidFill>
              <a:srgbClr val="F9A825"/>
            </a:solidFill>
            <a:effectLst/>
          </c:spPr>
          <c:invertIfNegative val="0"/>
          <c:cat>
            <c:strRef>
              <c:f>Sheet1!$A$2:$A$6</c:f>
              <c:strCache>
                <c:ptCount val="5"/>
                <c:pt idx="0">
                  <c:v>Social Media</c:v>
                </c:pt>
                <c:pt idx="1">
                  <c:v>Direct</c:v>
                </c:pt>
                <c:pt idx="2">
                  <c:v>Paid Ads</c:v>
                </c:pt>
                <c:pt idx="3">
                  <c:v>Organic</c:v>
                </c:pt>
                <c:pt idx="4">
                  <c:v>Email</c:v>
                </c:pt>
              </c:strCache>
            </c:strRef>
          </c:cat>
          <c:val>
            <c:numRef>
              <c:f>Sheet1!$C$2:$C$6</c:f>
              <c:numCache>
                <c:formatCode>General</c:formatCode>
                <c:ptCount val="5"/>
                <c:pt idx="0">
                  <c:v>11860524</c:v>
                </c:pt>
                <c:pt idx="1">
                  <c:v>11791568</c:v>
                </c:pt>
                <c:pt idx="2">
                  <c:v>11776229</c:v>
                </c:pt>
                <c:pt idx="3">
                  <c:v>11743991</c:v>
                </c:pt>
                <c:pt idx="4">
                  <c:v>11662318</c:v>
                </c:pt>
              </c:numCache>
            </c:numRef>
          </c:val>
          <c:extLst>
            <c:ext xmlns:c16="http://schemas.microsoft.com/office/drawing/2014/chart" uri="{C3380CC4-5D6E-409C-BE32-E72D297353CC}">
              <c16:uniqueId val="{00000001-C9E1-4C78-8EF1-815C8430E4E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min val="1150000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5F7FA"/>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c:v>
                </c:pt>
              </c:strCache>
            </c:strRef>
          </c:tx>
          <c:spPr>
            <a:solidFill>
              <a:srgbClr val="0097A7"/>
            </a:solidFill>
            <a:effectLst/>
          </c:spPr>
          <c:invertIfNegative val="0"/>
          <c:dPt>
            <c:idx val="0"/>
            <c:invertIfNegative val="0"/>
            <c:bubble3D val="0"/>
            <c:extLst>
              <c:ext xmlns:c16="http://schemas.microsoft.com/office/drawing/2014/chart" uri="{C3380CC4-5D6E-409C-BE32-E72D297353CC}">
                <c16:uniqueId val="{00000001-230D-4595-B82C-6B05B7579187}"/>
              </c:ext>
            </c:extLst>
          </c:dPt>
          <c:dPt>
            <c:idx val="1"/>
            <c:invertIfNegative val="0"/>
            <c:bubble3D val="0"/>
            <c:spPr>
              <a:solidFill>
                <a:srgbClr val="1565C0"/>
              </a:solidFill>
              <a:effectLst/>
            </c:spPr>
            <c:extLst>
              <c:ext xmlns:c16="http://schemas.microsoft.com/office/drawing/2014/chart" uri="{C3380CC4-5D6E-409C-BE32-E72D297353CC}">
                <c16:uniqueId val="{00000003-230D-4595-B82C-6B05B7579187}"/>
              </c:ext>
            </c:extLst>
          </c:dPt>
          <c:dPt>
            <c:idx val="2"/>
            <c:invertIfNegative val="0"/>
            <c:bubble3D val="0"/>
            <c:spPr>
              <a:solidFill>
                <a:srgbClr val="2E7D32"/>
              </a:solidFill>
              <a:effectLst/>
            </c:spPr>
            <c:extLst>
              <c:ext xmlns:c16="http://schemas.microsoft.com/office/drawing/2014/chart" uri="{C3380CC4-5D6E-409C-BE32-E72D297353CC}">
                <c16:uniqueId val="{00000005-230D-4595-B82C-6B05B7579187}"/>
              </c:ext>
            </c:extLst>
          </c:dPt>
          <c:dPt>
            <c:idx val="3"/>
            <c:invertIfNegative val="0"/>
            <c:bubble3D val="0"/>
            <c:spPr>
              <a:solidFill>
                <a:srgbClr val="F57F17"/>
              </a:solidFill>
              <a:effectLst/>
            </c:spPr>
            <c:extLst>
              <c:ext xmlns:c16="http://schemas.microsoft.com/office/drawing/2014/chart" uri="{C3380CC4-5D6E-409C-BE32-E72D297353CC}">
                <c16:uniqueId val="{00000007-230D-4595-B82C-6B05B7579187}"/>
              </c:ext>
            </c:extLst>
          </c:dPt>
          <c:dPt>
            <c:idx val="4"/>
            <c:invertIfNegative val="0"/>
            <c:bubble3D val="0"/>
            <c:spPr>
              <a:solidFill>
                <a:srgbClr val="AD1457"/>
              </a:solidFill>
              <a:effectLst/>
            </c:spPr>
            <c:extLst>
              <c:ext xmlns:c16="http://schemas.microsoft.com/office/drawing/2014/chart" uri="{C3380CC4-5D6E-409C-BE32-E72D297353CC}">
                <c16:uniqueId val="{00000009-230D-4595-B82C-6B05B7579187}"/>
              </c:ext>
            </c:extLst>
          </c:dPt>
          <c:dPt>
            <c:idx val="5"/>
            <c:invertIfNegative val="0"/>
            <c:bubble3D val="0"/>
            <c:spPr>
              <a:solidFill>
                <a:srgbClr val="E64A19"/>
              </a:solidFill>
              <a:effectLst/>
            </c:spPr>
            <c:extLst>
              <c:ext xmlns:c16="http://schemas.microsoft.com/office/drawing/2014/chart" uri="{C3380CC4-5D6E-409C-BE32-E72D297353CC}">
                <c16:uniqueId val="{0000000B-230D-4595-B82C-6B05B7579187}"/>
              </c:ext>
            </c:extLst>
          </c:dPt>
          <c:dPt>
            <c:idx val="6"/>
            <c:invertIfNegative val="0"/>
            <c:bubble3D val="0"/>
            <c:spPr>
              <a:solidFill>
                <a:srgbClr val="5E35B1"/>
              </a:solidFill>
              <a:effectLst/>
            </c:spPr>
            <c:extLst>
              <c:ext xmlns:c16="http://schemas.microsoft.com/office/drawing/2014/chart" uri="{C3380CC4-5D6E-409C-BE32-E72D297353CC}">
                <c16:uniqueId val="{0000000D-230D-4595-B82C-6B05B7579187}"/>
              </c:ext>
            </c:extLst>
          </c:dPt>
          <c:dLbls>
            <c:numFmt formatCode="#,##0" sourceLinked="0"/>
            <c:spPr>
              <a:noFill/>
              <a:ln>
                <a:noFill/>
              </a:ln>
              <a:effectLst/>
            </c:spPr>
            <c:txPr>
              <a:bodyPr/>
              <a:lstStyle/>
              <a:p>
                <a:pPr>
                  <a:defRPr sz="800" b="0" i="0" u="none" strike="noStrike">
                    <a:solidFill>
                      <a:srgbClr val="1C28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Australia</c:v>
                </c:pt>
                <c:pt idx="1">
                  <c:v>Germany</c:v>
                </c:pt>
                <c:pt idx="2">
                  <c:v>UAE</c:v>
                </c:pt>
                <c:pt idx="3">
                  <c:v>India</c:v>
                </c:pt>
                <c:pt idx="4">
                  <c:v>Canada</c:v>
                </c:pt>
                <c:pt idx="5">
                  <c:v>USA</c:v>
                </c:pt>
                <c:pt idx="6">
                  <c:v>UK</c:v>
                </c:pt>
              </c:strCache>
            </c:strRef>
          </c:cat>
          <c:val>
            <c:numRef>
              <c:f>Sheet1!$B$2:$B$8</c:f>
              <c:numCache>
                <c:formatCode>General</c:formatCode>
                <c:ptCount val="7"/>
                <c:pt idx="0">
                  <c:v>8698941</c:v>
                </c:pt>
                <c:pt idx="1">
                  <c:v>8566995</c:v>
                </c:pt>
                <c:pt idx="2">
                  <c:v>8541234</c:v>
                </c:pt>
                <c:pt idx="3">
                  <c:v>8509138</c:v>
                </c:pt>
                <c:pt idx="4">
                  <c:v>8506629</c:v>
                </c:pt>
                <c:pt idx="5">
                  <c:v>8450979</c:v>
                </c:pt>
                <c:pt idx="6">
                  <c:v>8372019</c:v>
                </c:pt>
              </c:numCache>
            </c:numRef>
          </c:val>
          <c:extLst>
            <c:ext xmlns:c16="http://schemas.microsoft.com/office/drawing/2014/chart" uri="{C3380CC4-5D6E-409C-BE32-E72D297353CC}">
              <c16:uniqueId val="{0000000E-230D-4595-B82C-6B05B757918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2"/>
        <c:crosses val="autoZero"/>
        <c:auto val="1"/>
        <c:lblAlgn val="ctr"/>
        <c:lblOffset val="100"/>
        <c:noMultiLvlLbl val="1"/>
      </c:catAx>
      <c:valAx>
        <c:axId val="2094734552"/>
        <c:scaling>
          <c:orientation val="minMax"/>
          <c:min val="820000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8909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00897B"/>
              </a:solidFill>
              <a:effectLst/>
            </c:spPr>
            <c:extLst>
              <c:ext xmlns:c16="http://schemas.microsoft.com/office/drawing/2014/chart" uri="{C3380CC4-5D6E-409C-BE32-E72D297353CC}">
                <c16:uniqueId val="{00000001-AF23-4F39-869B-D2C76837E48E}"/>
              </c:ext>
            </c:extLst>
          </c:dPt>
          <c:dPt>
            <c:idx val="1"/>
            <c:bubble3D val="0"/>
            <c:spPr>
              <a:solidFill>
                <a:srgbClr val="F9A825"/>
              </a:solidFill>
              <a:effectLst/>
            </c:spPr>
            <c:extLst>
              <c:ext xmlns:c16="http://schemas.microsoft.com/office/drawing/2014/chart" uri="{C3380CC4-5D6E-409C-BE32-E72D297353CC}">
                <c16:uniqueId val="{00000003-AF23-4F39-869B-D2C76837E48E}"/>
              </c:ext>
            </c:extLst>
          </c:dPt>
          <c:dPt>
            <c:idx val="2"/>
            <c:bubble3D val="0"/>
            <c:spPr>
              <a:solidFill>
                <a:srgbClr val="1565C0"/>
              </a:solidFill>
              <a:effectLst/>
            </c:spPr>
            <c:extLst>
              <c:ext xmlns:c16="http://schemas.microsoft.com/office/drawing/2014/chart" uri="{C3380CC4-5D6E-409C-BE32-E72D297353CC}">
                <c16:uniqueId val="{00000005-AF23-4F39-869B-D2C76837E48E}"/>
              </c:ext>
            </c:extLst>
          </c:dPt>
          <c:dPt>
            <c:idx val="3"/>
            <c:bubble3D val="0"/>
            <c:spPr>
              <a:solidFill>
                <a:srgbClr val="5E35B1"/>
              </a:solidFill>
              <a:effectLst/>
            </c:spPr>
            <c:extLst>
              <c:ext xmlns:c16="http://schemas.microsoft.com/office/drawing/2014/chart" uri="{C3380CC4-5D6E-409C-BE32-E72D297353CC}">
                <c16:uniqueId val="{00000007-AF23-4F39-869B-D2C76837E48E}"/>
              </c:ext>
            </c:extLst>
          </c:dPt>
          <c:dPt>
            <c:idx val="4"/>
            <c:bubble3D val="0"/>
            <c:spPr>
              <a:solidFill>
                <a:srgbClr val="AD1457"/>
              </a:solidFill>
              <a:effectLst/>
            </c:spPr>
            <c:extLst>
              <c:ext xmlns:c16="http://schemas.microsoft.com/office/drawing/2014/chart" uri="{C3380CC4-5D6E-409C-BE32-E72D297353CC}">
                <c16:uniqueId val="{00000009-AF23-4F39-869B-D2C76837E48E}"/>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F23-4F39-869B-D2C76837E48E}"/>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F23-4F39-869B-D2C76837E48E}"/>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F23-4F39-869B-D2C76837E48E}"/>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F23-4F39-869B-D2C76837E48E}"/>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AF23-4F39-869B-D2C76837E48E}"/>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Apple Pay</c:v>
                </c:pt>
                <c:pt idx="1">
                  <c:v>Cash on Delivery</c:v>
                </c:pt>
                <c:pt idx="2">
                  <c:v>Credit Card</c:v>
                </c:pt>
                <c:pt idx="3">
                  <c:v>Debit Card</c:v>
                </c:pt>
                <c:pt idx="4">
                  <c:v>PayPal</c:v>
                </c:pt>
              </c:strCache>
            </c:strRef>
          </c:cat>
          <c:val>
            <c:numRef>
              <c:f>Sheet1!$B$2:$B$6</c:f>
              <c:numCache>
                <c:formatCode>General</c:formatCode>
                <c:ptCount val="5"/>
                <c:pt idx="0">
                  <c:v>12116</c:v>
                </c:pt>
                <c:pt idx="1">
                  <c:v>12032</c:v>
                </c:pt>
                <c:pt idx="2">
                  <c:v>11998</c:v>
                </c:pt>
                <c:pt idx="3">
                  <c:v>11936</c:v>
                </c:pt>
                <c:pt idx="4">
                  <c:v>11918</c:v>
                </c:pt>
              </c:numCache>
            </c:numRef>
          </c:val>
          <c:extLst>
            <c:ext xmlns:c16="http://schemas.microsoft.com/office/drawing/2014/chart" uri="{C3380CC4-5D6E-409C-BE32-E72D297353CC}">
              <c16:uniqueId val="{0000000A-AF23-4F39-869B-D2C76837E48E}"/>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50"/>
          </a:pPr>
          <a:endParaRPr lang="en-US"/>
        </a:p>
      </c:txPr>
    </c:legend>
    <c:plotVisOnly val="1"/>
    <c:dispBlanksAs val="span"/>
    <c:showDLblsOverMax val="1"/>
  </c:chart>
  <c:spPr>
    <a:solidFill>
      <a:srgbClr val="F5F7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6937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809979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chart" Target="../charts/chart10.xml"/><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217920" y="-1463040"/>
            <a:ext cx="5029200" cy="5029200"/>
          </a:xfrm>
          <a:prstGeom prst="ellipse">
            <a:avLst/>
          </a:prstGeom>
          <a:solidFill>
            <a:srgbClr val="1B2A3B">
              <a:alpha val="70000"/>
            </a:srgbClr>
          </a:solidFill>
          <a:ln w="12700">
            <a:solidFill>
              <a:srgbClr val="1B2A3B">
                <a:alpha val="70000"/>
              </a:srgbClr>
            </a:solidFill>
            <a:prstDash val="solid"/>
          </a:ln>
        </p:spPr>
      </p:sp>
      <p:sp>
        <p:nvSpPr>
          <p:cNvPr id="3" name="Shape 1"/>
          <p:cNvSpPr/>
          <p:nvPr/>
        </p:nvSpPr>
        <p:spPr>
          <a:xfrm>
            <a:off x="7132320" y="-640080"/>
            <a:ext cx="3200400" cy="3200400"/>
          </a:xfrm>
          <a:prstGeom prst="ellipse">
            <a:avLst/>
          </a:prstGeom>
          <a:solidFill>
            <a:srgbClr val="00897B">
              <a:alpha val="30000"/>
            </a:srgbClr>
          </a:solidFill>
          <a:ln w="12700">
            <a:solidFill>
              <a:srgbClr val="00897B">
                <a:alpha val="30000"/>
              </a:srgbClr>
            </a:solidFill>
            <a:prstDash val="solid"/>
          </a:ln>
        </p:spPr>
      </p:sp>
      <p:sp>
        <p:nvSpPr>
          <p:cNvPr id="4" name="Shape 2"/>
          <p:cNvSpPr/>
          <p:nvPr/>
        </p:nvSpPr>
        <p:spPr>
          <a:xfrm>
            <a:off x="182880" y="3474720"/>
            <a:ext cx="2560320" cy="2560320"/>
          </a:xfrm>
          <a:prstGeom prst="ellipse">
            <a:avLst/>
          </a:prstGeom>
          <a:solidFill>
            <a:srgbClr val="1565C0">
              <a:alpha val="20000"/>
            </a:srgbClr>
          </a:solidFill>
          <a:ln w="12700">
            <a:solidFill>
              <a:srgbClr val="1565C0">
                <a:alpha val="20000"/>
              </a:srgbClr>
            </a:solidFill>
            <a:prstDash val="solid"/>
          </a:ln>
        </p:spPr>
      </p:sp>
      <p:sp>
        <p:nvSpPr>
          <p:cNvPr id="5" name="Text 3"/>
          <p:cNvSpPr/>
          <p:nvPr/>
        </p:nvSpPr>
        <p:spPr>
          <a:xfrm>
            <a:off x="548640" y="502920"/>
            <a:ext cx="6400800" cy="411480"/>
          </a:xfrm>
          <a:prstGeom prst="rect">
            <a:avLst/>
          </a:prstGeom>
          <a:noFill/>
          <a:ln/>
        </p:spPr>
        <p:txBody>
          <a:bodyPr wrap="square" lIns="0" tIns="0" rIns="0" bIns="0" rtlCol="0" anchor="ctr"/>
          <a:lstStyle/>
          <a:p>
            <a:pPr marL="0" indent="0">
              <a:buNone/>
            </a:pPr>
            <a:r>
              <a:rPr lang="en-US" sz="1200" b="1" kern="0" spc="700" dirty="0">
                <a:solidFill>
                  <a:srgbClr val="26A69A"/>
                </a:solidFill>
              </a:rPr>
              <a:t>SHOPIFY E-COMMERCE</a:t>
            </a:r>
            <a:endParaRPr lang="en-US" sz="1200" dirty="0"/>
          </a:p>
        </p:txBody>
      </p:sp>
      <p:sp>
        <p:nvSpPr>
          <p:cNvPr id="6" name="Text 4"/>
          <p:cNvSpPr/>
          <p:nvPr/>
        </p:nvSpPr>
        <p:spPr>
          <a:xfrm>
            <a:off x="502920" y="868680"/>
            <a:ext cx="6858000" cy="1051560"/>
          </a:xfrm>
          <a:prstGeom prst="rect">
            <a:avLst/>
          </a:prstGeom>
          <a:noFill/>
          <a:ln/>
        </p:spPr>
        <p:txBody>
          <a:bodyPr wrap="square" lIns="0" tIns="0" rIns="0" bIns="0" rtlCol="0" anchor="ctr"/>
          <a:lstStyle/>
          <a:p>
            <a:pPr marL="0" indent="0">
              <a:buNone/>
            </a:pPr>
            <a:r>
              <a:rPr lang="en-US" sz="5200" b="1" dirty="0">
                <a:solidFill>
                  <a:srgbClr val="FFFFFF"/>
                </a:solidFill>
              </a:rPr>
              <a:t>Sales Analysis</a:t>
            </a:r>
            <a:endParaRPr lang="en-US" sz="5200" dirty="0"/>
          </a:p>
        </p:txBody>
      </p:sp>
      <p:sp>
        <p:nvSpPr>
          <p:cNvPr id="7" name="Text 5"/>
          <p:cNvSpPr/>
          <p:nvPr/>
        </p:nvSpPr>
        <p:spPr>
          <a:xfrm>
            <a:off x="548640" y="1965960"/>
            <a:ext cx="7132320" cy="411480"/>
          </a:xfrm>
          <a:prstGeom prst="rect">
            <a:avLst/>
          </a:prstGeom>
          <a:noFill/>
          <a:ln/>
        </p:spPr>
        <p:txBody>
          <a:bodyPr wrap="square" lIns="0" tIns="0" rIns="0" bIns="0" rtlCol="0" anchor="ctr"/>
          <a:lstStyle/>
          <a:p>
            <a:pPr marL="0" indent="0">
              <a:buNone/>
            </a:pPr>
            <a:r>
              <a:rPr lang="en-US" sz="1400" dirty="0">
                <a:solidFill>
                  <a:srgbClr val="CFD8DC"/>
                </a:solidFill>
              </a:rPr>
              <a:t>Full EDA, Business Insights &amp; Strategic Recommendations</a:t>
            </a:r>
            <a:endParaRPr lang="en-US" sz="1400" dirty="0"/>
          </a:p>
        </p:txBody>
      </p:sp>
      <p:sp>
        <p:nvSpPr>
          <p:cNvPr id="8" name="Shape 6"/>
          <p:cNvSpPr/>
          <p:nvPr/>
        </p:nvSpPr>
        <p:spPr>
          <a:xfrm>
            <a:off x="548640" y="2450592"/>
            <a:ext cx="3200400" cy="0"/>
          </a:xfrm>
          <a:prstGeom prst="line">
            <a:avLst/>
          </a:prstGeom>
          <a:noFill/>
          <a:ln w="38100">
            <a:solidFill>
              <a:srgbClr val="00897B"/>
            </a:solidFill>
            <a:prstDash val="solid"/>
          </a:ln>
        </p:spPr>
      </p:sp>
      <p:sp>
        <p:nvSpPr>
          <p:cNvPr id="21" name="Shape 19"/>
          <p:cNvSpPr/>
          <p:nvPr/>
        </p:nvSpPr>
        <p:spPr>
          <a:xfrm>
            <a:off x="0" y="4663440"/>
            <a:ext cx="9144000" cy="480060"/>
          </a:xfrm>
          <a:prstGeom prst="rect">
            <a:avLst/>
          </a:prstGeom>
          <a:solidFill>
            <a:srgbClr val="00897B"/>
          </a:solidFill>
          <a:ln w="12700">
            <a:solidFill>
              <a:srgbClr val="00897B"/>
            </a:solidFill>
            <a:prstDash val="solid"/>
          </a:ln>
        </p:spPr>
      </p:sp>
      <p:sp>
        <p:nvSpPr>
          <p:cNvPr id="22" name="Text 20"/>
          <p:cNvSpPr/>
          <p:nvPr/>
        </p:nvSpPr>
        <p:spPr>
          <a:xfrm>
            <a:off x="121445" y="4709160"/>
            <a:ext cx="8748236" cy="384048"/>
          </a:xfrm>
          <a:prstGeom prst="rect">
            <a:avLst/>
          </a:prstGeom>
          <a:noFill/>
          <a:ln/>
        </p:spPr>
        <p:txBody>
          <a:bodyPr wrap="square" lIns="0" tIns="0" rIns="0" bIns="0" rtlCol="0" anchor="ctr"/>
          <a:lstStyle/>
          <a:p>
            <a:pPr marL="0" indent="0" algn="r">
              <a:buNone/>
            </a:pPr>
            <a:r>
              <a:rPr lang="en-US" sz="2400" b="1" dirty="0">
                <a:solidFill>
                  <a:srgbClr val="FFFFFF"/>
                </a:solidFill>
              </a:rPr>
              <a:t>Prepared by : Krish Makwana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Table of Contents</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What this presentation covers</a:t>
            </a:r>
            <a:endParaRPr lang="en-US" sz="1100" dirty="0"/>
          </a:p>
        </p:txBody>
      </p:sp>
      <p:sp>
        <p:nvSpPr>
          <p:cNvPr id="6" name="Shape 4"/>
          <p:cNvSpPr/>
          <p:nvPr/>
        </p:nvSpPr>
        <p:spPr>
          <a:xfrm>
            <a:off x="365760" y="1143000"/>
            <a:ext cx="4160520" cy="676656"/>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7" name="Shape 5"/>
          <p:cNvSpPr/>
          <p:nvPr/>
        </p:nvSpPr>
        <p:spPr>
          <a:xfrm>
            <a:off x="365760" y="1143000"/>
            <a:ext cx="475488" cy="676656"/>
          </a:xfrm>
          <a:prstGeom prst="rect">
            <a:avLst/>
          </a:prstGeom>
          <a:solidFill>
            <a:srgbClr val="00897B"/>
          </a:solidFill>
          <a:ln w="12700">
            <a:solidFill>
              <a:srgbClr val="00897B"/>
            </a:solidFill>
            <a:prstDash val="solid"/>
          </a:ln>
        </p:spPr>
      </p:sp>
      <p:sp>
        <p:nvSpPr>
          <p:cNvPr id="8" name="Text 6"/>
          <p:cNvSpPr/>
          <p:nvPr/>
        </p:nvSpPr>
        <p:spPr>
          <a:xfrm>
            <a:off x="365760" y="1325880"/>
            <a:ext cx="475488" cy="310896"/>
          </a:xfrm>
          <a:prstGeom prst="rect">
            <a:avLst/>
          </a:prstGeom>
          <a:noFill/>
          <a:ln/>
        </p:spPr>
        <p:txBody>
          <a:bodyPr wrap="square" lIns="0" tIns="0" rIns="0" bIns="0" rtlCol="0" anchor="ctr"/>
          <a:lstStyle/>
          <a:p>
            <a:pPr marL="0" indent="0" algn="ctr">
              <a:buNone/>
            </a:pPr>
            <a:r>
              <a:rPr lang="en-US" sz="1200" b="1" dirty="0">
                <a:solidFill>
                  <a:srgbClr val="FFFFFF"/>
                </a:solidFill>
              </a:rPr>
              <a:t>01</a:t>
            </a:r>
            <a:endParaRPr lang="en-US" sz="1200" dirty="0"/>
          </a:p>
        </p:txBody>
      </p:sp>
      <p:sp>
        <p:nvSpPr>
          <p:cNvPr id="9" name="Text 7"/>
          <p:cNvSpPr/>
          <p:nvPr/>
        </p:nvSpPr>
        <p:spPr>
          <a:xfrm>
            <a:off x="932688" y="1216152"/>
            <a:ext cx="3502152" cy="274320"/>
          </a:xfrm>
          <a:prstGeom prst="rect">
            <a:avLst/>
          </a:prstGeom>
          <a:noFill/>
          <a:ln/>
        </p:spPr>
        <p:txBody>
          <a:bodyPr wrap="square" lIns="0" tIns="0" rIns="0" bIns="0" rtlCol="0" anchor="ctr"/>
          <a:lstStyle/>
          <a:p>
            <a:pPr marL="0" indent="0">
              <a:buNone/>
            </a:pPr>
            <a:r>
              <a:rPr lang="en-US" sz="1150" b="1" dirty="0">
                <a:solidFill>
                  <a:srgbClr val="0D1B2A"/>
                </a:solidFill>
              </a:rPr>
              <a:t>Dataset Description</a:t>
            </a:r>
            <a:endParaRPr lang="en-US" sz="1150" dirty="0"/>
          </a:p>
        </p:txBody>
      </p:sp>
      <p:sp>
        <p:nvSpPr>
          <p:cNvPr id="10" name="Text 8"/>
          <p:cNvSpPr/>
          <p:nvPr/>
        </p:nvSpPr>
        <p:spPr>
          <a:xfrm>
            <a:off x="932688" y="1508760"/>
            <a:ext cx="3502152" cy="237744"/>
          </a:xfrm>
          <a:prstGeom prst="rect">
            <a:avLst/>
          </a:prstGeom>
          <a:noFill/>
          <a:ln/>
        </p:spPr>
        <p:txBody>
          <a:bodyPr wrap="square" lIns="0" tIns="0" rIns="0" bIns="0" rtlCol="0" anchor="ctr"/>
          <a:lstStyle/>
          <a:p>
            <a:pPr marL="0" indent="0">
              <a:buNone/>
            </a:pPr>
            <a:r>
              <a:rPr lang="en-US" sz="950" dirty="0">
                <a:solidFill>
                  <a:srgbClr val="78909C"/>
                </a:solidFill>
              </a:rPr>
              <a:t>Columns, data types, structure &amp; quality</a:t>
            </a:r>
            <a:endParaRPr lang="en-US" sz="950" dirty="0"/>
          </a:p>
        </p:txBody>
      </p:sp>
      <p:sp>
        <p:nvSpPr>
          <p:cNvPr id="11" name="Shape 9"/>
          <p:cNvSpPr/>
          <p:nvPr/>
        </p:nvSpPr>
        <p:spPr>
          <a:xfrm>
            <a:off x="365760" y="1911096"/>
            <a:ext cx="4160520" cy="676656"/>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2" name="Shape 10"/>
          <p:cNvSpPr/>
          <p:nvPr/>
        </p:nvSpPr>
        <p:spPr>
          <a:xfrm>
            <a:off x="365760" y="1911096"/>
            <a:ext cx="475488" cy="676656"/>
          </a:xfrm>
          <a:prstGeom prst="rect">
            <a:avLst/>
          </a:prstGeom>
          <a:solidFill>
            <a:srgbClr val="00897B"/>
          </a:solidFill>
          <a:ln w="12700">
            <a:solidFill>
              <a:srgbClr val="00897B"/>
            </a:solidFill>
            <a:prstDash val="solid"/>
          </a:ln>
        </p:spPr>
      </p:sp>
      <p:sp>
        <p:nvSpPr>
          <p:cNvPr id="13" name="Text 11"/>
          <p:cNvSpPr/>
          <p:nvPr/>
        </p:nvSpPr>
        <p:spPr>
          <a:xfrm>
            <a:off x="365760" y="2093976"/>
            <a:ext cx="475488" cy="310896"/>
          </a:xfrm>
          <a:prstGeom prst="rect">
            <a:avLst/>
          </a:prstGeom>
          <a:noFill/>
          <a:ln/>
        </p:spPr>
        <p:txBody>
          <a:bodyPr wrap="square" lIns="0" tIns="0" rIns="0" bIns="0" rtlCol="0" anchor="ctr"/>
          <a:lstStyle/>
          <a:p>
            <a:pPr marL="0" indent="0" algn="ctr">
              <a:buNone/>
            </a:pPr>
            <a:r>
              <a:rPr lang="en-US" sz="1200" b="1" dirty="0">
                <a:solidFill>
                  <a:srgbClr val="FFFFFF"/>
                </a:solidFill>
              </a:rPr>
              <a:t>02</a:t>
            </a:r>
            <a:endParaRPr lang="en-US" sz="1200" dirty="0"/>
          </a:p>
        </p:txBody>
      </p:sp>
      <p:sp>
        <p:nvSpPr>
          <p:cNvPr id="14" name="Text 12"/>
          <p:cNvSpPr/>
          <p:nvPr/>
        </p:nvSpPr>
        <p:spPr>
          <a:xfrm>
            <a:off x="932688" y="1984248"/>
            <a:ext cx="3502152" cy="274320"/>
          </a:xfrm>
          <a:prstGeom prst="rect">
            <a:avLst/>
          </a:prstGeom>
          <a:noFill/>
          <a:ln/>
        </p:spPr>
        <p:txBody>
          <a:bodyPr wrap="square" lIns="0" tIns="0" rIns="0" bIns="0" rtlCol="0" anchor="ctr"/>
          <a:lstStyle/>
          <a:p>
            <a:pPr marL="0" indent="0">
              <a:buNone/>
            </a:pPr>
            <a:r>
              <a:rPr lang="en-US" sz="1150" b="1" dirty="0">
                <a:solidFill>
                  <a:srgbClr val="0D1B2A"/>
                </a:solidFill>
              </a:rPr>
              <a:t>Objectives &amp; Problem Statements</a:t>
            </a:r>
            <a:endParaRPr lang="en-US" sz="1150" dirty="0"/>
          </a:p>
        </p:txBody>
      </p:sp>
      <p:sp>
        <p:nvSpPr>
          <p:cNvPr id="15" name="Text 13"/>
          <p:cNvSpPr/>
          <p:nvPr/>
        </p:nvSpPr>
        <p:spPr>
          <a:xfrm>
            <a:off x="932688" y="2276856"/>
            <a:ext cx="3502152" cy="237744"/>
          </a:xfrm>
          <a:prstGeom prst="rect">
            <a:avLst/>
          </a:prstGeom>
          <a:noFill/>
          <a:ln/>
        </p:spPr>
        <p:txBody>
          <a:bodyPr wrap="square" lIns="0" tIns="0" rIns="0" bIns="0" rtlCol="0" anchor="ctr"/>
          <a:lstStyle/>
          <a:p>
            <a:pPr marL="0" indent="0">
              <a:buNone/>
            </a:pPr>
            <a:r>
              <a:rPr lang="en-US" sz="950" dirty="0">
                <a:solidFill>
                  <a:srgbClr val="78909C"/>
                </a:solidFill>
              </a:rPr>
              <a:t>Business goals and research questions</a:t>
            </a:r>
            <a:endParaRPr lang="en-US" sz="950" dirty="0"/>
          </a:p>
        </p:txBody>
      </p:sp>
      <p:sp>
        <p:nvSpPr>
          <p:cNvPr id="16" name="Shape 14"/>
          <p:cNvSpPr/>
          <p:nvPr/>
        </p:nvSpPr>
        <p:spPr>
          <a:xfrm>
            <a:off x="365760" y="2679192"/>
            <a:ext cx="4160520" cy="676656"/>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7" name="Shape 15"/>
          <p:cNvSpPr/>
          <p:nvPr/>
        </p:nvSpPr>
        <p:spPr>
          <a:xfrm>
            <a:off x="365760" y="2679192"/>
            <a:ext cx="475488" cy="676656"/>
          </a:xfrm>
          <a:prstGeom prst="rect">
            <a:avLst/>
          </a:prstGeom>
          <a:solidFill>
            <a:srgbClr val="00897B"/>
          </a:solidFill>
          <a:ln w="12700">
            <a:solidFill>
              <a:srgbClr val="00897B"/>
            </a:solidFill>
            <a:prstDash val="solid"/>
          </a:ln>
        </p:spPr>
      </p:sp>
      <p:sp>
        <p:nvSpPr>
          <p:cNvPr id="18" name="Text 16"/>
          <p:cNvSpPr/>
          <p:nvPr/>
        </p:nvSpPr>
        <p:spPr>
          <a:xfrm>
            <a:off x="365760" y="2862072"/>
            <a:ext cx="475488" cy="310896"/>
          </a:xfrm>
          <a:prstGeom prst="rect">
            <a:avLst/>
          </a:prstGeom>
          <a:noFill/>
          <a:ln/>
        </p:spPr>
        <p:txBody>
          <a:bodyPr wrap="square" lIns="0" tIns="0" rIns="0" bIns="0" rtlCol="0" anchor="ctr"/>
          <a:lstStyle/>
          <a:p>
            <a:pPr marL="0" indent="0" algn="ctr">
              <a:buNone/>
            </a:pPr>
            <a:r>
              <a:rPr lang="en-US" sz="1200" b="1" dirty="0">
                <a:solidFill>
                  <a:srgbClr val="FFFFFF"/>
                </a:solidFill>
              </a:rPr>
              <a:t>03</a:t>
            </a:r>
            <a:endParaRPr lang="en-US" sz="1200" dirty="0"/>
          </a:p>
        </p:txBody>
      </p:sp>
      <p:sp>
        <p:nvSpPr>
          <p:cNvPr id="19" name="Text 17"/>
          <p:cNvSpPr/>
          <p:nvPr/>
        </p:nvSpPr>
        <p:spPr>
          <a:xfrm>
            <a:off x="932688" y="2752344"/>
            <a:ext cx="3502152" cy="274320"/>
          </a:xfrm>
          <a:prstGeom prst="rect">
            <a:avLst/>
          </a:prstGeom>
          <a:noFill/>
          <a:ln/>
        </p:spPr>
        <p:txBody>
          <a:bodyPr wrap="square" lIns="0" tIns="0" rIns="0" bIns="0" rtlCol="0" anchor="ctr"/>
          <a:lstStyle/>
          <a:p>
            <a:pPr marL="0" indent="0">
              <a:buNone/>
            </a:pPr>
            <a:r>
              <a:rPr lang="en-US" sz="1150" b="1" dirty="0">
                <a:solidFill>
                  <a:srgbClr val="0D1B2A"/>
                </a:solidFill>
              </a:rPr>
              <a:t>Sales Performance</a:t>
            </a:r>
            <a:endParaRPr lang="en-US" sz="1150" dirty="0"/>
          </a:p>
        </p:txBody>
      </p:sp>
      <p:sp>
        <p:nvSpPr>
          <p:cNvPr id="20" name="Text 18"/>
          <p:cNvSpPr/>
          <p:nvPr/>
        </p:nvSpPr>
        <p:spPr>
          <a:xfrm>
            <a:off x="932688" y="3044952"/>
            <a:ext cx="3502152" cy="237744"/>
          </a:xfrm>
          <a:prstGeom prst="rect">
            <a:avLst/>
          </a:prstGeom>
          <a:noFill/>
          <a:ln/>
        </p:spPr>
        <p:txBody>
          <a:bodyPr wrap="square" lIns="0" tIns="0" rIns="0" bIns="0" rtlCol="0" anchor="ctr"/>
          <a:lstStyle/>
          <a:p>
            <a:pPr marL="0" indent="0">
              <a:buNone/>
            </a:pPr>
            <a:r>
              <a:rPr lang="en-US" sz="950" dirty="0">
                <a:solidFill>
                  <a:srgbClr val="78909C"/>
                </a:solidFill>
              </a:rPr>
              <a:t>Revenue/profit trends — yearly, monthly, quarterly</a:t>
            </a:r>
            <a:endParaRPr lang="en-US" sz="950" dirty="0"/>
          </a:p>
        </p:txBody>
      </p:sp>
      <p:sp>
        <p:nvSpPr>
          <p:cNvPr id="21" name="Shape 19"/>
          <p:cNvSpPr/>
          <p:nvPr/>
        </p:nvSpPr>
        <p:spPr>
          <a:xfrm>
            <a:off x="365760" y="3447288"/>
            <a:ext cx="4160520" cy="676656"/>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22" name="Shape 20"/>
          <p:cNvSpPr/>
          <p:nvPr/>
        </p:nvSpPr>
        <p:spPr>
          <a:xfrm>
            <a:off x="365760" y="3447288"/>
            <a:ext cx="475488" cy="676656"/>
          </a:xfrm>
          <a:prstGeom prst="rect">
            <a:avLst/>
          </a:prstGeom>
          <a:solidFill>
            <a:srgbClr val="00897B"/>
          </a:solidFill>
          <a:ln w="12700">
            <a:solidFill>
              <a:srgbClr val="00897B"/>
            </a:solidFill>
            <a:prstDash val="solid"/>
          </a:ln>
        </p:spPr>
      </p:sp>
      <p:sp>
        <p:nvSpPr>
          <p:cNvPr id="23" name="Text 21"/>
          <p:cNvSpPr/>
          <p:nvPr/>
        </p:nvSpPr>
        <p:spPr>
          <a:xfrm>
            <a:off x="365760" y="3630168"/>
            <a:ext cx="475488" cy="310896"/>
          </a:xfrm>
          <a:prstGeom prst="rect">
            <a:avLst/>
          </a:prstGeom>
          <a:noFill/>
          <a:ln/>
        </p:spPr>
        <p:txBody>
          <a:bodyPr wrap="square" lIns="0" tIns="0" rIns="0" bIns="0" rtlCol="0" anchor="ctr"/>
          <a:lstStyle/>
          <a:p>
            <a:pPr marL="0" indent="0" algn="ctr">
              <a:buNone/>
            </a:pPr>
            <a:r>
              <a:rPr lang="en-US" sz="1200" b="1" dirty="0">
                <a:solidFill>
                  <a:srgbClr val="FFFFFF"/>
                </a:solidFill>
              </a:rPr>
              <a:t>04</a:t>
            </a:r>
            <a:endParaRPr lang="en-US" sz="1200" dirty="0"/>
          </a:p>
        </p:txBody>
      </p:sp>
      <p:sp>
        <p:nvSpPr>
          <p:cNvPr id="24" name="Text 22"/>
          <p:cNvSpPr/>
          <p:nvPr/>
        </p:nvSpPr>
        <p:spPr>
          <a:xfrm>
            <a:off x="932688" y="3520440"/>
            <a:ext cx="3502152" cy="274320"/>
          </a:xfrm>
          <a:prstGeom prst="rect">
            <a:avLst/>
          </a:prstGeom>
          <a:noFill/>
          <a:ln/>
        </p:spPr>
        <p:txBody>
          <a:bodyPr wrap="square" lIns="0" tIns="0" rIns="0" bIns="0" rtlCol="0" anchor="ctr"/>
          <a:lstStyle/>
          <a:p>
            <a:pPr marL="0" indent="0">
              <a:buNone/>
            </a:pPr>
            <a:r>
              <a:rPr lang="en-US" sz="1150" b="1" dirty="0">
                <a:solidFill>
                  <a:srgbClr val="0D1B2A"/>
                </a:solidFill>
              </a:rPr>
              <a:t>Category Analysis</a:t>
            </a:r>
            <a:endParaRPr lang="en-US" sz="1150" dirty="0"/>
          </a:p>
        </p:txBody>
      </p:sp>
      <p:sp>
        <p:nvSpPr>
          <p:cNvPr id="25" name="Text 23"/>
          <p:cNvSpPr/>
          <p:nvPr/>
        </p:nvSpPr>
        <p:spPr>
          <a:xfrm>
            <a:off x="932688" y="3813048"/>
            <a:ext cx="3502152" cy="237744"/>
          </a:xfrm>
          <a:prstGeom prst="rect">
            <a:avLst/>
          </a:prstGeom>
          <a:noFill/>
          <a:ln/>
        </p:spPr>
        <p:txBody>
          <a:bodyPr wrap="square" lIns="0" tIns="0" rIns="0" bIns="0" rtlCol="0" anchor="ctr"/>
          <a:lstStyle/>
          <a:p>
            <a:pPr marL="0" indent="0">
              <a:buNone/>
            </a:pPr>
            <a:r>
              <a:rPr lang="en-US" sz="950" dirty="0">
                <a:solidFill>
                  <a:srgbClr val="78909C"/>
                </a:solidFill>
              </a:rPr>
              <a:t>Revenue, quantity &amp; profitability by product</a:t>
            </a:r>
            <a:endParaRPr lang="en-US" sz="950" dirty="0"/>
          </a:p>
        </p:txBody>
      </p:sp>
      <p:sp>
        <p:nvSpPr>
          <p:cNvPr id="26" name="Shape 24"/>
          <p:cNvSpPr/>
          <p:nvPr/>
        </p:nvSpPr>
        <p:spPr>
          <a:xfrm>
            <a:off x="365760" y="4215384"/>
            <a:ext cx="4160520" cy="676656"/>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27" name="Shape 25"/>
          <p:cNvSpPr/>
          <p:nvPr/>
        </p:nvSpPr>
        <p:spPr>
          <a:xfrm>
            <a:off x="365760" y="4215384"/>
            <a:ext cx="475488" cy="676656"/>
          </a:xfrm>
          <a:prstGeom prst="rect">
            <a:avLst/>
          </a:prstGeom>
          <a:solidFill>
            <a:srgbClr val="00897B"/>
          </a:solidFill>
          <a:ln w="12700">
            <a:solidFill>
              <a:srgbClr val="00897B"/>
            </a:solidFill>
            <a:prstDash val="solid"/>
          </a:ln>
        </p:spPr>
      </p:sp>
      <p:sp>
        <p:nvSpPr>
          <p:cNvPr id="28" name="Text 26"/>
          <p:cNvSpPr/>
          <p:nvPr/>
        </p:nvSpPr>
        <p:spPr>
          <a:xfrm>
            <a:off x="365760" y="4398264"/>
            <a:ext cx="475488" cy="310896"/>
          </a:xfrm>
          <a:prstGeom prst="rect">
            <a:avLst/>
          </a:prstGeom>
          <a:noFill/>
          <a:ln/>
        </p:spPr>
        <p:txBody>
          <a:bodyPr wrap="square" lIns="0" tIns="0" rIns="0" bIns="0" rtlCol="0" anchor="ctr"/>
          <a:lstStyle/>
          <a:p>
            <a:pPr marL="0" indent="0" algn="ctr">
              <a:buNone/>
            </a:pPr>
            <a:r>
              <a:rPr lang="en-US" sz="1200" b="1" dirty="0">
                <a:solidFill>
                  <a:srgbClr val="FFFFFF"/>
                </a:solidFill>
              </a:rPr>
              <a:t>05</a:t>
            </a:r>
            <a:endParaRPr lang="en-US" sz="1200" dirty="0"/>
          </a:p>
        </p:txBody>
      </p:sp>
      <p:sp>
        <p:nvSpPr>
          <p:cNvPr id="29" name="Text 27"/>
          <p:cNvSpPr/>
          <p:nvPr/>
        </p:nvSpPr>
        <p:spPr>
          <a:xfrm>
            <a:off x="932688" y="4288536"/>
            <a:ext cx="3502152" cy="274320"/>
          </a:xfrm>
          <a:prstGeom prst="rect">
            <a:avLst/>
          </a:prstGeom>
          <a:noFill/>
          <a:ln/>
        </p:spPr>
        <p:txBody>
          <a:bodyPr wrap="square" lIns="0" tIns="0" rIns="0" bIns="0" rtlCol="0" anchor="ctr"/>
          <a:lstStyle/>
          <a:p>
            <a:pPr marL="0" indent="0">
              <a:buNone/>
            </a:pPr>
            <a:r>
              <a:rPr lang="en-US" sz="1150" b="1" dirty="0">
                <a:solidFill>
                  <a:srgbClr val="0D1B2A"/>
                </a:solidFill>
              </a:rPr>
              <a:t>Discount Impact</a:t>
            </a:r>
            <a:endParaRPr lang="en-US" sz="1150" dirty="0"/>
          </a:p>
        </p:txBody>
      </p:sp>
      <p:sp>
        <p:nvSpPr>
          <p:cNvPr id="30" name="Text 28"/>
          <p:cNvSpPr/>
          <p:nvPr/>
        </p:nvSpPr>
        <p:spPr>
          <a:xfrm>
            <a:off x="932688" y="4581144"/>
            <a:ext cx="3502152" cy="237744"/>
          </a:xfrm>
          <a:prstGeom prst="rect">
            <a:avLst/>
          </a:prstGeom>
          <a:noFill/>
          <a:ln/>
        </p:spPr>
        <p:txBody>
          <a:bodyPr wrap="square" lIns="0" tIns="0" rIns="0" bIns="0" rtlCol="0" anchor="ctr"/>
          <a:lstStyle/>
          <a:p>
            <a:pPr marL="0" indent="0">
              <a:buNone/>
            </a:pPr>
            <a:r>
              <a:rPr lang="en-US" sz="950" dirty="0">
                <a:solidFill>
                  <a:srgbClr val="78909C"/>
                </a:solidFill>
              </a:rPr>
              <a:t>How discounts affect revenue and profit</a:t>
            </a:r>
            <a:endParaRPr lang="en-US" sz="950" dirty="0"/>
          </a:p>
        </p:txBody>
      </p:sp>
      <p:sp>
        <p:nvSpPr>
          <p:cNvPr id="31" name="Shape 29"/>
          <p:cNvSpPr/>
          <p:nvPr/>
        </p:nvSpPr>
        <p:spPr>
          <a:xfrm>
            <a:off x="4709160" y="1143000"/>
            <a:ext cx="4160520" cy="676656"/>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32" name="Shape 30"/>
          <p:cNvSpPr/>
          <p:nvPr/>
        </p:nvSpPr>
        <p:spPr>
          <a:xfrm>
            <a:off x="4709160" y="1143000"/>
            <a:ext cx="475488" cy="676656"/>
          </a:xfrm>
          <a:prstGeom prst="rect">
            <a:avLst/>
          </a:prstGeom>
          <a:solidFill>
            <a:srgbClr val="00897B"/>
          </a:solidFill>
          <a:ln w="12700">
            <a:solidFill>
              <a:srgbClr val="00897B"/>
            </a:solidFill>
            <a:prstDash val="solid"/>
          </a:ln>
        </p:spPr>
      </p:sp>
      <p:sp>
        <p:nvSpPr>
          <p:cNvPr id="33" name="Text 31"/>
          <p:cNvSpPr/>
          <p:nvPr/>
        </p:nvSpPr>
        <p:spPr>
          <a:xfrm>
            <a:off x="4709160" y="1325880"/>
            <a:ext cx="475488" cy="310896"/>
          </a:xfrm>
          <a:prstGeom prst="rect">
            <a:avLst/>
          </a:prstGeom>
          <a:noFill/>
          <a:ln/>
        </p:spPr>
        <p:txBody>
          <a:bodyPr wrap="square" lIns="0" tIns="0" rIns="0" bIns="0" rtlCol="0" anchor="ctr"/>
          <a:lstStyle/>
          <a:p>
            <a:pPr marL="0" indent="0" algn="ctr">
              <a:buNone/>
            </a:pPr>
            <a:r>
              <a:rPr lang="en-US" sz="1200" b="1" dirty="0">
                <a:solidFill>
                  <a:srgbClr val="FFFFFF"/>
                </a:solidFill>
              </a:rPr>
              <a:t>06</a:t>
            </a:r>
            <a:endParaRPr lang="en-US" sz="1200" dirty="0"/>
          </a:p>
        </p:txBody>
      </p:sp>
      <p:sp>
        <p:nvSpPr>
          <p:cNvPr id="34" name="Text 32"/>
          <p:cNvSpPr/>
          <p:nvPr/>
        </p:nvSpPr>
        <p:spPr>
          <a:xfrm>
            <a:off x="5276088" y="1216152"/>
            <a:ext cx="3502152" cy="274320"/>
          </a:xfrm>
          <a:prstGeom prst="rect">
            <a:avLst/>
          </a:prstGeom>
          <a:noFill/>
          <a:ln/>
        </p:spPr>
        <p:txBody>
          <a:bodyPr wrap="square" lIns="0" tIns="0" rIns="0" bIns="0" rtlCol="0" anchor="ctr"/>
          <a:lstStyle/>
          <a:p>
            <a:pPr marL="0" indent="0">
              <a:buNone/>
            </a:pPr>
            <a:r>
              <a:rPr lang="en-US" sz="1150" b="1" dirty="0">
                <a:solidFill>
                  <a:srgbClr val="0D1B2A"/>
                </a:solidFill>
              </a:rPr>
              <a:t>Return Analysis</a:t>
            </a:r>
            <a:endParaRPr lang="en-US" sz="1150" dirty="0"/>
          </a:p>
        </p:txBody>
      </p:sp>
      <p:sp>
        <p:nvSpPr>
          <p:cNvPr id="35" name="Text 33"/>
          <p:cNvSpPr/>
          <p:nvPr/>
        </p:nvSpPr>
        <p:spPr>
          <a:xfrm>
            <a:off x="5276088" y="1508760"/>
            <a:ext cx="3502152" cy="237744"/>
          </a:xfrm>
          <a:prstGeom prst="rect">
            <a:avLst/>
          </a:prstGeom>
          <a:noFill/>
          <a:ln/>
        </p:spPr>
        <p:txBody>
          <a:bodyPr wrap="square" lIns="0" tIns="0" rIns="0" bIns="0" rtlCol="0" anchor="ctr"/>
          <a:lstStyle/>
          <a:p>
            <a:pPr marL="0" indent="0">
              <a:buNone/>
            </a:pPr>
            <a:r>
              <a:rPr lang="en-US" sz="950" dirty="0">
                <a:solidFill>
                  <a:srgbClr val="78909C"/>
                </a:solidFill>
              </a:rPr>
              <a:t>Return rates by category and country</a:t>
            </a:r>
            <a:endParaRPr lang="en-US" sz="950" dirty="0"/>
          </a:p>
        </p:txBody>
      </p:sp>
      <p:sp>
        <p:nvSpPr>
          <p:cNvPr id="36" name="Shape 34"/>
          <p:cNvSpPr/>
          <p:nvPr/>
        </p:nvSpPr>
        <p:spPr>
          <a:xfrm>
            <a:off x="4709160" y="1911096"/>
            <a:ext cx="4160520" cy="676656"/>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37" name="Shape 35"/>
          <p:cNvSpPr/>
          <p:nvPr/>
        </p:nvSpPr>
        <p:spPr>
          <a:xfrm>
            <a:off x="4709160" y="1911096"/>
            <a:ext cx="475488" cy="676656"/>
          </a:xfrm>
          <a:prstGeom prst="rect">
            <a:avLst/>
          </a:prstGeom>
          <a:solidFill>
            <a:srgbClr val="00897B"/>
          </a:solidFill>
          <a:ln w="12700">
            <a:solidFill>
              <a:srgbClr val="00897B"/>
            </a:solidFill>
            <a:prstDash val="solid"/>
          </a:ln>
        </p:spPr>
      </p:sp>
      <p:sp>
        <p:nvSpPr>
          <p:cNvPr id="38" name="Text 36"/>
          <p:cNvSpPr/>
          <p:nvPr/>
        </p:nvSpPr>
        <p:spPr>
          <a:xfrm>
            <a:off x="4709160" y="2093976"/>
            <a:ext cx="475488" cy="310896"/>
          </a:xfrm>
          <a:prstGeom prst="rect">
            <a:avLst/>
          </a:prstGeom>
          <a:noFill/>
          <a:ln/>
        </p:spPr>
        <p:txBody>
          <a:bodyPr wrap="square" lIns="0" tIns="0" rIns="0" bIns="0" rtlCol="0" anchor="ctr"/>
          <a:lstStyle/>
          <a:p>
            <a:pPr marL="0" indent="0" algn="ctr">
              <a:buNone/>
            </a:pPr>
            <a:r>
              <a:rPr lang="en-US" sz="1200" b="1" dirty="0">
                <a:solidFill>
                  <a:srgbClr val="FFFFFF"/>
                </a:solidFill>
              </a:rPr>
              <a:t>07</a:t>
            </a:r>
            <a:endParaRPr lang="en-US" sz="1200" dirty="0"/>
          </a:p>
        </p:txBody>
      </p:sp>
      <p:sp>
        <p:nvSpPr>
          <p:cNvPr id="39" name="Text 37"/>
          <p:cNvSpPr/>
          <p:nvPr/>
        </p:nvSpPr>
        <p:spPr>
          <a:xfrm>
            <a:off x="5276088" y="1984248"/>
            <a:ext cx="3502152" cy="274320"/>
          </a:xfrm>
          <a:prstGeom prst="rect">
            <a:avLst/>
          </a:prstGeom>
          <a:noFill/>
          <a:ln/>
        </p:spPr>
        <p:txBody>
          <a:bodyPr wrap="square" lIns="0" tIns="0" rIns="0" bIns="0" rtlCol="0" anchor="ctr"/>
          <a:lstStyle/>
          <a:p>
            <a:pPr marL="0" indent="0">
              <a:buNone/>
            </a:pPr>
            <a:r>
              <a:rPr lang="en-US" sz="1150" b="1" dirty="0">
                <a:solidFill>
                  <a:srgbClr val="0D1B2A"/>
                </a:solidFill>
              </a:rPr>
              <a:t>Marketing &amp; Geography</a:t>
            </a:r>
            <a:endParaRPr lang="en-US" sz="1150" dirty="0"/>
          </a:p>
        </p:txBody>
      </p:sp>
      <p:sp>
        <p:nvSpPr>
          <p:cNvPr id="40" name="Text 38"/>
          <p:cNvSpPr/>
          <p:nvPr/>
        </p:nvSpPr>
        <p:spPr>
          <a:xfrm>
            <a:off x="5276088" y="2276856"/>
            <a:ext cx="3502152" cy="237744"/>
          </a:xfrm>
          <a:prstGeom prst="rect">
            <a:avLst/>
          </a:prstGeom>
          <a:noFill/>
          <a:ln/>
        </p:spPr>
        <p:txBody>
          <a:bodyPr wrap="square" lIns="0" tIns="0" rIns="0" bIns="0" rtlCol="0" anchor="ctr"/>
          <a:lstStyle/>
          <a:p>
            <a:pPr marL="0" indent="0">
              <a:buNone/>
            </a:pPr>
            <a:r>
              <a:rPr lang="en-US" sz="950" dirty="0">
                <a:solidFill>
                  <a:srgbClr val="78909C"/>
                </a:solidFill>
              </a:rPr>
              <a:t>Traffic sources, countries, payment methods</a:t>
            </a:r>
            <a:endParaRPr lang="en-US" sz="950" dirty="0"/>
          </a:p>
        </p:txBody>
      </p:sp>
      <p:sp>
        <p:nvSpPr>
          <p:cNvPr id="41" name="Shape 39"/>
          <p:cNvSpPr/>
          <p:nvPr/>
        </p:nvSpPr>
        <p:spPr>
          <a:xfrm>
            <a:off x="4709160" y="2679192"/>
            <a:ext cx="4160520" cy="676656"/>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42" name="Shape 40"/>
          <p:cNvSpPr/>
          <p:nvPr/>
        </p:nvSpPr>
        <p:spPr>
          <a:xfrm>
            <a:off x="4709160" y="2679192"/>
            <a:ext cx="475488" cy="676656"/>
          </a:xfrm>
          <a:prstGeom prst="rect">
            <a:avLst/>
          </a:prstGeom>
          <a:solidFill>
            <a:srgbClr val="00897B"/>
          </a:solidFill>
          <a:ln w="12700">
            <a:solidFill>
              <a:srgbClr val="00897B"/>
            </a:solidFill>
            <a:prstDash val="solid"/>
          </a:ln>
        </p:spPr>
      </p:sp>
      <p:sp>
        <p:nvSpPr>
          <p:cNvPr id="43" name="Text 41"/>
          <p:cNvSpPr/>
          <p:nvPr/>
        </p:nvSpPr>
        <p:spPr>
          <a:xfrm>
            <a:off x="4709160" y="2862072"/>
            <a:ext cx="475488" cy="310896"/>
          </a:xfrm>
          <a:prstGeom prst="rect">
            <a:avLst/>
          </a:prstGeom>
          <a:noFill/>
          <a:ln/>
        </p:spPr>
        <p:txBody>
          <a:bodyPr wrap="square" lIns="0" tIns="0" rIns="0" bIns="0" rtlCol="0" anchor="ctr"/>
          <a:lstStyle/>
          <a:p>
            <a:pPr marL="0" indent="0" algn="ctr">
              <a:buNone/>
            </a:pPr>
            <a:r>
              <a:rPr lang="en-US" sz="1200" b="1" dirty="0">
                <a:solidFill>
                  <a:srgbClr val="FFFFFF"/>
                </a:solidFill>
              </a:rPr>
              <a:t>08</a:t>
            </a:r>
            <a:endParaRPr lang="en-US" sz="1200" dirty="0"/>
          </a:p>
        </p:txBody>
      </p:sp>
      <p:sp>
        <p:nvSpPr>
          <p:cNvPr id="44" name="Text 42"/>
          <p:cNvSpPr/>
          <p:nvPr/>
        </p:nvSpPr>
        <p:spPr>
          <a:xfrm>
            <a:off x="5276088" y="2752344"/>
            <a:ext cx="3502152" cy="274320"/>
          </a:xfrm>
          <a:prstGeom prst="rect">
            <a:avLst/>
          </a:prstGeom>
          <a:noFill/>
          <a:ln/>
        </p:spPr>
        <p:txBody>
          <a:bodyPr wrap="square" lIns="0" tIns="0" rIns="0" bIns="0" rtlCol="0" anchor="ctr"/>
          <a:lstStyle/>
          <a:p>
            <a:pPr marL="0" indent="0">
              <a:buNone/>
            </a:pPr>
            <a:r>
              <a:rPr lang="en-US" sz="1150" b="1" dirty="0">
                <a:solidFill>
                  <a:srgbClr val="0D1B2A"/>
                </a:solidFill>
              </a:rPr>
              <a:t>Correlation </a:t>
            </a:r>
            <a:endParaRPr lang="en-US" sz="1150" dirty="0"/>
          </a:p>
        </p:txBody>
      </p:sp>
      <p:sp>
        <p:nvSpPr>
          <p:cNvPr id="45" name="Text 43"/>
          <p:cNvSpPr/>
          <p:nvPr/>
        </p:nvSpPr>
        <p:spPr>
          <a:xfrm>
            <a:off x="5276088" y="3044952"/>
            <a:ext cx="3502152" cy="237744"/>
          </a:xfrm>
          <a:prstGeom prst="rect">
            <a:avLst/>
          </a:prstGeom>
          <a:noFill/>
          <a:ln/>
        </p:spPr>
        <p:txBody>
          <a:bodyPr wrap="square" lIns="0" tIns="0" rIns="0" bIns="0" rtlCol="0" anchor="ctr"/>
          <a:lstStyle/>
          <a:p>
            <a:pPr marL="0" indent="0">
              <a:buNone/>
            </a:pPr>
            <a:r>
              <a:rPr lang="en-US" sz="950" dirty="0">
                <a:solidFill>
                  <a:srgbClr val="78909C"/>
                </a:solidFill>
              </a:rPr>
              <a:t>Numerical relationships &amp; data distribution</a:t>
            </a:r>
            <a:endParaRPr lang="en-US" sz="950" dirty="0"/>
          </a:p>
        </p:txBody>
      </p:sp>
      <p:sp>
        <p:nvSpPr>
          <p:cNvPr id="46" name="Shape 44"/>
          <p:cNvSpPr/>
          <p:nvPr/>
        </p:nvSpPr>
        <p:spPr>
          <a:xfrm>
            <a:off x="4709160" y="3447288"/>
            <a:ext cx="4160520" cy="676656"/>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47" name="Shape 45"/>
          <p:cNvSpPr/>
          <p:nvPr/>
        </p:nvSpPr>
        <p:spPr>
          <a:xfrm>
            <a:off x="4709160" y="3447288"/>
            <a:ext cx="475488" cy="676656"/>
          </a:xfrm>
          <a:prstGeom prst="rect">
            <a:avLst/>
          </a:prstGeom>
          <a:solidFill>
            <a:srgbClr val="00897B"/>
          </a:solidFill>
          <a:ln w="12700">
            <a:solidFill>
              <a:srgbClr val="00897B"/>
            </a:solidFill>
            <a:prstDash val="solid"/>
          </a:ln>
        </p:spPr>
      </p:sp>
      <p:sp>
        <p:nvSpPr>
          <p:cNvPr id="48" name="Text 46"/>
          <p:cNvSpPr/>
          <p:nvPr/>
        </p:nvSpPr>
        <p:spPr>
          <a:xfrm>
            <a:off x="4709160" y="3630168"/>
            <a:ext cx="475488" cy="310896"/>
          </a:xfrm>
          <a:prstGeom prst="rect">
            <a:avLst/>
          </a:prstGeom>
          <a:noFill/>
          <a:ln/>
        </p:spPr>
        <p:txBody>
          <a:bodyPr wrap="square" lIns="0" tIns="0" rIns="0" bIns="0" rtlCol="0" anchor="ctr"/>
          <a:lstStyle/>
          <a:p>
            <a:pPr marL="0" indent="0" algn="ctr">
              <a:buNone/>
            </a:pPr>
            <a:r>
              <a:rPr lang="en-US" sz="1200" b="1" dirty="0">
                <a:solidFill>
                  <a:srgbClr val="FFFFFF"/>
                </a:solidFill>
              </a:rPr>
              <a:t>09</a:t>
            </a:r>
            <a:endParaRPr lang="en-US" sz="1200" dirty="0"/>
          </a:p>
        </p:txBody>
      </p:sp>
      <p:sp>
        <p:nvSpPr>
          <p:cNvPr id="49" name="Text 47"/>
          <p:cNvSpPr/>
          <p:nvPr/>
        </p:nvSpPr>
        <p:spPr>
          <a:xfrm>
            <a:off x="5276088" y="3520440"/>
            <a:ext cx="3502152" cy="274320"/>
          </a:xfrm>
          <a:prstGeom prst="rect">
            <a:avLst/>
          </a:prstGeom>
          <a:noFill/>
          <a:ln/>
        </p:spPr>
        <p:txBody>
          <a:bodyPr wrap="square" lIns="0" tIns="0" rIns="0" bIns="0" rtlCol="0" anchor="ctr"/>
          <a:lstStyle/>
          <a:p>
            <a:pPr marL="0" indent="0">
              <a:buNone/>
            </a:pPr>
            <a:r>
              <a:rPr lang="en-US" sz="1150" b="1" dirty="0">
                <a:solidFill>
                  <a:srgbClr val="0D1B2A"/>
                </a:solidFill>
              </a:rPr>
              <a:t>Key Insights &amp; Recommendations</a:t>
            </a:r>
            <a:endParaRPr lang="en-US" sz="1150" dirty="0"/>
          </a:p>
        </p:txBody>
      </p:sp>
      <p:sp>
        <p:nvSpPr>
          <p:cNvPr id="50" name="Text 48"/>
          <p:cNvSpPr/>
          <p:nvPr/>
        </p:nvSpPr>
        <p:spPr>
          <a:xfrm>
            <a:off x="5276088" y="3813048"/>
            <a:ext cx="3502152" cy="237744"/>
          </a:xfrm>
          <a:prstGeom prst="rect">
            <a:avLst/>
          </a:prstGeom>
          <a:noFill/>
          <a:ln/>
        </p:spPr>
        <p:txBody>
          <a:bodyPr wrap="square" lIns="0" tIns="0" rIns="0" bIns="0" rtlCol="0" anchor="ctr"/>
          <a:lstStyle/>
          <a:p>
            <a:pPr marL="0" indent="0">
              <a:buNone/>
            </a:pPr>
            <a:r>
              <a:rPr lang="en-US" sz="950" dirty="0">
                <a:solidFill>
                  <a:srgbClr val="78909C"/>
                </a:solidFill>
              </a:rPr>
              <a:t>Action plan for growth</a:t>
            </a:r>
            <a:endParaRPr lang="en-US" sz="9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01  Dataset Description</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Shopify Sales &amp; Orders — 60,000 records across 3 years</a:t>
            </a:r>
            <a:endParaRPr lang="en-US" sz="1100" dirty="0"/>
          </a:p>
        </p:txBody>
      </p:sp>
      <p:sp>
        <p:nvSpPr>
          <p:cNvPr id="6" name="Text 4"/>
          <p:cNvSpPr/>
          <p:nvPr/>
        </p:nvSpPr>
        <p:spPr>
          <a:xfrm>
            <a:off x="365760" y="1115568"/>
            <a:ext cx="8412480" cy="320040"/>
          </a:xfrm>
          <a:prstGeom prst="rect">
            <a:avLst/>
          </a:prstGeom>
          <a:noFill/>
          <a:ln/>
        </p:spPr>
        <p:txBody>
          <a:bodyPr wrap="square" lIns="0" tIns="0" rIns="0" bIns="0" rtlCol="0" anchor="ctr"/>
          <a:lstStyle/>
          <a:p>
            <a:pPr marL="0" indent="0">
              <a:buNone/>
            </a:pPr>
            <a:r>
              <a:rPr lang="en-US" sz="1300" b="1" dirty="0">
                <a:solidFill>
                  <a:srgbClr val="0D1B2A"/>
                </a:solidFill>
              </a:rPr>
              <a:t>About the Dataset</a:t>
            </a:r>
            <a:endParaRPr lang="en-US" sz="1300" dirty="0"/>
          </a:p>
        </p:txBody>
      </p:sp>
      <p:sp>
        <p:nvSpPr>
          <p:cNvPr id="7" name="Text 5"/>
          <p:cNvSpPr/>
          <p:nvPr/>
        </p:nvSpPr>
        <p:spPr>
          <a:xfrm>
            <a:off x="365760" y="1426464"/>
            <a:ext cx="8412480" cy="658368"/>
          </a:xfrm>
          <a:prstGeom prst="rect">
            <a:avLst/>
          </a:prstGeom>
          <a:noFill/>
          <a:ln/>
        </p:spPr>
        <p:txBody>
          <a:bodyPr wrap="square" lIns="0" tIns="0" rIns="0" bIns="0" rtlCol="0" anchor="ctr"/>
          <a:lstStyle/>
          <a:p>
            <a:pPr marL="0" indent="0">
              <a:buNone/>
            </a:pPr>
            <a:r>
              <a:rPr lang="en-US" sz="1100" dirty="0">
                <a:solidFill>
                  <a:srgbClr val="1C2833"/>
                </a:solidFill>
              </a:rPr>
              <a:t>This is a real-world style Shopify e-commerce dataset containing 60,000 transactional records from January 2023 to June 2025. Each row represents one customer order, capturing product details, pricing, discounts, geography, traffic channels, payment methods, shipping costs, and return </a:t>
            </a:r>
            <a:r>
              <a:rPr lang="en-US" sz="1100" dirty="0" err="1">
                <a:solidFill>
                  <a:srgbClr val="1C2833"/>
                </a:solidFill>
              </a:rPr>
              <a:t>behaviour</a:t>
            </a:r>
            <a:endParaRPr lang="en-US" sz="1100" dirty="0"/>
          </a:p>
        </p:txBody>
      </p:sp>
      <p:sp>
        <p:nvSpPr>
          <p:cNvPr id="8" name="Shape 6"/>
          <p:cNvSpPr/>
          <p:nvPr/>
        </p:nvSpPr>
        <p:spPr>
          <a:xfrm>
            <a:off x="365760" y="2086497"/>
            <a:ext cx="4069080" cy="292608"/>
          </a:xfrm>
          <a:prstGeom prst="rect">
            <a:avLst/>
          </a:prstGeom>
          <a:solidFill>
            <a:srgbClr val="0D1B2A"/>
          </a:solidFill>
          <a:ln w="12700">
            <a:solidFill>
              <a:srgbClr val="0D1B2A"/>
            </a:solidFill>
            <a:prstDash val="solid"/>
          </a:ln>
        </p:spPr>
      </p:sp>
      <p:sp>
        <p:nvSpPr>
          <p:cNvPr id="9" name="Text 7"/>
          <p:cNvSpPr/>
          <p:nvPr/>
        </p:nvSpPr>
        <p:spPr>
          <a:xfrm>
            <a:off x="365760" y="2086497"/>
            <a:ext cx="4069080" cy="292608"/>
          </a:xfrm>
          <a:prstGeom prst="rect">
            <a:avLst/>
          </a:prstGeom>
          <a:noFill/>
          <a:ln/>
        </p:spPr>
        <p:txBody>
          <a:bodyPr wrap="square" lIns="0" tIns="0" rIns="0" bIns="0" rtlCol="0" anchor="ctr"/>
          <a:lstStyle/>
          <a:p>
            <a:pPr marL="0" indent="0" algn="ctr">
              <a:buNone/>
            </a:pPr>
            <a:r>
              <a:rPr lang="en-US" sz="1050" b="1" dirty="0">
                <a:solidFill>
                  <a:srgbClr val="FFFFFF"/>
                </a:solidFill>
              </a:rPr>
              <a:t>Column</a:t>
            </a:r>
            <a:endParaRPr lang="en-US" sz="1050" dirty="0"/>
          </a:p>
        </p:txBody>
      </p:sp>
      <p:sp>
        <p:nvSpPr>
          <p:cNvPr id="10" name="Shape 8"/>
          <p:cNvSpPr/>
          <p:nvPr/>
        </p:nvSpPr>
        <p:spPr>
          <a:xfrm>
            <a:off x="4572000" y="2086497"/>
            <a:ext cx="4069080" cy="292608"/>
          </a:xfrm>
          <a:prstGeom prst="rect">
            <a:avLst/>
          </a:prstGeom>
          <a:solidFill>
            <a:srgbClr val="0D1B2A"/>
          </a:solidFill>
          <a:ln w="12700">
            <a:solidFill>
              <a:srgbClr val="0D1B2A"/>
            </a:solidFill>
            <a:prstDash val="solid"/>
          </a:ln>
        </p:spPr>
      </p:sp>
      <p:sp>
        <p:nvSpPr>
          <p:cNvPr id="11" name="Text 9"/>
          <p:cNvSpPr/>
          <p:nvPr/>
        </p:nvSpPr>
        <p:spPr>
          <a:xfrm>
            <a:off x="4572000" y="2086497"/>
            <a:ext cx="4069080" cy="292608"/>
          </a:xfrm>
          <a:prstGeom prst="rect">
            <a:avLst/>
          </a:prstGeom>
          <a:noFill/>
          <a:ln/>
        </p:spPr>
        <p:txBody>
          <a:bodyPr wrap="square" lIns="0" tIns="0" rIns="0" bIns="0" rtlCol="0" anchor="ctr"/>
          <a:lstStyle/>
          <a:p>
            <a:pPr marL="0" indent="0" algn="ctr">
              <a:buNone/>
            </a:pPr>
            <a:r>
              <a:rPr lang="en-US" sz="1050" b="1" dirty="0">
                <a:solidFill>
                  <a:srgbClr val="FFFFFF"/>
                </a:solidFill>
              </a:rPr>
              <a:t>Description</a:t>
            </a:r>
            <a:endParaRPr lang="en-US" sz="1050" dirty="0"/>
          </a:p>
        </p:txBody>
      </p:sp>
      <p:sp>
        <p:nvSpPr>
          <p:cNvPr id="12" name="Shape 10"/>
          <p:cNvSpPr/>
          <p:nvPr/>
        </p:nvSpPr>
        <p:spPr>
          <a:xfrm>
            <a:off x="365760" y="2379105"/>
            <a:ext cx="4069080" cy="160020"/>
          </a:xfrm>
          <a:prstGeom prst="rect">
            <a:avLst/>
          </a:prstGeom>
          <a:solidFill>
            <a:srgbClr val="EAF4FB"/>
          </a:solidFill>
          <a:ln w="12700">
            <a:solidFill>
              <a:srgbClr val="CFD8DC"/>
            </a:solidFill>
            <a:prstDash val="solid"/>
          </a:ln>
        </p:spPr>
      </p:sp>
      <p:sp>
        <p:nvSpPr>
          <p:cNvPr id="13" name="Shape 11"/>
          <p:cNvSpPr/>
          <p:nvPr/>
        </p:nvSpPr>
        <p:spPr>
          <a:xfrm>
            <a:off x="4572000" y="2379105"/>
            <a:ext cx="4069080" cy="160020"/>
          </a:xfrm>
          <a:prstGeom prst="rect">
            <a:avLst/>
          </a:prstGeom>
          <a:solidFill>
            <a:srgbClr val="EAF4FB"/>
          </a:solidFill>
          <a:ln w="12700">
            <a:solidFill>
              <a:srgbClr val="CFD8DC"/>
            </a:solidFill>
            <a:prstDash val="solid"/>
          </a:ln>
        </p:spPr>
      </p:sp>
      <p:sp>
        <p:nvSpPr>
          <p:cNvPr id="14" name="Text 12"/>
          <p:cNvSpPr/>
          <p:nvPr/>
        </p:nvSpPr>
        <p:spPr>
          <a:xfrm>
            <a:off x="457200" y="239739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order_id</a:t>
            </a:r>
            <a:endParaRPr lang="en-US" sz="900" dirty="0"/>
          </a:p>
        </p:txBody>
      </p:sp>
      <p:sp>
        <p:nvSpPr>
          <p:cNvPr id="15" name="Text 13"/>
          <p:cNvSpPr/>
          <p:nvPr/>
        </p:nvSpPr>
        <p:spPr>
          <a:xfrm>
            <a:off x="4663440" y="2397393"/>
            <a:ext cx="3840480" cy="128016"/>
          </a:xfrm>
          <a:prstGeom prst="rect">
            <a:avLst/>
          </a:prstGeom>
          <a:noFill/>
          <a:ln/>
        </p:spPr>
        <p:txBody>
          <a:bodyPr wrap="square" lIns="0" tIns="0" rIns="0" bIns="0" rtlCol="0" anchor="ctr"/>
          <a:lstStyle/>
          <a:p>
            <a:pPr marL="0" indent="0">
              <a:buNone/>
            </a:pPr>
            <a:r>
              <a:rPr lang="en-US" sz="900" dirty="0">
                <a:solidFill>
                  <a:srgbClr val="1C2833"/>
                </a:solidFill>
              </a:rPr>
              <a:t>Unique identifier per order</a:t>
            </a:r>
            <a:endParaRPr lang="en-US" sz="900" dirty="0"/>
          </a:p>
        </p:txBody>
      </p:sp>
      <p:sp>
        <p:nvSpPr>
          <p:cNvPr id="16" name="Shape 14"/>
          <p:cNvSpPr/>
          <p:nvPr/>
        </p:nvSpPr>
        <p:spPr>
          <a:xfrm>
            <a:off x="365760" y="2539125"/>
            <a:ext cx="4069080" cy="160020"/>
          </a:xfrm>
          <a:prstGeom prst="rect">
            <a:avLst/>
          </a:prstGeom>
          <a:solidFill>
            <a:srgbClr val="FFFFFF"/>
          </a:solidFill>
          <a:ln w="12700">
            <a:solidFill>
              <a:srgbClr val="CFD8DC"/>
            </a:solidFill>
            <a:prstDash val="solid"/>
          </a:ln>
        </p:spPr>
      </p:sp>
      <p:sp>
        <p:nvSpPr>
          <p:cNvPr id="17" name="Shape 15"/>
          <p:cNvSpPr/>
          <p:nvPr/>
        </p:nvSpPr>
        <p:spPr>
          <a:xfrm>
            <a:off x="4572000" y="2539125"/>
            <a:ext cx="4069080" cy="160020"/>
          </a:xfrm>
          <a:prstGeom prst="rect">
            <a:avLst/>
          </a:prstGeom>
          <a:solidFill>
            <a:srgbClr val="FFFFFF"/>
          </a:solidFill>
          <a:ln w="12700">
            <a:solidFill>
              <a:srgbClr val="CFD8DC"/>
            </a:solidFill>
            <a:prstDash val="solid"/>
          </a:ln>
        </p:spPr>
      </p:sp>
      <p:sp>
        <p:nvSpPr>
          <p:cNvPr id="18" name="Text 16"/>
          <p:cNvSpPr/>
          <p:nvPr/>
        </p:nvSpPr>
        <p:spPr>
          <a:xfrm>
            <a:off x="457200" y="255741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order_date</a:t>
            </a:r>
            <a:endParaRPr lang="en-US" sz="900" dirty="0"/>
          </a:p>
        </p:txBody>
      </p:sp>
      <p:sp>
        <p:nvSpPr>
          <p:cNvPr id="19" name="Text 17"/>
          <p:cNvSpPr/>
          <p:nvPr/>
        </p:nvSpPr>
        <p:spPr>
          <a:xfrm>
            <a:off x="4663440" y="2557413"/>
            <a:ext cx="3840480" cy="128016"/>
          </a:xfrm>
          <a:prstGeom prst="rect">
            <a:avLst/>
          </a:prstGeom>
          <a:noFill/>
          <a:ln/>
        </p:spPr>
        <p:txBody>
          <a:bodyPr wrap="square" lIns="0" tIns="0" rIns="0" bIns="0" rtlCol="0" anchor="ctr"/>
          <a:lstStyle/>
          <a:p>
            <a:pPr marL="0" indent="0">
              <a:buNone/>
            </a:pPr>
            <a:r>
              <a:rPr lang="en-US" sz="900" dirty="0">
                <a:solidFill>
                  <a:srgbClr val="1C2833"/>
                </a:solidFill>
              </a:rPr>
              <a:t>Date of purchase (Jan 2023 – Jun 2025)</a:t>
            </a:r>
            <a:endParaRPr lang="en-US" sz="900" dirty="0"/>
          </a:p>
        </p:txBody>
      </p:sp>
      <p:sp>
        <p:nvSpPr>
          <p:cNvPr id="20" name="Shape 18"/>
          <p:cNvSpPr/>
          <p:nvPr/>
        </p:nvSpPr>
        <p:spPr>
          <a:xfrm>
            <a:off x="365760" y="2699145"/>
            <a:ext cx="4069080" cy="160020"/>
          </a:xfrm>
          <a:prstGeom prst="rect">
            <a:avLst/>
          </a:prstGeom>
          <a:solidFill>
            <a:srgbClr val="EAF4FB"/>
          </a:solidFill>
          <a:ln w="12700">
            <a:solidFill>
              <a:srgbClr val="CFD8DC"/>
            </a:solidFill>
            <a:prstDash val="solid"/>
          </a:ln>
        </p:spPr>
      </p:sp>
      <p:sp>
        <p:nvSpPr>
          <p:cNvPr id="21" name="Shape 19"/>
          <p:cNvSpPr/>
          <p:nvPr/>
        </p:nvSpPr>
        <p:spPr>
          <a:xfrm>
            <a:off x="4572000" y="2699145"/>
            <a:ext cx="4069080" cy="160020"/>
          </a:xfrm>
          <a:prstGeom prst="rect">
            <a:avLst/>
          </a:prstGeom>
          <a:solidFill>
            <a:srgbClr val="EAF4FB"/>
          </a:solidFill>
          <a:ln w="12700">
            <a:solidFill>
              <a:srgbClr val="CFD8DC"/>
            </a:solidFill>
            <a:prstDash val="solid"/>
          </a:ln>
        </p:spPr>
      </p:sp>
      <p:sp>
        <p:nvSpPr>
          <p:cNvPr id="22" name="Text 20"/>
          <p:cNvSpPr/>
          <p:nvPr/>
        </p:nvSpPr>
        <p:spPr>
          <a:xfrm>
            <a:off x="457200" y="271743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customer_id</a:t>
            </a:r>
            <a:endParaRPr lang="en-US" sz="900" dirty="0"/>
          </a:p>
        </p:txBody>
      </p:sp>
      <p:sp>
        <p:nvSpPr>
          <p:cNvPr id="23" name="Text 21"/>
          <p:cNvSpPr/>
          <p:nvPr/>
        </p:nvSpPr>
        <p:spPr>
          <a:xfrm>
            <a:off x="4663440" y="2717433"/>
            <a:ext cx="3840480" cy="128016"/>
          </a:xfrm>
          <a:prstGeom prst="rect">
            <a:avLst/>
          </a:prstGeom>
          <a:noFill/>
          <a:ln/>
        </p:spPr>
        <p:txBody>
          <a:bodyPr wrap="square" lIns="0" tIns="0" rIns="0" bIns="0" rtlCol="0" anchor="ctr"/>
          <a:lstStyle/>
          <a:p>
            <a:pPr marL="0" indent="0">
              <a:buNone/>
            </a:pPr>
            <a:r>
              <a:rPr lang="en-US" sz="900" dirty="0">
                <a:solidFill>
                  <a:srgbClr val="1C2833"/>
                </a:solidFill>
              </a:rPr>
              <a:t>Unique customer number</a:t>
            </a:r>
            <a:endParaRPr lang="en-US" sz="900" dirty="0"/>
          </a:p>
        </p:txBody>
      </p:sp>
      <p:sp>
        <p:nvSpPr>
          <p:cNvPr id="24" name="Shape 22"/>
          <p:cNvSpPr/>
          <p:nvPr/>
        </p:nvSpPr>
        <p:spPr>
          <a:xfrm>
            <a:off x="365760" y="2859165"/>
            <a:ext cx="4069080" cy="160020"/>
          </a:xfrm>
          <a:prstGeom prst="rect">
            <a:avLst/>
          </a:prstGeom>
          <a:solidFill>
            <a:srgbClr val="FFFFFF"/>
          </a:solidFill>
          <a:ln w="12700">
            <a:solidFill>
              <a:srgbClr val="CFD8DC"/>
            </a:solidFill>
            <a:prstDash val="solid"/>
          </a:ln>
        </p:spPr>
      </p:sp>
      <p:sp>
        <p:nvSpPr>
          <p:cNvPr id="25" name="Shape 23"/>
          <p:cNvSpPr/>
          <p:nvPr/>
        </p:nvSpPr>
        <p:spPr>
          <a:xfrm>
            <a:off x="4572000" y="2859165"/>
            <a:ext cx="4069080" cy="160020"/>
          </a:xfrm>
          <a:prstGeom prst="rect">
            <a:avLst/>
          </a:prstGeom>
          <a:solidFill>
            <a:srgbClr val="FFFFFF"/>
          </a:solidFill>
          <a:ln w="12700">
            <a:solidFill>
              <a:srgbClr val="CFD8DC"/>
            </a:solidFill>
            <a:prstDash val="solid"/>
          </a:ln>
        </p:spPr>
      </p:sp>
      <p:sp>
        <p:nvSpPr>
          <p:cNvPr id="26" name="Text 24"/>
          <p:cNvSpPr/>
          <p:nvPr/>
        </p:nvSpPr>
        <p:spPr>
          <a:xfrm>
            <a:off x="457200" y="287745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product_id</a:t>
            </a:r>
            <a:endParaRPr lang="en-US" sz="900" dirty="0"/>
          </a:p>
        </p:txBody>
      </p:sp>
      <p:sp>
        <p:nvSpPr>
          <p:cNvPr id="27" name="Text 25"/>
          <p:cNvSpPr/>
          <p:nvPr/>
        </p:nvSpPr>
        <p:spPr>
          <a:xfrm>
            <a:off x="4663440" y="2877453"/>
            <a:ext cx="3840480" cy="128016"/>
          </a:xfrm>
          <a:prstGeom prst="rect">
            <a:avLst/>
          </a:prstGeom>
          <a:noFill/>
          <a:ln/>
        </p:spPr>
        <p:txBody>
          <a:bodyPr wrap="square" lIns="0" tIns="0" rIns="0" bIns="0" rtlCol="0" anchor="ctr"/>
          <a:lstStyle/>
          <a:p>
            <a:pPr marL="0" indent="0">
              <a:buNone/>
            </a:pPr>
            <a:r>
              <a:rPr lang="en-US" sz="900" dirty="0">
                <a:solidFill>
                  <a:srgbClr val="1C2833"/>
                </a:solidFill>
              </a:rPr>
              <a:t>Unique product identifier</a:t>
            </a:r>
            <a:endParaRPr lang="en-US" sz="900" dirty="0"/>
          </a:p>
        </p:txBody>
      </p:sp>
      <p:sp>
        <p:nvSpPr>
          <p:cNvPr id="28" name="Shape 26"/>
          <p:cNvSpPr/>
          <p:nvPr/>
        </p:nvSpPr>
        <p:spPr>
          <a:xfrm>
            <a:off x="365760" y="3019185"/>
            <a:ext cx="4069080" cy="160020"/>
          </a:xfrm>
          <a:prstGeom prst="rect">
            <a:avLst/>
          </a:prstGeom>
          <a:solidFill>
            <a:srgbClr val="EAF4FB"/>
          </a:solidFill>
          <a:ln w="12700">
            <a:solidFill>
              <a:srgbClr val="CFD8DC"/>
            </a:solidFill>
            <a:prstDash val="solid"/>
          </a:ln>
        </p:spPr>
      </p:sp>
      <p:sp>
        <p:nvSpPr>
          <p:cNvPr id="29" name="Shape 27"/>
          <p:cNvSpPr/>
          <p:nvPr/>
        </p:nvSpPr>
        <p:spPr>
          <a:xfrm>
            <a:off x="4572000" y="3019185"/>
            <a:ext cx="4069080" cy="160020"/>
          </a:xfrm>
          <a:prstGeom prst="rect">
            <a:avLst/>
          </a:prstGeom>
          <a:solidFill>
            <a:srgbClr val="EAF4FB"/>
          </a:solidFill>
          <a:ln w="12700">
            <a:solidFill>
              <a:srgbClr val="CFD8DC"/>
            </a:solidFill>
            <a:prstDash val="solid"/>
          </a:ln>
        </p:spPr>
      </p:sp>
      <p:sp>
        <p:nvSpPr>
          <p:cNvPr id="30" name="Text 28"/>
          <p:cNvSpPr/>
          <p:nvPr/>
        </p:nvSpPr>
        <p:spPr>
          <a:xfrm>
            <a:off x="457200" y="303747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product_category</a:t>
            </a:r>
            <a:endParaRPr lang="en-US" sz="900" dirty="0"/>
          </a:p>
        </p:txBody>
      </p:sp>
      <p:sp>
        <p:nvSpPr>
          <p:cNvPr id="31" name="Text 29"/>
          <p:cNvSpPr/>
          <p:nvPr/>
        </p:nvSpPr>
        <p:spPr>
          <a:xfrm>
            <a:off x="4663440" y="3037473"/>
            <a:ext cx="3840480" cy="128016"/>
          </a:xfrm>
          <a:prstGeom prst="rect">
            <a:avLst/>
          </a:prstGeom>
          <a:noFill/>
          <a:ln/>
        </p:spPr>
        <p:txBody>
          <a:bodyPr wrap="square" lIns="0" tIns="0" rIns="0" bIns="0" rtlCol="0" anchor="ctr"/>
          <a:lstStyle/>
          <a:p>
            <a:pPr marL="0" indent="0">
              <a:buNone/>
            </a:pPr>
            <a:r>
              <a:rPr lang="en-US" sz="900" dirty="0">
                <a:solidFill>
                  <a:srgbClr val="1C2833"/>
                </a:solidFill>
              </a:rPr>
              <a:t>7 categories: Electronics, Accessories, etc.</a:t>
            </a:r>
            <a:endParaRPr lang="en-US" sz="900" dirty="0"/>
          </a:p>
        </p:txBody>
      </p:sp>
      <p:sp>
        <p:nvSpPr>
          <p:cNvPr id="32" name="Shape 30"/>
          <p:cNvSpPr/>
          <p:nvPr/>
        </p:nvSpPr>
        <p:spPr>
          <a:xfrm>
            <a:off x="365760" y="3179205"/>
            <a:ext cx="4069080" cy="160020"/>
          </a:xfrm>
          <a:prstGeom prst="rect">
            <a:avLst/>
          </a:prstGeom>
          <a:solidFill>
            <a:srgbClr val="FFFFFF"/>
          </a:solidFill>
          <a:ln w="12700">
            <a:solidFill>
              <a:srgbClr val="CFD8DC"/>
            </a:solidFill>
            <a:prstDash val="solid"/>
          </a:ln>
        </p:spPr>
      </p:sp>
      <p:sp>
        <p:nvSpPr>
          <p:cNvPr id="33" name="Shape 31"/>
          <p:cNvSpPr/>
          <p:nvPr/>
        </p:nvSpPr>
        <p:spPr>
          <a:xfrm>
            <a:off x="4572000" y="3179205"/>
            <a:ext cx="4069080" cy="160020"/>
          </a:xfrm>
          <a:prstGeom prst="rect">
            <a:avLst/>
          </a:prstGeom>
          <a:solidFill>
            <a:srgbClr val="FFFFFF"/>
          </a:solidFill>
          <a:ln w="12700">
            <a:solidFill>
              <a:srgbClr val="CFD8DC"/>
            </a:solidFill>
            <a:prstDash val="solid"/>
          </a:ln>
        </p:spPr>
      </p:sp>
      <p:sp>
        <p:nvSpPr>
          <p:cNvPr id="34" name="Text 32"/>
          <p:cNvSpPr/>
          <p:nvPr/>
        </p:nvSpPr>
        <p:spPr>
          <a:xfrm>
            <a:off x="457200" y="319749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product_price</a:t>
            </a:r>
            <a:endParaRPr lang="en-US" sz="900" dirty="0"/>
          </a:p>
        </p:txBody>
      </p:sp>
      <p:sp>
        <p:nvSpPr>
          <p:cNvPr id="35" name="Text 33"/>
          <p:cNvSpPr/>
          <p:nvPr/>
        </p:nvSpPr>
        <p:spPr>
          <a:xfrm>
            <a:off x="4663440" y="3197493"/>
            <a:ext cx="3840480" cy="128016"/>
          </a:xfrm>
          <a:prstGeom prst="rect">
            <a:avLst/>
          </a:prstGeom>
          <a:noFill/>
          <a:ln/>
        </p:spPr>
        <p:txBody>
          <a:bodyPr wrap="square" lIns="0" tIns="0" rIns="0" bIns="0" rtlCol="0" anchor="ctr"/>
          <a:lstStyle/>
          <a:p>
            <a:pPr marL="0" indent="0">
              <a:buNone/>
            </a:pPr>
            <a:r>
              <a:rPr lang="en-US" sz="900" dirty="0">
                <a:solidFill>
                  <a:srgbClr val="1C2833"/>
                </a:solidFill>
              </a:rPr>
              <a:t>Original MRP of the product (₹5 – ₹800)</a:t>
            </a:r>
            <a:endParaRPr lang="en-US" sz="900" dirty="0"/>
          </a:p>
        </p:txBody>
      </p:sp>
      <p:sp>
        <p:nvSpPr>
          <p:cNvPr id="36" name="Shape 34"/>
          <p:cNvSpPr/>
          <p:nvPr/>
        </p:nvSpPr>
        <p:spPr>
          <a:xfrm>
            <a:off x="365760" y="3339225"/>
            <a:ext cx="4069080" cy="160020"/>
          </a:xfrm>
          <a:prstGeom prst="rect">
            <a:avLst/>
          </a:prstGeom>
          <a:solidFill>
            <a:srgbClr val="EAF4FB"/>
          </a:solidFill>
          <a:ln w="12700">
            <a:solidFill>
              <a:srgbClr val="CFD8DC"/>
            </a:solidFill>
            <a:prstDash val="solid"/>
          </a:ln>
        </p:spPr>
      </p:sp>
      <p:sp>
        <p:nvSpPr>
          <p:cNvPr id="37" name="Shape 35"/>
          <p:cNvSpPr/>
          <p:nvPr/>
        </p:nvSpPr>
        <p:spPr>
          <a:xfrm>
            <a:off x="4572000" y="3339225"/>
            <a:ext cx="4069080" cy="160020"/>
          </a:xfrm>
          <a:prstGeom prst="rect">
            <a:avLst/>
          </a:prstGeom>
          <a:solidFill>
            <a:srgbClr val="EAF4FB"/>
          </a:solidFill>
          <a:ln w="12700">
            <a:solidFill>
              <a:srgbClr val="CFD8DC"/>
            </a:solidFill>
            <a:prstDash val="solid"/>
          </a:ln>
        </p:spPr>
      </p:sp>
      <p:sp>
        <p:nvSpPr>
          <p:cNvPr id="38" name="Text 36"/>
          <p:cNvSpPr/>
          <p:nvPr/>
        </p:nvSpPr>
        <p:spPr>
          <a:xfrm>
            <a:off x="457200" y="335751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discount_percent</a:t>
            </a:r>
            <a:endParaRPr lang="en-US" sz="900" dirty="0"/>
          </a:p>
        </p:txBody>
      </p:sp>
      <p:sp>
        <p:nvSpPr>
          <p:cNvPr id="39" name="Text 37"/>
          <p:cNvSpPr/>
          <p:nvPr/>
        </p:nvSpPr>
        <p:spPr>
          <a:xfrm>
            <a:off x="4663440" y="3357513"/>
            <a:ext cx="3840480" cy="128016"/>
          </a:xfrm>
          <a:prstGeom prst="rect">
            <a:avLst/>
          </a:prstGeom>
          <a:noFill/>
          <a:ln/>
        </p:spPr>
        <p:txBody>
          <a:bodyPr wrap="square" lIns="0" tIns="0" rIns="0" bIns="0" rtlCol="0" anchor="ctr"/>
          <a:lstStyle/>
          <a:p>
            <a:pPr marL="0" indent="0">
              <a:buNone/>
            </a:pPr>
            <a:r>
              <a:rPr lang="en-US" sz="900" dirty="0">
                <a:solidFill>
                  <a:srgbClr val="1C2833"/>
                </a:solidFill>
              </a:rPr>
              <a:t>Discount applied: 0%–40%</a:t>
            </a:r>
            <a:endParaRPr lang="en-US" sz="900" dirty="0"/>
          </a:p>
        </p:txBody>
      </p:sp>
      <p:sp>
        <p:nvSpPr>
          <p:cNvPr id="40" name="Shape 38"/>
          <p:cNvSpPr/>
          <p:nvPr/>
        </p:nvSpPr>
        <p:spPr>
          <a:xfrm>
            <a:off x="365760" y="3499245"/>
            <a:ext cx="4069080" cy="160020"/>
          </a:xfrm>
          <a:prstGeom prst="rect">
            <a:avLst/>
          </a:prstGeom>
          <a:solidFill>
            <a:srgbClr val="FFFFFF"/>
          </a:solidFill>
          <a:ln w="12700">
            <a:solidFill>
              <a:srgbClr val="CFD8DC"/>
            </a:solidFill>
            <a:prstDash val="solid"/>
          </a:ln>
        </p:spPr>
      </p:sp>
      <p:sp>
        <p:nvSpPr>
          <p:cNvPr id="41" name="Shape 39"/>
          <p:cNvSpPr/>
          <p:nvPr/>
        </p:nvSpPr>
        <p:spPr>
          <a:xfrm>
            <a:off x="4572000" y="3499245"/>
            <a:ext cx="4069080" cy="160020"/>
          </a:xfrm>
          <a:prstGeom prst="rect">
            <a:avLst/>
          </a:prstGeom>
          <a:solidFill>
            <a:srgbClr val="FFFFFF"/>
          </a:solidFill>
          <a:ln w="12700">
            <a:solidFill>
              <a:srgbClr val="CFD8DC"/>
            </a:solidFill>
            <a:prstDash val="solid"/>
          </a:ln>
        </p:spPr>
      </p:sp>
      <p:sp>
        <p:nvSpPr>
          <p:cNvPr id="42" name="Text 40"/>
          <p:cNvSpPr/>
          <p:nvPr/>
        </p:nvSpPr>
        <p:spPr>
          <a:xfrm>
            <a:off x="457200" y="351753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quantity</a:t>
            </a:r>
            <a:endParaRPr lang="en-US" sz="900" dirty="0"/>
          </a:p>
        </p:txBody>
      </p:sp>
      <p:sp>
        <p:nvSpPr>
          <p:cNvPr id="43" name="Text 41"/>
          <p:cNvSpPr/>
          <p:nvPr/>
        </p:nvSpPr>
        <p:spPr>
          <a:xfrm>
            <a:off x="4663440" y="3517533"/>
            <a:ext cx="3840480" cy="128016"/>
          </a:xfrm>
          <a:prstGeom prst="rect">
            <a:avLst/>
          </a:prstGeom>
          <a:noFill/>
          <a:ln/>
        </p:spPr>
        <p:txBody>
          <a:bodyPr wrap="square" lIns="0" tIns="0" rIns="0" bIns="0" rtlCol="0" anchor="ctr"/>
          <a:lstStyle/>
          <a:p>
            <a:pPr marL="0" indent="0">
              <a:buNone/>
            </a:pPr>
            <a:r>
              <a:rPr lang="en-US" sz="900" dirty="0">
                <a:solidFill>
                  <a:srgbClr val="1C2833"/>
                </a:solidFill>
              </a:rPr>
              <a:t>Units ordered per transaction (1–5)</a:t>
            </a:r>
            <a:endParaRPr lang="en-US" sz="900" dirty="0"/>
          </a:p>
        </p:txBody>
      </p:sp>
      <p:sp>
        <p:nvSpPr>
          <p:cNvPr id="44" name="Shape 42"/>
          <p:cNvSpPr/>
          <p:nvPr/>
        </p:nvSpPr>
        <p:spPr>
          <a:xfrm>
            <a:off x="365760" y="3659265"/>
            <a:ext cx="4069080" cy="160020"/>
          </a:xfrm>
          <a:prstGeom prst="rect">
            <a:avLst/>
          </a:prstGeom>
          <a:solidFill>
            <a:srgbClr val="EAF4FB"/>
          </a:solidFill>
          <a:ln w="12700">
            <a:solidFill>
              <a:srgbClr val="CFD8DC"/>
            </a:solidFill>
            <a:prstDash val="solid"/>
          </a:ln>
        </p:spPr>
      </p:sp>
      <p:sp>
        <p:nvSpPr>
          <p:cNvPr id="45" name="Shape 43"/>
          <p:cNvSpPr/>
          <p:nvPr/>
        </p:nvSpPr>
        <p:spPr>
          <a:xfrm>
            <a:off x="4572000" y="3659265"/>
            <a:ext cx="4069080" cy="160020"/>
          </a:xfrm>
          <a:prstGeom prst="rect">
            <a:avLst/>
          </a:prstGeom>
          <a:solidFill>
            <a:srgbClr val="EAF4FB"/>
          </a:solidFill>
          <a:ln w="12700">
            <a:solidFill>
              <a:srgbClr val="CFD8DC"/>
            </a:solidFill>
            <a:prstDash val="solid"/>
          </a:ln>
        </p:spPr>
      </p:sp>
      <p:sp>
        <p:nvSpPr>
          <p:cNvPr id="46" name="Text 44"/>
          <p:cNvSpPr/>
          <p:nvPr/>
        </p:nvSpPr>
        <p:spPr>
          <a:xfrm>
            <a:off x="457200" y="367755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customer_country</a:t>
            </a:r>
            <a:endParaRPr lang="en-US" sz="900" dirty="0"/>
          </a:p>
        </p:txBody>
      </p:sp>
      <p:sp>
        <p:nvSpPr>
          <p:cNvPr id="47" name="Text 45"/>
          <p:cNvSpPr/>
          <p:nvPr/>
        </p:nvSpPr>
        <p:spPr>
          <a:xfrm>
            <a:off x="4663440" y="3677553"/>
            <a:ext cx="3840480" cy="128016"/>
          </a:xfrm>
          <a:prstGeom prst="rect">
            <a:avLst/>
          </a:prstGeom>
          <a:noFill/>
          <a:ln/>
        </p:spPr>
        <p:txBody>
          <a:bodyPr wrap="square" lIns="0" tIns="0" rIns="0" bIns="0" rtlCol="0" anchor="ctr"/>
          <a:lstStyle/>
          <a:p>
            <a:pPr marL="0" indent="0">
              <a:buNone/>
            </a:pPr>
            <a:r>
              <a:rPr lang="en-US" sz="900" dirty="0">
                <a:solidFill>
                  <a:srgbClr val="1C2833"/>
                </a:solidFill>
              </a:rPr>
              <a:t>7 countries: USA, UAE, India, UK, etc.</a:t>
            </a:r>
            <a:endParaRPr lang="en-US" sz="900" dirty="0"/>
          </a:p>
        </p:txBody>
      </p:sp>
      <p:sp>
        <p:nvSpPr>
          <p:cNvPr id="48" name="Shape 46"/>
          <p:cNvSpPr/>
          <p:nvPr/>
        </p:nvSpPr>
        <p:spPr>
          <a:xfrm>
            <a:off x="365760" y="3819285"/>
            <a:ext cx="4069080" cy="160020"/>
          </a:xfrm>
          <a:prstGeom prst="rect">
            <a:avLst/>
          </a:prstGeom>
          <a:solidFill>
            <a:srgbClr val="FFFFFF"/>
          </a:solidFill>
          <a:ln w="12700">
            <a:solidFill>
              <a:srgbClr val="CFD8DC"/>
            </a:solidFill>
            <a:prstDash val="solid"/>
          </a:ln>
        </p:spPr>
      </p:sp>
      <p:sp>
        <p:nvSpPr>
          <p:cNvPr id="49" name="Shape 47"/>
          <p:cNvSpPr/>
          <p:nvPr/>
        </p:nvSpPr>
        <p:spPr>
          <a:xfrm>
            <a:off x="4572000" y="3819285"/>
            <a:ext cx="4069080" cy="160020"/>
          </a:xfrm>
          <a:prstGeom prst="rect">
            <a:avLst/>
          </a:prstGeom>
          <a:solidFill>
            <a:srgbClr val="FFFFFF"/>
          </a:solidFill>
          <a:ln w="12700">
            <a:solidFill>
              <a:srgbClr val="CFD8DC"/>
            </a:solidFill>
            <a:prstDash val="solid"/>
          </a:ln>
        </p:spPr>
      </p:sp>
      <p:sp>
        <p:nvSpPr>
          <p:cNvPr id="50" name="Text 48"/>
          <p:cNvSpPr/>
          <p:nvPr/>
        </p:nvSpPr>
        <p:spPr>
          <a:xfrm>
            <a:off x="457200" y="383757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traffic_source</a:t>
            </a:r>
            <a:endParaRPr lang="en-US" sz="900" dirty="0"/>
          </a:p>
        </p:txBody>
      </p:sp>
      <p:sp>
        <p:nvSpPr>
          <p:cNvPr id="51" name="Text 49"/>
          <p:cNvSpPr/>
          <p:nvPr/>
        </p:nvSpPr>
        <p:spPr>
          <a:xfrm>
            <a:off x="4663440" y="3837573"/>
            <a:ext cx="3840480" cy="128016"/>
          </a:xfrm>
          <a:prstGeom prst="rect">
            <a:avLst/>
          </a:prstGeom>
          <a:noFill/>
          <a:ln/>
        </p:spPr>
        <p:txBody>
          <a:bodyPr wrap="square" lIns="0" tIns="0" rIns="0" bIns="0" rtlCol="0" anchor="ctr"/>
          <a:lstStyle/>
          <a:p>
            <a:pPr marL="0" indent="0">
              <a:buNone/>
            </a:pPr>
            <a:r>
              <a:rPr lang="en-US" sz="900" dirty="0">
                <a:solidFill>
                  <a:srgbClr val="1C2833"/>
                </a:solidFill>
              </a:rPr>
              <a:t>5 channels: Paid Ads, Social, Email, etc.</a:t>
            </a:r>
            <a:endParaRPr lang="en-US" sz="900" dirty="0"/>
          </a:p>
        </p:txBody>
      </p:sp>
      <p:sp>
        <p:nvSpPr>
          <p:cNvPr id="52" name="Shape 50"/>
          <p:cNvSpPr/>
          <p:nvPr/>
        </p:nvSpPr>
        <p:spPr>
          <a:xfrm>
            <a:off x="365760" y="3979305"/>
            <a:ext cx="4069080" cy="160020"/>
          </a:xfrm>
          <a:prstGeom prst="rect">
            <a:avLst/>
          </a:prstGeom>
          <a:solidFill>
            <a:srgbClr val="EAF4FB"/>
          </a:solidFill>
          <a:ln w="12700">
            <a:solidFill>
              <a:srgbClr val="CFD8DC"/>
            </a:solidFill>
            <a:prstDash val="solid"/>
          </a:ln>
        </p:spPr>
      </p:sp>
      <p:sp>
        <p:nvSpPr>
          <p:cNvPr id="53" name="Shape 51"/>
          <p:cNvSpPr/>
          <p:nvPr/>
        </p:nvSpPr>
        <p:spPr>
          <a:xfrm>
            <a:off x="4572000" y="3979305"/>
            <a:ext cx="4069080" cy="160020"/>
          </a:xfrm>
          <a:prstGeom prst="rect">
            <a:avLst/>
          </a:prstGeom>
          <a:solidFill>
            <a:srgbClr val="EAF4FB"/>
          </a:solidFill>
          <a:ln w="12700">
            <a:solidFill>
              <a:srgbClr val="CFD8DC"/>
            </a:solidFill>
            <a:prstDash val="solid"/>
          </a:ln>
        </p:spPr>
      </p:sp>
      <p:sp>
        <p:nvSpPr>
          <p:cNvPr id="54" name="Text 52"/>
          <p:cNvSpPr/>
          <p:nvPr/>
        </p:nvSpPr>
        <p:spPr>
          <a:xfrm>
            <a:off x="457200" y="399759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payment_method</a:t>
            </a:r>
            <a:endParaRPr lang="en-US" sz="900" dirty="0"/>
          </a:p>
        </p:txBody>
      </p:sp>
      <p:sp>
        <p:nvSpPr>
          <p:cNvPr id="55" name="Text 53"/>
          <p:cNvSpPr/>
          <p:nvPr/>
        </p:nvSpPr>
        <p:spPr>
          <a:xfrm>
            <a:off x="4663440" y="3997593"/>
            <a:ext cx="3840480" cy="128016"/>
          </a:xfrm>
          <a:prstGeom prst="rect">
            <a:avLst/>
          </a:prstGeom>
          <a:noFill/>
          <a:ln/>
        </p:spPr>
        <p:txBody>
          <a:bodyPr wrap="square" lIns="0" tIns="0" rIns="0" bIns="0" rtlCol="0" anchor="ctr"/>
          <a:lstStyle/>
          <a:p>
            <a:pPr marL="0" indent="0">
              <a:buNone/>
            </a:pPr>
            <a:r>
              <a:rPr lang="en-US" sz="900" dirty="0">
                <a:solidFill>
                  <a:srgbClr val="1C2833"/>
                </a:solidFill>
              </a:rPr>
              <a:t>5 methods: Credit Card, PayPal, etc.</a:t>
            </a:r>
            <a:endParaRPr lang="en-US" sz="900" dirty="0"/>
          </a:p>
        </p:txBody>
      </p:sp>
      <p:sp>
        <p:nvSpPr>
          <p:cNvPr id="56" name="Shape 54"/>
          <p:cNvSpPr/>
          <p:nvPr/>
        </p:nvSpPr>
        <p:spPr>
          <a:xfrm>
            <a:off x="365760" y="4139325"/>
            <a:ext cx="4069080" cy="160020"/>
          </a:xfrm>
          <a:prstGeom prst="rect">
            <a:avLst/>
          </a:prstGeom>
          <a:solidFill>
            <a:srgbClr val="FFFFFF"/>
          </a:solidFill>
          <a:ln w="12700">
            <a:solidFill>
              <a:srgbClr val="CFD8DC"/>
            </a:solidFill>
            <a:prstDash val="solid"/>
          </a:ln>
        </p:spPr>
      </p:sp>
      <p:sp>
        <p:nvSpPr>
          <p:cNvPr id="57" name="Shape 55"/>
          <p:cNvSpPr/>
          <p:nvPr/>
        </p:nvSpPr>
        <p:spPr>
          <a:xfrm>
            <a:off x="4572000" y="4139325"/>
            <a:ext cx="4069080" cy="160020"/>
          </a:xfrm>
          <a:prstGeom prst="rect">
            <a:avLst/>
          </a:prstGeom>
          <a:solidFill>
            <a:srgbClr val="FFFFFF"/>
          </a:solidFill>
          <a:ln w="12700">
            <a:solidFill>
              <a:srgbClr val="CFD8DC"/>
            </a:solidFill>
            <a:prstDash val="solid"/>
          </a:ln>
        </p:spPr>
      </p:sp>
      <p:sp>
        <p:nvSpPr>
          <p:cNvPr id="58" name="Text 56"/>
          <p:cNvSpPr/>
          <p:nvPr/>
        </p:nvSpPr>
        <p:spPr>
          <a:xfrm>
            <a:off x="457200" y="415761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shipping_cost</a:t>
            </a:r>
            <a:endParaRPr lang="en-US" sz="900" dirty="0"/>
          </a:p>
        </p:txBody>
      </p:sp>
      <p:sp>
        <p:nvSpPr>
          <p:cNvPr id="59" name="Text 57"/>
          <p:cNvSpPr/>
          <p:nvPr/>
        </p:nvSpPr>
        <p:spPr>
          <a:xfrm>
            <a:off x="4663440" y="4157613"/>
            <a:ext cx="3840480" cy="128016"/>
          </a:xfrm>
          <a:prstGeom prst="rect">
            <a:avLst/>
          </a:prstGeom>
          <a:noFill/>
          <a:ln/>
        </p:spPr>
        <p:txBody>
          <a:bodyPr wrap="square" lIns="0" tIns="0" rIns="0" bIns="0" rtlCol="0" anchor="ctr"/>
          <a:lstStyle/>
          <a:p>
            <a:pPr marL="0" indent="0">
              <a:buNone/>
            </a:pPr>
            <a:r>
              <a:rPr lang="en-US" sz="900" dirty="0">
                <a:solidFill>
                  <a:srgbClr val="1C2833"/>
                </a:solidFill>
              </a:rPr>
              <a:t>Delivery charge per order (₹2 – ₹25)</a:t>
            </a:r>
            <a:endParaRPr lang="en-US" sz="900" dirty="0"/>
          </a:p>
        </p:txBody>
      </p:sp>
      <p:sp>
        <p:nvSpPr>
          <p:cNvPr id="60" name="Shape 58"/>
          <p:cNvSpPr/>
          <p:nvPr/>
        </p:nvSpPr>
        <p:spPr>
          <a:xfrm>
            <a:off x="365760" y="4299345"/>
            <a:ext cx="4069080" cy="160020"/>
          </a:xfrm>
          <a:prstGeom prst="rect">
            <a:avLst/>
          </a:prstGeom>
          <a:solidFill>
            <a:srgbClr val="EAF4FB"/>
          </a:solidFill>
          <a:ln w="12700">
            <a:solidFill>
              <a:srgbClr val="CFD8DC"/>
            </a:solidFill>
            <a:prstDash val="solid"/>
          </a:ln>
        </p:spPr>
      </p:sp>
      <p:sp>
        <p:nvSpPr>
          <p:cNvPr id="61" name="Shape 59"/>
          <p:cNvSpPr/>
          <p:nvPr/>
        </p:nvSpPr>
        <p:spPr>
          <a:xfrm>
            <a:off x="4572000" y="4299345"/>
            <a:ext cx="4069080" cy="160020"/>
          </a:xfrm>
          <a:prstGeom prst="rect">
            <a:avLst/>
          </a:prstGeom>
          <a:solidFill>
            <a:srgbClr val="EAF4FB"/>
          </a:solidFill>
          <a:ln w="12700">
            <a:solidFill>
              <a:srgbClr val="CFD8DC"/>
            </a:solidFill>
            <a:prstDash val="solid"/>
          </a:ln>
        </p:spPr>
      </p:sp>
      <p:sp>
        <p:nvSpPr>
          <p:cNvPr id="62" name="Text 60"/>
          <p:cNvSpPr/>
          <p:nvPr/>
        </p:nvSpPr>
        <p:spPr>
          <a:xfrm>
            <a:off x="457200" y="431763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rating</a:t>
            </a:r>
            <a:endParaRPr lang="en-US" sz="900" dirty="0"/>
          </a:p>
        </p:txBody>
      </p:sp>
      <p:sp>
        <p:nvSpPr>
          <p:cNvPr id="63" name="Text 61"/>
          <p:cNvSpPr/>
          <p:nvPr/>
        </p:nvSpPr>
        <p:spPr>
          <a:xfrm>
            <a:off x="4663440" y="4317633"/>
            <a:ext cx="3840480" cy="128016"/>
          </a:xfrm>
          <a:prstGeom prst="rect">
            <a:avLst/>
          </a:prstGeom>
          <a:noFill/>
          <a:ln/>
        </p:spPr>
        <p:txBody>
          <a:bodyPr wrap="square" lIns="0" tIns="0" rIns="0" bIns="0" rtlCol="0" anchor="ctr"/>
          <a:lstStyle/>
          <a:p>
            <a:pPr marL="0" indent="0">
              <a:buNone/>
            </a:pPr>
            <a:r>
              <a:rPr lang="en-US" sz="900" dirty="0">
                <a:solidFill>
                  <a:srgbClr val="1C2833"/>
                </a:solidFill>
              </a:rPr>
              <a:t>Customer satisfaction score (1.0 – 5.0)</a:t>
            </a:r>
            <a:endParaRPr lang="en-US" sz="900" dirty="0"/>
          </a:p>
        </p:txBody>
      </p:sp>
      <p:sp>
        <p:nvSpPr>
          <p:cNvPr id="64" name="Shape 62"/>
          <p:cNvSpPr/>
          <p:nvPr/>
        </p:nvSpPr>
        <p:spPr>
          <a:xfrm>
            <a:off x="365760" y="4459365"/>
            <a:ext cx="4069080" cy="160020"/>
          </a:xfrm>
          <a:prstGeom prst="rect">
            <a:avLst/>
          </a:prstGeom>
          <a:solidFill>
            <a:srgbClr val="FFFFFF"/>
          </a:solidFill>
          <a:ln w="12700">
            <a:solidFill>
              <a:srgbClr val="CFD8DC"/>
            </a:solidFill>
            <a:prstDash val="solid"/>
          </a:ln>
        </p:spPr>
      </p:sp>
      <p:sp>
        <p:nvSpPr>
          <p:cNvPr id="65" name="Shape 63"/>
          <p:cNvSpPr/>
          <p:nvPr/>
        </p:nvSpPr>
        <p:spPr>
          <a:xfrm>
            <a:off x="4572000" y="4459365"/>
            <a:ext cx="4069080" cy="160020"/>
          </a:xfrm>
          <a:prstGeom prst="rect">
            <a:avLst/>
          </a:prstGeom>
          <a:solidFill>
            <a:srgbClr val="FFFFFF"/>
          </a:solidFill>
          <a:ln w="12700">
            <a:solidFill>
              <a:srgbClr val="CFD8DC"/>
            </a:solidFill>
            <a:prstDash val="solid"/>
          </a:ln>
        </p:spPr>
      </p:sp>
      <p:sp>
        <p:nvSpPr>
          <p:cNvPr id="66" name="Text 64"/>
          <p:cNvSpPr/>
          <p:nvPr/>
        </p:nvSpPr>
        <p:spPr>
          <a:xfrm>
            <a:off x="457200" y="447765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is_returned</a:t>
            </a:r>
            <a:endParaRPr lang="en-US" sz="900" dirty="0"/>
          </a:p>
        </p:txBody>
      </p:sp>
      <p:sp>
        <p:nvSpPr>
          <p:cNvPr id="67" name="Text 65"/>
          <p:cNvSpPr/>
          <p:nvPr/>
        </p:nvSpPr>
        <p:spPr>
          <a:xfrm>
            <a:off x="4663440" y="4477653"/>
            <a:ext cx="3840480" cy="128016"/>
          </a:xfrm>
          <a:prstGeom prst="rect">
            <a:avLst/>
          </a:prstGeom>
          <a:noFill/>
          <a:ln/>
        </p:spPr>
        <p:txBody>
          <a:bodyPr wrap="square" lIns="0" tIns="0" rIns="0" bIns="0" rtlCol="0" anchor="ctr"/>
          <a:lstStyle/>
          <a:p>
            <a:pPr marL="0" indent="0">
              <a:buNone/>
            </a:pPr>
            <a:r>
              <a:rPr lang="en-US" sz="900" dirty="0">
                <a:solidFill>
                  <a:srgbClr val="1C2833"/>
                </a:solidFill>
              </a:rPr>
              <a:t>Binary flag — 1 = Returned, 0 = Kept</a:t>
            </a:r>
            <a:endParaRPr lang="en-US" sz="900" dirty="0"/>
          </a:p>
        </p:txBody>
      </p:sp>
      <p:sp>
        <p:nvSpPr>
          <p:cNvPr id="68" name="Shape 66"/>
          <p:cNvSpPr/>
          <p:nvPr/>
        </p:nvSpPr>
        <p:spPr>
          <a:xfrm>
            <a:off x="365760" y="4619385"/>
            <a:ext cx="4069080" cy="160020"/>
          </a:xfrm>
          <a:prstGeom prst="rect">
            <a:avLst/>
          </a:prstGeom>
          <a:solidFill>
            <a:srgbClr val="EAF4FB"/>
          </a:solidFill>
          <a:ln w="12700">
            <a:solidFill>
              <a:srgbClr val="CFD8DC"/>
            </a:solidFill>
            <a:prstDash val="solid"/>
          </a:ln>
        </p:spPr>
      </p:sp>
      <p:sp>
        <p:nvSpPr>
          <p:cNvPr id="69" name="Shape 67"/>
          <p:cNvSpPr/>
          <p:nvPr/>
        </p:nvSpPr>
        <p:spPr>
          <a:xfrm>
            <a:off x="4572000" y="4619385"/>
            <a:ext cx="4069080" cy="160020"/>
          </a:xfrm>
          <a:prstGeom prst="rect">
            <a:avLst/>
          </a:prstGeom>
          <a:solidFill>
            <a:srgbClr val="EAF4FB"/>
          </a:solidFill>
          <a:ln w="12700">
            <a:solidFill>
              <a:srgbClr val="CFD8DC"/>
            </a:solidFill>
            <a:prstDash val="solid"/>
          </a:ln>
        </p:spPr>
      </p:sp>
      <p:sp>
        <p:nvSpPr>
          <p:cNvPr id="70" name="Text 68"/>
          <p:cNvSpPr/>
          <p:nvPr/>
        </p:nvSpPr>
        <p:spPr>
          <a:xfrm>
            <a:off x="457200" y="463767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discounted_price</a:t>
            </a:r>
            <a:endParaRPr lang="en-US" sz="900" dirty="0"/>
          </a:p>
        </p:txBody>
      </p:sp>
      <p:sp>
        <p:nvSpPr>
          <p:cNvPr id="71" name="Text 69"/>
          <p:cNvSpPr/>
          <p:nvPr/>
        </p:nvSpPr>
        <p:spPr>
          <a:xfrm>
            <a:off x="4663440" y="4637673"/>
            <a:ext cx="3840480" cy="128016"/>
          </a:xfrm>
          <a:prstGeom prst="rect">
            <a:avLst/>
          </a:prstGeom>
          <a:noFill/>
          <a:ln/>
        </p:spPr>
        <p:txBody>
          <a:bodyPr wrap="square" lIns="0" tIns="0" rIns="0" bIns="0" rtlCol="0" anchor="ctr"/>
          <a:lstStyle/>
          <a:p>
            <a:pPr marL="0" indent="0">
              <a:buNone/>
            </a:pPr>
            <a:r>
              <a:rPr lang="en-US" sz="900" dirty="0">
                <a:solidFill>
                  <a:srgbClr val="1C2833"/>
                </a:solidFill>
              </a:rPr>
              <a:t>Price after discount applied</a:t>
            </a:r>
            <a:endParaRPr lang="en-US" sz="900" dirty="0"/>
          </a:p>
        </p:txBody>
      </p:sp>
      <p:sp>
        <p:nvSpPr>
          <p:cNvPr id="72" name="Shape 70"/>
          <p:cNvSpPr/>
          <p:nvPr/>
        </p:nvSpPr>
        <p:spPr>
          <a:xfrm>
            <a:off x="365760" y="4779405"/>
            <a:ext cx="4069080" cy="160020"/>
          </a:xfrm>
          <a:prstGeom prst="rect">
            <a:avLst/>
          </a:prstGeom>
          <a:solidFill>
            <a:srgbClr val="FFFFFF"/>
          </a:solidFill>
          <a:ln w="12700">
            <a:solidFill>
              <a:srgbClr val="CFD8DC"/>
            </a:solidFill>
            <a:prstDash val="solid"/>
          </a:ln>
        </p:spPr>
      </p:sp>
      <p:sp>
        <p:nvSpPr>
          <p:cNvPr id="73" name="Shape 71"/>
          <p:cNvSpPr/>
          <p:nvPr/>
        </p:nvSpPr>
        <p:spPr>
          <a:xfrm>
            <a:off x="4572000" y="4779405"/>
            <a:ext cx="4069080" cy="160020"/>
          </a:xfrm>
          <a:prstGeom prst="rect">
            <a:avLst/>
          </a:prstGeom>
          <a:solidFill>
            <a:srgbClr val="FFFFFF"/>
          </a:solidFill>
          <a:ln w="12700">
            <a:solidFill>
              <a:srgbClr val="CFD8DC"/>
            </a:solidFill>
            <a:prstDash val="solid"/>
          </a:ln>
        </p:spPr>
      </p:sp>
      <p:sp>
        <p:nvSpPr>
          <p:cNvPr id="74" name="Text 72"/>
          <p:cNvSpPr/>
          <p:nvPr/>
        </p:nvSpPr>
        <p:spPr>
          <a:xfrm>
            <a:off x="457200" y="479769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revenue</a:t>
            </a:r>
            <a:endParaRPr lang="en-US" sz="900" dirty="0"/>
          </a:p>
        </p:txBody>
      </p:sp>
      <p:sp>
        <p:nvSpPr>
          <p:cNvPr id="75" name="Text 73"/>
          <p:cNvSpPr/>
          <p:nvPr/>
        </p:nvSpPr>
        <p:spPr>
          <a:xfrm>
            <a:off x="4663440" y="4797693"/>
            <a:ext cx="3840480" cy="128016"/>
          </a:xfrm>
          <a:prstGeom prst="rect">
            <a:avLst/>
          </a:prstGeom>
          <a:noFill/>
          <a:ln/>
        </p:spPr>
        <p:txBody>
          <a:bodyPr wrap="square" lIns="0" tIns="0" rIns="0" bIns="0" rtlCol="0" anchor="ctr"/>
          <a:lstStyle/>
          <a:p>
            <a:pPr marL="0" indent="0">
              <a:buNone/>
            </a:pPr>
            <a:r>
              <a:rPr lang="en-US" sz="900" dirty="0">
                <a:solidFill>
                  <a:srgbClr val="1C2833"/>
                </a:solidFill>
              </a:rPr>
              <a:t>Total revenue = discounted_price × quantity</a:t>
            </a:r>
            <a:endParaRPr lang="en-US" sz="900" dirty="0"/>
          </a:p>
        </p:txBody>
      </p:sp>
      <p:sp>
        <p:nvSpPr>
          <p:cNvPr id="76" name="Shape 74"/>
          <p:cNvSpPr/>
          <p:nvPr/>
        </p:nvSpPr>
        <p:spPr>
          <a:xfrm>
            <a:off x="365760" y="4939425"/>
            <a:ext cx="4069080" cy="160020"/>
          </a:xfrm>
          <a:prstGeom prst="rect">
            <a:avLst/>
          </a:prstGeom>
          <a:solidFill>
            <a:srgbClr val="EAF4FB"/>
          </a:solidFill>
          <a:ln w="12700">
            <a:solidFill>
              <a:srgbClr val="CFD8DC"/>
            </a:solidFill>
            <a:prstDash val="solid"/>
          </a:ln>
        </p:spPr>
      </p:sp>
      <p:sp>
        <p:nvSpPr>
          <p:cNvPr id="77" name="Shape 75"/>
          <p:cNvSpPr/>
          <p:nvPr/>
        </p:nvSpPr>
        <p:spPr>
          <a:xfrm>
            <a:off x="4572000" y="4939425"/>
            <a:ext cx="4069080" cy="160020"/>
          </a:xfrm>
          <a:prstGeom prst="rect">
            <a:avLst/>
          </a:prstGeom>
          <a:solidFill>
            <a:srgbClr val="EAF4FB"/>
          </a:solidFill>
          <a:ln w="12700">
            <a:solidFill>
              <a:srgbClr val="CFD8DC"/>
            </a:solidFill>
            <a:prstDash val="solid"/>
          </a:ln>
        </p:spPr>
      </p:sp>
      <p:sp>
        <p:nvSpPr>
          <p:cNvPr id="78" name="Text 76"/>
          <p:cNvSpPr/>
          <p:nvPr/>
        </p:nvSpPr>
        <p:spPr>
          <a:xfrm>
            <a:off x="457200" y="4957713"/>
            <a:ext cx="3931920" cy="128016"/>
          </a:xfrm>
          <a:prstGeom prst="rect">
            <a:avLst/>
          </a:prstGeom>
          <a:noFill/>
          <a:ln/>
        </p:spPr>
        <p:txBody>
          <a:bodyPr wrap="square" lIns="0" tIns="0" rIns="0" bIns="0" rtlCol="0" anchor="ctr"/>
          <a:lstStyle/>
          <a:p>
            <a:pPr marL="0" indent="0">
              <a:buNone/>
            </a:pPr>
            <a:r>
              <a:rPr lang="en-US" sz="900" b="1" dirty="0">
                <a:solidFill>
                  <a:srgbClr val="00897B"/>
                </a:solidFill>
              </a:rPr>
              <a:t>profit</a:t>
            </a:r>
            <a:endParaRPr lang="en-US" sz="900" dirty="0"/>
          </a:p>
        </p:txBody>
      </p:sp>
      <p:sp>
        <p:nvSpPr>
          <p:cNvPr id="79" name="Text 77"/>
          <p:cNvSpPr/>
          <p:nvPr/>
        </p:nvSpPr>
        <p:spPr>
          <a:xfrm>
            <a:off x="4663440" y="4957713"/>
            <a:ext cx="3840480" cy="128016"/>
          </a:xfrm>
          <a:prstGeom prst="rect">
            <a:avLst/>
          </a:prstGeom>
          <a:noFill/>
          <a:ln/>
        </p:spPr>
        <p:txBody>
          <a:bodyPr wrap="square" lIns="0" tIns="0" rIns="0" bIns="0" rtlCol="0" anchor="ctr"/>
          <a:lstStyle/>
          <a:p>
            <a:pPr marL="0" indent="0">
              <a:buNone/>
            </a:pPr>
            <a:r>
              <a:rPr lang="en-US" sz="900" dirty="0">
                <a:solidFill>
                  <a:srgbClr val="1C2833"/>
                </a:solidFill>
              </a:rPr>
              <a:t>Revenue minus shipping and cost basis</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48769"/>
            <a:ext cx="8229600" cy="594360"/>
          </a:xfrm>
          <a:prstGeom prst="rect">
            <a:avLst/>
          </a:prstGeom>
          <a:noFill/>
          <a:ln/>
        </p:spPr>
        <p:txBody>
          <a:bodyPr wrap="square" lIns="0" tIns="0" rIns="0" bIns="0" rtlCol="0" anchor="ctr"/>
          <a:lstStyle/>
          <a:p>
            <a:pPr marL="0" indent="0">
              <a:buNone/>
            </a:pPr>
            <a:r>
              <a:rPr lang="en-US" sz="2800" b="1" dirty="0">
                <a:solidFill>
                  <a:srgbClr val="FFFFFF"/>
                </a:solidFill>
              </a:rPr>
              <a:t>Dataset At a Glance</a:t>
            </a:r>
            <a:endParaRPr lang="en-US" sz="2800" dirty="0"/>
          </a:p>
        </p:txBody>
      </p:sp>
      <p:sp>
        <p:nvSpPr>
          <p:cNvPr id="3" name="Text 1"/>
          <p:cNvSpPr/>
          <p:nvPr/>
        </p:nvSpPr>
        <p:spPr>
          <a:xfrm>
            <a:off x="457200" y="624841"/>
            <a:ext cx="8229600" cy="301752"/>
          </a:xfrm>
          <a:prstGeom prst="rect">
            <a:avLst/>
          </a:prstGeom>
          <a:noFill/>
          <a:ln/>
        </p:spPr>
        <p:txBody>
          <a:bodyPr wrap="square" lIns="0" tIns="0" rIns="0" bIns="0" rtlCol="0" anchor="ctr"/>
          <a:lstStyle/>
          <a:p>
            <a:pPr marL="0" indent="0">
              <a:buNone/>
            </a:pPr>
            <a:r>
              <a:rPr lang="en-US" sz="1300" dirty="0">
                <a:solidFill>
                  <a:srgbClr val="26A69A"/>
                </a:solidFill>
              </a:rPr>
              <a:t>Key statistics derived from 60,000 orders</a:t>
            </a:r>
            <a:endParaRPr lang="en-US" sz="1300" dirty="0"/>
          </a:p>
        </p:txBody>
      </p:sp>
      <p:sp>
        <p:nvSpPr>
          <p:cNvPr id="4" name="Shape 2"/>
          <p:cNvSpPr/>
          <p:nvPr/>
        </p:nvSpPr>
        <p:spPr>
          <a:xfrm>
            <a:off x="274320" y="1018033"/>
            <a:ext cx="2011680" cy="1261872"/>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5" name="Shape 3"/>
          <p:cNvSpPr/>
          <p:nvPr/>
        </p:nvSpPr>
        <p:spPr>
          <a:xfrm>
            <a:off x="274320" y="1018033"/>
            <a:ext cx="2011680" cy="54864"/>
          </a:xfrm>
          <a:prstGeom prst="rect">
            <a:avLst/>
          </a:prstGeom>
          <a:solidFill>
            <a:srgbClr val="00897B"/>
          </a:solidFill>
          <a:ln w="12700">
            <a:solidFill>
              <a:srgbClr val="00897B"/>
            </a:solidFill>
            <a:prstDash val="solid"/>
          </a:ln>
        </p:spPr>
      </p:sp>
      <p:sp>
        <p:nvSpPr>
          <p:cNvPr id="6" name="Text 4"/>
          <p:cNvSpPr/>
          <p:nvPr/>
        </p:nvSpPr>
        <p:spPr>
          <a:xfrm>
            <a:off x="274320" y="1155193"/>
            <a:ext cx="2011680" cy="594360"/>
          </a:xfrm>
          <a:prstGeom prst="rect">
            <a:avLst/>
          </a:prstGeom>
          <a:noFill/>
          <a:ln/>
        </p:spPr>
        <p:txBody>
          <a:bodyPr wrap="square" lIns="0" tIns="0" rIns="0" bIns="0" rtlCol="0" anchor="ctr"/>
          <a:lstStyle/>
          <a:p>
            <a:pPr marL="0" indent="0" algn="ctr">
              <a:buNone/>
            </a:pPr>
            <a:r>
              <a:rPr lang="en-US" sz="2400" b="1" dirty="0">
                <a:solidFill>
                  <a:srgbClr val="00897B"/>
                </a:solidFill>
              </a:rPr>
              <a:t>60,000</a:t>
            </a:r>
            <a:endParaRPr lang="en-US" sz="2400" dirty="0"/>
          </a:p>
        </p:txBody>
      </p:sp>
      <p:sp>
        <p:nvSpPr>
          <p:cNvPr id="7" name="Text 5"/>
          <p:cNvSpPr/>
          <p:nvPr/>
        </p:nvSpPr>
        <p:spPr>
          <a:xfrm>
            <a:off x="274320" y="179527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Total Orders</a:t>
            </a:r>
            <a:endParaRPr lang="en-US" sz="1000" dirty="0"/>
          </a:p>
        </p:txBody>
      </p:sp>
      <p:sp>
        <p:nvSpPr>
          <p:cNvPr id="8" name="Shape 6"/>
          <p:cNvSpPr/>
          <p:nvPr/>
        </p:nvSpPr>
        <p:spPr>
          <a:xfrm>
            <a:off x="2450592" y="1018033"/>
            <a:ext cx="2011680" cy="1261872"/>
          </a:xfrm>
          <a:prstGeom prst="rect">
            <a:avLst/>
          </a:prstGeom>
          <a:solidFill>
            <a:srgbClr val="1B2A3B"/>
          </a:solidFill>
          <a:ln w="12700">
            <a:solidFill>
              <a:srgbClr val="F9A825"/>
            </a:solidFill>
            <a:prstDash val="solid"/>
          </a:ln>
          <a:effectLst>
            <a:outerShdw blurRad="88900" dist="38100" dir="8100000" algn="bl" rotWithShape="0">
              <a:srgbClr val="000000">
                <a:alpha val="13000"/>
              </a:srgbClr>
            </a:outerShdw>
          </a:effectLst>
        </p:spPr>
      </p:sp>
      <p:sp>
        <p:nvSpPr>
          <p:cNvPr id="9" name="Shape 7"/>
          <p:cNvSpPr/>
          <p:nvPr/>
        </p:nvSpPr>
        <p:spPr>
          <a:xfrm>
            <a:off x="2450592" y="1018033"/>
            <a:ext cx="2011680" cy="54864"/>
          </a:xfrm>
          <a:prstGeom prst="rect">
            <a:avLst/>
          </a:prstGeom>
          <a:solidFill>
            <a:srgbClr val="F9A825"/>
          </a:solidFill>
          <a:ln w="12700">
            <a:solidFill>
              <a:srgbClr val="F9A825"/>
            </a:solidFill>
            <a:prstDash val="solid"/>
          </a:ln>
        </p:spPr>
      </p:sp>
      <p:sp>
        <p:nvSpPr>
          <p:cNvPr id="10" name="Text 8"/>
          <p:cNvSpPr/>
          <p:nvPr/>
        </p:nvSpPr>
        <p:spPr>
          <a:xfrm>
            <a:off x="2450592" y="1155193"/>
            <a:ext cx="2011680" cy="594360"/>
          </a:xfrm>
          <a:prstGeom prst="rect">
            <a:avLst/>
          </a:prstGeom>
          <a:noFill/>
          <a:ln/>
        </p:spPr>
        <p:txBody>
          <a:bodyPr wrap="square" lIns="0" tIns="0" rIns="0" bIns="0" rtlCol="0" anchor="ctr"/>
          <a:lstStyle/>
          <a:p>
            <a:pPr marL="0" indent="0" algn="ctr">
              <a:buNone/>
            </a:pPr>
            <a:r>
              <a:rPr lang="en-US" sz="2400" b="1" dirty="0">
                <a:solidFill>
                  <a:srgbClr val="F9A825"/>
                </a:solidFill>
              </a:rPr>
              <a:t>₹5.96 Cr</a:t>
            </a:r>
            <a:endParaRPr lang="en-US" sz="2400" dirty="0"/>
          </a:p>
        </p:txBody>
      </p:sp>
      <p:sp>
        <p:nvSpPr>
          <p:cNvPr id="11" name="Text 9"/>
          <p:cNvSpPr/>
          <p:nvPr/>
        </p:nvSpPr>
        <p:spPr>
          <a:xfrm>
            <a:off x="2450592" y="179527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Total Revenue</a:t>
            </a:r>
            <a:endParaRPr lang="en-US" sz="1000" dirty="0"/>
          </a:p>
        </p:txBody>
      </p:sp>
      <p:sp>
        <p:nvSpPr>
          <p:cNvPr id="12" name="Shape 10"/>
          <p:cNvSpPr/>
          <p:nvPr/>
        </p:nvSpPr>
        <p:spPr>
          <a:xfrm>
            <a:off x="4626864" y="1018033"/>
            <a:ext cx="2011680" cy="1261872"/>
          </a:xfrm>
          <a:prstGeom prst="rect">
            <a:avLst/>
          </a:prstGeom>
          <a:solidFill>
            <a:srgbClr val="1B2A3B"/>
          </a:solidFill>
          <a:ln w="12700">
            <a:solidFill>
              <a:srgbClr val="2E7D32"/>
            </a:solidFill>
            <a:prstDash val="solid"/>
          </a:ln>
          <a:effectLst>
            <a:outerShdw blurRad="88900" dist="38100" dir="8100000" algn="bl" rotWithShape="0">
              <a:srgbClr val="000000">
                <a:alpha val="13000"/>
              </a:srgbClr>
            </a:outerShdw>
          </a:effectLst>
        </p:spPr>
      </p:sp>
      <p:sp>
        <p:nvSpPr>
          <p:cNvPr id="13" name="Shape 11"/>
          <p:cNvSpPr/>
          <p:nvPr/>
        </p:nvSpPr>
        <p:spPr>
          <a:xfrm>
            <a:off x="4626864" y="1018033"/>
            <a:ext cx="2011680" cy="54864"/>
          </a:xfrm>
          <a:prstGeom prst="rect">
            <a:avLst/>
          </a:prstGeom>
          <a:solidFill>
            <a:srgbClr val="2E7D32"/>
          </a:solidFill>
          <a:ln w="12700">
            <a:solidFill>
              <a:srgbClr val="2E7D32"/>
            </a:solidFill>
            <a:prstDash val="solid"/>
          </a:ln>
        </p:spPr>
      </p:sp>
      <p:sp>
        <p:nvSpPr>
          <p:cNvPr id="14" name="Text 12"/>
          <p:cNvSpPr/>
          <p:nvPr/>
        </p:nvSpPr>
        <p:spPr>
          <a:xfrm>
            <a:off x="4626864" y="1155193"/>
            <a:ext cx="2011680" cy="594360"/>
          </a:xfrm>
          <a:prstGeom prst="rect">
            <a:avLst/>
          </a:prstGeom>
          <a:noFill/>
          <a:ln/>
        </p:spPr>
        <p:txBody>
          <a:bodyPr wrap="square" lIns="0" tIns="0" rIns="0" bIns="0" rtlCol="0" anchor="ctr"/>
          <a:lstStyle/>
          <a:p>
            <a:pPr marL="0" indent="0" algn="ctr">
              <a:buNone/>
            </a:pPr>
            <a:r>
              <a:rPr lang="en-US" sz="2400" b="1" dirty="0">
                <a:solidFill>
                  <a:srgbClr val="2E7D32"/>
                </a:solidFill>
              </a:rPr>
              <a:t>₹5.88 Cr</a:t>
            </a:r>
            <a:endParaRPr lang="en-US" sz="2400" dirty="0"/>
          </a:p>
        </p:txBody>
      </p:sp>
      <p:sp>
        <p:nvSpPr>
          <p:cNvPr id="15" name="Text 13"/>
          <p:cNvSpPr/>
          <p:nvPr/>
        </p:nvSpPr>
        <p:spPr>
          <a:xfrm>
            <a:off x="4626864" y="179527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Total Profit</a:t>
            </a:r>
            <a:endParaRPr lang="en-US" sz="1000" dirty="0"/>
          </a:p>
        </p:txBody>
      </p:sp>
      <p:sp>
        <p:nvSpPr>
          <p:cNvPr id="16" name="Shape 14"/>
          <p:cNvSpPr/>
          <p:nvPr/>
        </p:nvSpPr>
        <p:spPr>
          <a:xfrm>
            <a:off x="6803136" y="1018033"/>
            <a:ext cx="2011680" cy="1261872"/>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17" name="Shape 15"/>
          <p:cNvSpPr/>
          <p:nvPr/>
        </p:nvSpPr>
        <p:spPr>
          <a:xfrm>
            <a:off x="6803136" y="1018033"/>
            <a:ext cx="2011680" cy="54864"/>
          </a:xfrm>
          <a:prstGeom prst="rect">
            <a:avLst/>
          </a:prstGeom>
          <a:solidFill>
            <a:srgbClr val="00897B"/>
          </a:solidFill>
          <a:ln w="12700">
            <a:solidFill>
              <a:srgbClr val="00897B"/>
            </a:solidFill>
            <a:prstDash val="solid"/>
          </a:ln>
        </p:spPr>
      </p:sp>
      <p:sp>
        <p:nvSpPr>
          <p:cNvPr id="18" name="Text 16"/>
          <p:cNvSpPr/>
          <p:nvPr/>
        </p:nvSpPr>
        <p:spPr>
          <a:xfrm>
            <a:off x="6803136" y="1155193"/>
            <a:ext cx="2011680" cy="594360"/>
          </a:xfrm>
          <a:prstGeom prst="rect">
            <a:avLst/>
          </a:prstGeom>
          <a:noFill/>
          <a:ln/>
        </p:spPr>
        <p:txBody>
          <a:bodyPr wrap="square" lIns="0" tIns="0" rIns="0" bIns="0" rtlCol="0" anchor="ctr"/>
          <a:lstStyle/>
          <a:p>
            <a:pPr marL="0" indent="0" algn="ctr">
              <a:buNone/>
            </a:pPr>
            <a:r>
              <a:rPr lang="en-US" sz="2400" b="1" dirty="0">
                <a:solidFill>
                  <a:srgbClr val="00897B"/>
                </a:solidFill>
              </a:rPr>
              <a:t>₹994</a:t>
            </a:r>
            <a:endParaRPr lang="en-US" sz="2400" dirty="0"/>
          </a:p>
        </p:txBody>
      </p:sp>
      <p:sp>
        <p:nvSpPr>
          <p:cNvPr id="19" name="Text 17"/>
          <p:cNvSpPr/>
          <p:nvPr/>
        </p:nvSpPr>
        <p:spPr>
          <a:xfrm>
            <a:off x="6803136" y="179527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Avg Order Value</a:t>
            </a:r>
            <a:endParaRPr lang="en-US" sz="1000" dirty="0"/>
          </a:p>
        </p:txBody>
      </p:sp>
      <p:sp>
        <p:nvSpPr>
          <p:cNvPr id="20" name="Shape 18"/>
          <p:cNvSpPr/>
          <p:nvPr/>
        </p:nvSpPr>
        <p:spPr>
          <a:xfrm>
            <a:off x="274320" y="2435353"/>
            <a:ext cx="2011680" cy="1261872"/>
          </a:xfrm>
          <a:prstGeom prst="rect">
            <a:avLst/>
          </a:prstGeom>
          <a:solidFill>
            <a:srgbClr val="1B2A3B"/>
          </a:solidFill>
          <a:ln w="12700">
            <a:solidFill>
              <a:srgbClr val="FFB300"/>
            </a:solidFill>
            <a:prstDash val="solid"/>
          </a:ln>
          <a:effectLst>
            <a:outerShdw blurRad="88900" dist="38100" dir="8100000" algn="bl" rotWithShape="0">
              <a:srgbClr val="000000">
                <a:alpha val="13000"/>
              </a:srgbClr>
            </a:outerShdw>
          </a:effectLst>
        </p:spPr>
      </p:sp>
      <p:sp>
        <p:nvSpPr>
          <p:cNvPr id="21" name="Shape 19"/>
          <p:cNvSpPr/>
          <p:nvPr/>
        </p:nvSpPr>
        <p:spPr>
          <a:xfrm>
            <a:off x="274320" y="2435353"/>
            <a:ext cx="2011680" cy="54864"/>
          </a:xfrm>
          <a:prstGeom prst="rect">
            <a:avLst/>
          </a:prstGeom>
          <a:solidFill>
            <a:srgbClr val="FFB300"/>
          </a:solidFill>
          <a:ln w="12700">
            <a:solidFill>
              <a:srgbClr val="FFB300"/>
            </a:solidFill>
            <a:prstDash val="solid"/>
          </a:ln>
        </p:spPr>
      </p:sp>
      <p:sp>
        <p:nvSpPr>
          <p:cNvPr id="22" name="Text 20"/>
          <p:cNvSpPr/>
          <p:nvPr/>
        </p:nvSpPr>
        <p:spPr>
          <a:xfrm>
            <a:off x="274320" y="2572513"/>
            <a:ext cx="2011680" cy="594360"/>
          </a:xfrm>
          <a:prstGeom prst="rect">
            <a:avLst/>
          </a:prstGeom>
          <a:noFill/>
          <a:ln/>
        </p:spPr>
        <p:txBody>
          <a:bodyPr wrap="square" lIns="0" tIns="0" rIns="0" bIns="0" rtlCol="0" anchor="ctr"/>
          <a:lstStyle/>
          <a:p>
            <a:pPr marL="0" indent="0" algn="ctr">
              <a:buNone/>
            </a:pPr>
            <a:r>
              <a:rPr lang="en-US" sz="2400" b="1" dirty="0">
                <a:solidFill>
                  <a:srgbClr val="FFB300"/>
                </a:solidFill>
              </a:rPr>
              <a:t>18.15%</a:t>
            </a:r>
            <a:endParaRPr lang="en-US" sz="2400" dirty="0"/>
          </a:p>
        </p:txBody>
      </p:sp>
      <p:sp>
        <p:nvSpPr>
          <p:cNvPr id="23" name="Text 21"/>
          <p:cNvSpPr/>
          <p:nvPr/>
        </p:nvSpPr>
        <p:spPr>
          <a:xfrm>
            <a:off x="274320" y="321259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Avg Discount Given</a:t>
            </a:r>
            <a:endParaRPr lang="en-US" sz="1000" dirty="0"/>
          </a:p>
        </p:txBody>
      </p:sp>
      <p:sp>
        <p:nvSpPr>
          <p:cNvPr id="24" name="Shape 22"/>
          <p:cNvSpPr/>
          <p:nvPr/>
        </p:nvSpPr>
        <p:spPr>
          <a:xfrm>
            <a:off x="2450592" y="2435353"/>
            <a:ext cx="2011680" cy="1261872"/>
          </a:xfrm>
          <a:prstGeom prst="rect">
            <a:avLst/>
          </a:prstGeom>
          <a:solidFill>
            <a:srgbClr val="1B2A3B"/>
          </a:solidFill>
          <a:ln w="12700">
            <a:solidFill>
              <a:srgbClr val="26A69A"/>
            </a:solidFill>
            <a:prstDash val="solid"/>
          </a:ln>
          <a:effectLst>
            <a:outerShdw blurRad="88900" dist="38100" dir="8100000" algn="bl" rotWithShape="0">
              <a:srgbClr val="000000">
                <a:alpha val="13000"/>
              </a:srgbClr>
            </a:outerShdw>
          </a:effectLst>
        </p:spPr>
      </p:sp>
      <p:sp>
        <p:nvSpPr>
          <p:cNvPr id="25" name="Shape 23"/>
          <p:cNvSpPr/>
          <p:nvPr/>
        </p:nvSpPr>
        <p:spPr>
          <a:xfrm>
            <a:off x="2450592" y="2435353"/>
            <a:ext cx="2011680" cy="54864"/>
          </a:xfrm>
          <a:prstGeom prst="rect">
            <a:avLst/>
          </a:prstGeom>
          <a:solidFill>
            <a:srgbClr val="26A69A"/>
          </a:solidFill>
          <a:ln w="12700">
            <a:solidFill>
              <a:srgbClr val="26A69A"/>
            </a:solidFill>
            <a:prstDash val="solid"/>
          </a:ln>
        </p:spPr>
      </p:sp>
      <p:sp>
        <p:nvSpPr>
          <p:cNvPr id="26" name="Text 24"/>
          <p:cNvSpPr/>
          <p:nvPr/>
        </p:nvSpPr>
        <p:spPr>
          <a:xfrm>
            <a:off x="2450592" y="2572513"/>
            <a:ext cx="2011680" cy="594360"/>
          </a:xfrm>
          <a:prstGeom prst="rect">
            <a:avLst/>
          </a:prstGeom>
          <a:noFill/>
          <a:ln/>
        </p:spPr>
        <p:txBody>
          <a:bodyPr wrap="square" lIns="0" tIns="0" rIns="0" bIns="0" rtlCol="0" anchor="ctr"/>
          <a:lstStyle/>
          <a:p>
            <a:pPr marL="0" indent="0" algn="ctr">
              <a:buNone/>
            </a:pPr>
            <a:r>
              <a:rPr lang="en-US" sz="2400" b="1" dirty="0">
                <a:solidFill>
                  <a:srgbClr val="26A69A"/>
                </a:solidFill>
              </a:rPr>
              <a:t>3.0 / 5</a:t>
            </a:r>
            <a:endParaRPr lang="en-US" sz="2400" dirty="0"/>
          </a:p>
        </p:txBody>
      </p:sp>
      <p:sp>
        <p:nvSpPr>
          <p:cNvPr id="27" name="Text 25"/>
          <p:cNvSpPr/>
          <p:nvPr/>
        </p:nvSpPr>
        <p:spPr>
          <a:xfrm>
            <a:off x="2450592" y="321259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Avg Customer Rating</a:t>
            </a:r>
            <a:endParaRPr lang="en-US" sz="1000" dirty="0"/>
          </a:p>
        </p:txBody>
      </p:sp>
      <p:sp>
        <p:nvSpPr>
          <p:cNvPr id="28" name="Shape 26"/>
          <p:cNvSpPr/>
          <p:nvPr/>
        </p:nvSpPr>
        <p:spPr>
          <a:xfrm>
            <a:off x="4626864" y="2435353"/>
            <a:ext cx="2011680" cy="1261872"/>
          </a:xfrm>
          <a:prstGeom prst="rect">
            <a:avLst/>
          </a:prstGeom>
          <a:solidFill>
            <a:srgbClr val="1B2A3B"/>
          </a:solidFill>
          <a:ln w="12700">
            <a:solidFill>
              <a:srgbClr val="E53935"/>
            </a:solidFill>
            <a:prstDash val="solid"/>
          </a:ln>
          <a:effectLst>
            <a:outerShdw blurRad="88900" dist="38100" dir="8100000" algn="bl" rotWithShape="0">
              <a:srgbClr val="000000">
                <a:alpha val="13000"/>
              </a:srgbClr>
            </a:outerShdw>
          </a:effectLst>
        </p:spPr>
      </p:sp>
      <p:sp>
        <p:nvSpPr>
          <p:cNvPr id="29" name="Shape 27"/>
          <p:cNvSpPr/>
          <p:nvPr/>
        </p:nvSpPr>
        <p:spPr>
          <a:xfrm>
            <a:off x="4626864" y="2435353"/>
            <a:ext cx="2011680" cy="54864"/>
          </a:xfrm>
          <a:prstGeom prst="rect">
            <a:avLst/>
          </a:prstGeom>
          <a:solidFill>
            <a:srgbClr val="E53935"/>
          </a:solidFill>
          <a:ln w="12700">
            <a:solidFill>
              <a:srgbClr val="E53935"/>
            </a:solidFill>
            <a:prstDash val="solid"/>
          </a:ln>
        </p:spPr>
      </p:sp>
      <p:sp>
        <p:nvSpPr>
          <p:cNvPr id="30" name="Text 28"/>
          <p:cNvSpPr/>
          <p:nvPr/>
        </p:nvSpPr>
        <p:spPr>
          <a:xfrm>
            <a:off x="4626864" y="2572513"/>
            <a:ext cx="2011680" cy="594360"/>
          </a:xfrm>
          <a:prstGeom prst="rect">
            <a:avLst/>
          </a:prstGeom>
          <a:noFill/>
          <a:ln/>
        </p:spPr>
        <p:txBody>
          <a:bodyPr wrap="square" lIns="0" tIns="0" rIns="0" bIns="0" rtlCol="0" anchor="ctr"/>
          <a:lstStyle/>
          <a:p>
            <a:pPr marL="0" indent="0" algn="ctr">
              <a:buNone/>
            </a:pPr>
            <a:r>
              <a:rPr lang="en-US" sz="2400" b="1" dirty="0">
                <a:solidFill>
                  <a:srgbClr val="E53935"/>
                </a:solidFill>
              </a:rPr>
              <a:t>14.81%</a:t>
            </a:r>
            <a:endParaRPr lang="en-US" sz="2400" dirty="0"/>
          </a:p>
        </p:txBody>
      </p:sp>
      <p:sp>
        <p:nvSpPr>
          <p:cNvPr id="31" name="Text 29"/>
          <p:cNvSpPr/>
          <p:nvPr/>
        </p:nvSpPr>
        <p:spPr>
          <a:xfrm>
            <a:off x="4626864" y="321259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Overall Return Rate</a:t>
            </a:r>
            <a:endParaRPr lang="en-US" sz="1000" dirty="0"/>
          </a:p>
        </p:txBody>
      </p:sp>
      <p:sp>
        <p:nvSpPr>
          <p:cNvPr id="32" name="Shape 30"/>
          <p:cNvSpPr/>
          <p:nvPr/>
        </p:nvSpPr>
        <p:spPr>
          <a:xfrm>
            <a:off x="6803136" y="2435353"/>
            <a:ext cx="2011680" cy="1261872"/>
          </a:xfrm>
          <a:prstGeom prst="rect">
            <a:avLst/>
          </a:prstGeom>
          <a:solidFill>
            <a:srgbClr val="1B2A3B"/>
          </a:solidFill>
          <a:ln w="12700">
            <a:solidFill>
              <a:srgbClr val="E53935"/>
            </a:solidFill>
            <a:prstDash val="solid"/>
          </a:ln>
          <a:effectLst>
            <a:outerShdw blurRad="88900" dist="38100" dir="8100000" algn="bl" rotWithShape="0">
              <a:srgbClr val="000000">
                <a:alpha val="13000"/>
              </a:srgbClr>
            </a:outerShdw>
          </a:effectLst>
        </p:spPr>
      </p:sp>
      <p:sp>
        <p:nvSpPr>
          <p:cNvPr id="33" name="Shape 31"/>
          <p:cNvSpPr/>
          <p:nvPr/>
        </p:nvSpPr>
        <p:spPr>
          <a:xfrm>
            <a:off x="6803136" y="2435353"/>
            <a:ext cx="2011680" cy="54864"/>
          </a:xfrm>
          <a:prstGeom prst="rect">
            <a:avLst/>
          </a:prstGeom>
          <a:solidFill>
            <a:srgbClr val="E53935"/>
          </a:solidFill>
          <a:ln w="12700">
            <a:solidFill>
              <a:srgbClr val="E53935"/>
            </a:solidFill>
            <a:prstDash val="solid"/>
          </a:ln>
        </p:spPr>
      </p:sp>
      <p:sp>
        <p:nvSpPr>
          <p:cNvPr id="34" name="Text 32"/>
          <p:cNvSpPr/>
          <p:nvPr/>
        </p:nvSpPr>
        <p:spPr>
          <a:xfrm>
            <a:off x="6803136" y="2572513"/>
            <a:ext cx="2011680" cy="594360"/>
          </a:xfrm>
          <a:prstGeom prst="rect">
            <a:avLst/>
          </a:prstGeom>
          <a:noFill/>
          <a:ln/>
        </p:spPr>
        <p:txBody>
          <a:bodyPr wrap="square" lIns="0" tIns="0" rIns="0" bIns="0" rtlCol="0" anchor="ctr"/>
          <a:lstStyle/>
          <a:p>
            <a:pPr marL="0" indent="0" algn="ctr">
              <a:buNone/>
            </a:pPr>
            <a:r>
              <a:rPr lang="en-US" sz="2400" b="1" dirty="0">
                <a:solidFill>
                  <a:srgbClr val="E53935"/>
                </a:solidFill>
              </a:rPr>
              <a:t>-₹20.5</a:t>
            </a:r>
            <a:endParaRPr lang="en-US" sz="2400" dirty="0"/>
          </a:p>
        </p:txBody>
      </p:sp>
      <p:sp>
        <p:nvSpPr>
          <p:cNvPr id="35" name="Text 33"/>
          <p:cNvSpPr/>
          <p:nvPr/>
        </p:nvSpPr>
        <p:spPr>
          <a:xfrm>
            <a:off x="6803136" y="321259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Highest Loss Order</a:t>
            </a:r>
            <a:endParaRPr lang="en-US" sz="1000" dirty="0"/>
          </a:p>
        </p:txBody>
      </p:sp>
      <p:sp>
        <p:nvSpPr>
          <p:cNvPr id="36" name="Shape 34"/>
          <p:cNvSpPr/>
          <p:nvPr/>
        </p:nvSpPr>
        <p:spPr>
          <a:xfrm>
            <a:off x="274320" y="3852673"/>
            <a:ext cx="2011680" cy="1261872"/>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37" name="Shape 35"/>
          <p:cNvSpPr/>
          <p:nvPr/>
        </p:nvSpPr>
        <p:spPr>
          <a:xfrm>
            <a:off x="274320" y="3852673"/>
            <a:ext cx="2011680" cy="54864"/>
          </a:xfrm>
          <a:prstGeom prst="rect">
            <a:avLst/>
          </a:prstGeom>
          <a:solidFill>
            <a:srgbClr val="00897B"/>
          </a:solidFill>
          <a:ln w="12700">
            <a:solidFill>
              <a:srgbClr val="00897B"/>
            </a:solidFill>
            <a:prstDash val="solid"/>
          </a:ln>
        </p:spPr>
      </p:sp>
      <p:sp>
        <p:nvSpPr>
          <p:cNvPr id="38" name="Text 36"/>
          <p:cNvSpPr/>
          <p:nvPr/>
        </p:nvSpPr>
        <p:spPr>
          <a:xfrm>
            <a:off x="274320" y="3989833"/>
            <a:ext cx="2011680" cy="594360"/>
          </a:xfrm>
          <a:prstGeom prst="rect">
            <a:avLst/>
          </a:prstGeom>
          <a:noFill/>
          <a:ln/>
        </p:spPr>
        <p:txBody>
          <a:bodyPr wrap="square" lIns="0" tIns="0" rIns="0" bIns="0" rtlCol="0" anchor="ctr"/>
          <a:lstStyle/>
          <a:p>
            <a:pPr marL="0" indent="0" algn="ctr">
              <a:buNone/>
            </a:pPr>
            <a:r>
              <a:rPr lang="en-US" sz="2400" b="1" dirty="0">
                <a:solidFill>
                  <a:srgbClr val="00897B"/>
                </a:solidFill>
              </a:rPr>
              <a:t>7</a:t>
            </a:r>
            <a:endParaRPr lang="en-US" sz="2400" dirty="0"/>
          </a:p>
        </p:txBody>
      </p:sp>
      <p:sp>
        <p:nvSpPr>
          <p:cNvPr id="39" name="Text 37"/>
          <p:cNvSpPr/>
          <p:nvPr/>
        </p:nvSpPr>
        <p:spPr>
          <a:xfrm>
            <a:off x="274320" y="462991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Countries Served</a:t>
            </a:r>
            <a:endParaRPr lang="en-US" sz="1000" dirty="0"/>
          </a:p>
        </p:txBody>
      </p:sp>
      <p:sp>
        <p:nvSpPr>
          <p:cNvPr id="40" name="Shape 38"/>
          <p:cNvSpPr/>
          <p:nvPr/>
        </p:nvSpPr>
        <p:spPr>
          <a:xfrm>
            <a:off x="2450592" y="3852673"/>
            <a:ext cx="2011680" cy="1261872"/>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41" name="Shape 39"/>
          <p:cNvSpPr/>
          <p:nvPr/>
        </p:nvSpPr>
        <p:spPr>
          <a:xfrm>
            <a:off x="2450592" y="3852673"/>
            <a:ext cx="2011680" cy="54864"/>
          </a:xfrm>
          <a:prstGeom prst="rect">
            <a:avLst/>
          </a:prstGeom>
          <a:solidFill>
            <a:srgbClr val="00897B"/>
          </a:solidFill>
          <a:ln w="12700">
            <a:solidFill>
              <a:srgbClr val="00897B"/>
            </a:solidFill>
            <a:prstDash val="solid"/>
          </a:ln>
        </p:spPr>
      </p:sp>
      <p:sp>
        <p:nvSpPr>
          <p:cNvPr id="42" name="Text 40"/>
          <p:cNvSpPr/>
          <p:nvPr/>
        </p:nvSpPr>
        <p:spPr>
          <a:xfrm>
            <a:off x="2450592" y="3989833"/>
            <a:ext cx="2011680" cy="594360"/>
          </a:xfrm>
          <a:prstGeom prst="rect">
            <a:avLst/>
          </a:prstGeom>
          <a:noFill/>
          <a:ln/>
        </p:spPr>
        <p:txBody>
          <a:bodyPr wrap="square" lIns="0" tIns="0" rIns="0" bIns="0" rtlCol="0" anchor="ctr"/>
          <a:lstStyle/>
          <a:p>
            <a:pPr marL="0" indent="0" algn="ctr">
              <a:buNone/>
            </a:pPr>
            <a:r>
              <a:rPr lang="en-US" sz="2400" b="1" dirty="0">
                <a:solidFill>
                  <a:srgbClr val="00897B"/>
                </a:solidFill>
              </a:rPr>
              <a:t>7</a:t>
            </a:r>
            <a:endParaRPr lang="en-US" sz="2400" dirty="0"/>
          </a:p>
        </p:txBody>
      </p:sp>
      <p:sp>
        <p:nvSpPr>
          <p:cNvPr id="43" name="Text 41"/>
          <p:cNvSpPr/>
          <p:nvPr/>
        </p:nvSpPr>
        <p:spPr>
          <a:xfrm>
            <a:off x="2450592" y="462991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Product Categories</a:t>
            </a:r>
            <a:endParaRPr lang="en-US" sz="1000" dirty="0"/>
          </a:p>
        </p:txBody>
      </p:sp>
      <p:sp>
        <p:nvSpPr>
          <p:cNvPr id="44" name="Shape 42"/>
          <p:cNvSpPr/>
          <p:nvPr/>
        </p:nvSpPr>
        <p:spPr>
          <a:xfrm>
            <a:off x="4626864" y="3852673"/>
            <a:ext cx="2011680" cy="1261872"/>
          </a:xfrm>
          <a:prstGeom prst="rect">
            <a:avLst/>
          </a:prstGeom>
          <a:solidFill>
            <a:srgbClr val="1B2A3B"/>
          </a:solidFill>
          <a:ln w="12700">
            <a:solidFill>
              <a:srgbClr val="F9A825"/>
            </a:solidFill>
            <a:prstDash val="solid"/>
          </a:ln>
          <a:effectLst>
            <a:outerShdw blurRad="88900" dist="38100" dir="8100000" algn="bl" rotWithShape="0">
              <a:srgbClr val="000000">
                <a:alpha val="13000"/>
              </a:srgbClr>
            </a:outerShdw>
          </a:effectLst>
        </p:spPr>
      </p:sp>
      <p:sp>
        <p:nvSpPr>
          <p:cNvPr id="45" name="Shape 43"/>
          <p:cNvSpPr/>
          <p:nvPr/>
        </p:nvSpPr>
        <p:spPr>
          <a:xfrm>
            <a:off x="4626864" y="3852673"/>
            <a:ext cx="2011680" cy="54864"/>
          </a:xfrm>
          <a:prstGeom prst="rect">
            <a:avLst/>
          </a:prstGeom>
          <a:solidFill>
            <a:srgbClr val="F9A825"/>
          </a:solidFill>
          <a:ln w="12700">
            <a:solidFill>
              <a:srgbClr val="F9A825"/>
            </a:solidFill>
            <a:prstDash val="solid"/>
          </a:ln>
        </p:spPr>
      </p:sp>
      <p:sp>
        <p:nvSpPr>
          <p:cNvPr id="46" name="Text 44"/>
          <p:cNvSpPr/>
          <p:nvPr/>
        </p:nvSpPr>
        <p:spPr>
          <a:xfrm>
            <a:off x="4626864" y="3989833"/>
            <a:ext cx="2011680" cy="594360"/>
          </a:xfrm>
          <a:prstGeom prst="rect">
            <a:avLst/>
          </a:prstGeom>
          <a:noFill/>
          <a:ln/>
        </p:spPr>
        <p:txBody>
          <a:bodyPr wrap="square" lIns="0" tIns="0" rIns="0" bIns="0" rtlCol="0" anchor="ctr"/>
          <a:lstStyle/>
          <a:p>
            <a:pPr marL="0" indent="0" algn="ctr">
              <a:buNone/>
            </a:pPr>
            <a:r>
              <a:rPr lang="en-US" sz="2400" b="1" dirty="0">
                <a:solidFill>
                  <a:srgbClr val="F9A825"/>
                </a:solidFill>
              </a:rPr>
              <a:t>5</a:t>
            </a:r>
            <a:endParaRPr lang="en-US" sz="2400" dirty="0"/>
          </a:p>
        </p:txBody>
      </p:sp>
      <p:sp>
        <p:nvSpPr>
          <p:cNvPr id="47" name="Text 45"/>
          <p:cNvSpPr/>
          <p:nvPr/>
        </p:nvSpPr>
        <p:spPr>
          <a:xfrm>
            <a:off x="4626864" y="462991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Traffic Sources</a:t>
            </a:r>
            <a:endParaRPr lang="en-US" sz="1000" dirty="0"/>
          </a:p>
        </p:txBody>
      </p:sp>
      <p:sp>
        <p:nvSpPr>
          <p:cNvPr id="48" name="Shape 46"/>
          <p:cNvSpPr/>
          <p:nvPr/>
        </p:nvSpPr>
        <p:spPr>
          <a:xfrm>
            <a:off x="6803136" y="3852673"/>
            <a:ext cx="2011680" cy="1261872"/>
          </a:xfrm>
          <a:prstGeom prst="rect">
            <a:avLst/>
          </a:prstGeom>
          <a:solidFill>
            <a:srgbClr val="1B2A3B"/>
          </a:solidFill>
          <a:ln w="12700">
            <a:solidFill>
              <a:srgbClr val="26A69A"/>
            </a:solidFill>
            <a:prstDash val="solid"/>
          </a:ln>
          <a:effectLst>
            <a:outerShdw blurRad="88900" dist="38100" dir="8100000" algn="bl" rotWithShape="0">
              <a:srgbClr val="000000">
                <a:alpha val="13000"/>
              </a:srgbClr>
            </a:outerShdw>
          </a:effectLst>
        </p:spPr>
      </p:sp>
      <p:sp>
        <p:nvSpPr>
          <p:cNvPr id="49" name="Shape 47"/>
          <p:cNvSpPr/>
          <p:nvPr/>
        </p:nvSpPr>
        <p:spPr>
          <a:xfrm>
            <a:off x="6803136" y="3852673"/>
            <a:ext cx="2011680" cy="54864"/>
          </a:xfrm>
          <a:prstGeom prst="rect">
            <a:avLst/>
          </a:prstGeom>
          <a:solidFill>
            <a:srgbClr val="26A69A"/>
          </a:solidFill>
          <a:ln w="12700">
            <a:solidFill>
              <a:srgbClr val="26A69A"/>
            </a:solidFill>
            <a:prstDash val="solid"/>
          </a:ln>
        </p:spPr>
      </p:sp>
      <p:sp>
        <p:nvSpPr>
          <p:cNvPr id="50" name="Text 48"/>
          <p:cNvSpPr/>
          <p:nvPr/>
        </p:nvSpPr>
        <p:spPr>
          <a:xfrm>
            <a:off x="6803136" y="3989833"/>
            <a:ext cx="2011680" cy="594360"/>
          </a:xfrm>
          <a:prstGeom prst="rect">
            <a:avLst/>
          </a:prstGeom>
          <a:noFill/>
          <a:ln/>
        </p:spPr>
        <p:txBody>
          <a:bodyPr wrap="square" lIns="0" tIns="0" rIns="0" bIns="0" rtlCol="0" anchor="ctr"/>
          <a:lstStyle/>
          <a:p>
            <a:pPr marL="0" indent="0" algn="ctr">
              <a:buNone/>
            </a:pPr>
            <a:r>
              <a:rPr lang="en-US" sz="2400" b="1" dirty="0">
                <a:solidFill>
                  <a:srgbClr val="26A69A"/>
                </a:solidFill>
              </a:rPr>
              <a:t>5</a:t>
            </a:r>
            <a:endParaRPr lang="en-US" sz="2400" dirty="0"/>
          </a:p>
        </p:txBody>
      </p:sp>
      <p:sp>
        <p:nvSpPr>
          <p:cNvPr id="51" name="Text 49"/>
          <p:cNvSpPr/>
          <p:nvPr/>
        </p:nvSpPr>
        <p:spPr>
          <a:xfrm>
            <a:off x="6803136" y="4629913"/>
            <a:ext cx="2011680" cy="411480"/>
          </a:xfrm>
          <a:prstGeom prst="rect">
            <a:avLst/>
          </a:prstGeom>
          <a:noFill/>
          <a:ln/>
        </p:spPr>
        <p:txBody>
          <a:bodyPr wrap="square" lIns="0" tIns="0" rIns="0" bIns="0" rtlCol="0" anchor="ctr"/>
          <a:lstStyle/>
          <a:p>
            <a:pPr marL="0" indent="0" algn="ctr">
              <a:buNone/>
            </a:pPr>
            <a:r>
              <a:rPr lang="en-US" sz="1000" dirty="0">
                <a:solidFill>
                  <a:srgbClr val="CFD8DC"/>
                </a:solidFill>
              </a:rPr>
              <a:t>Payment Methods</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02  Project Objectives</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What we aim to answer with this analysis</a:t>
            </a:r>
            <a:endParaRPr lang="en-US" sz="1100" dirty="0"/>
          </a:p>
        </p:txBody>
      </p:sp>
      <p:sp>
        <p:nvSpPr>
          <p:cNvPr id="6" name="Shape 4"/>
          <p:cNvSpPr/>
          <p:nvPr/>
        </p:nvSpPr>
        <p:spPr>
          <a:xfrm>
            <a:off x="274320" y="1295679"/>
            <a:ext cx="2816352" cy="16642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7" name="Shape 5"/>
          <p:cNvSpPr/>
          <p:nvPr/>
        </p:nvSpPr>
        <p:spPr>
          <a:xfrm>
            <a:off x="274320" y="1295679"/>
            <a:ext cx="2816352" cy="384048"/>
          </a:xfrm>
          <a:prstGeom prst="rect">
            <a:avLst/>
          </a:prstGeom>
          <a:solidFill>
            <a:srgbClr val="00897B"/>
          </a:solidFill>
          <a:ln w="12700">
            <a:solidFill>
              <a:srgbClr val="00897B"/>
            </a:solidFill>
            <a:prstDash val="solid"/>
          </a:ln>
        </p:spPr>
      </p:sp>
      <p:sp>
        <p:nvSpPr>
          <p:cNvPr id="8" name="Text 6"/>
          <p:cNvSpPr/>
          <p:nvPr/>
        </p:nvSpPr>
        <p:spPr>
          <a:xfrm>
            <a:off x="384048" y="1350543"/>
            <a:ext cx="2615184" cy="274320"/>
          </a:xfrm>
          <a:prstGeom prst="rect">
            <a:avLst/>
          </a:prstGeom>
          <a:noFill/>
          <a:ln/>
        </p:spPr>
        <p:txBody>
          <a:bodyPr wrap="square" lIns="0" tIns="0" rIns="0" bIns="0" rtlCol="0" anchor="ctr"/>
          <a:lstStyle/>
          <a:p>
            <a:pPr marL="0" indent="0">
              <a:buNone/>
            </a:pPr>
            <a:r>
              <a:rPr lang="en-US" sz="1150" b="1" dirty="0">
                <a:solidFill>
                  <a:srgbClr val="FFFFFF"/>
                </a:solidFill>
              </a:rPr>
              <a:t>📈  Sales Performance</a:t>
            </a:r>
            <a:endParaRPr lang="en-US" sz="1150" dirty="0"/>
          </a:p>
        </p:txBody>
      </p:sp>
      <p:sp>
        <p:nvSpPr>
          <p:cNvPr id="9" name="Text 7"/>
          <p:cNvSpPr/>
          <p:nvPr/>
        </p:nvSpPr>
        <p:spPr>
          <a:xfrm>
            <a:off x="384048" y="1752879"/>
            <a:ext cx="2615184" cy="1143000"/>
          </a:xfrm>
          <a:prstGeom prst="rect">
            <a:avLst/>
          </a:prstGeom>
          <a:noFill/>
          <a:ln/>
        </p:spPr>
        <p:txBody>
          <a:bodyPr wrap="square" lIns="0" tIns="0" rIns="0" bIns="0" rtlCol="0" anchor="ctr"/>
          <a:lstStyle/>
          <a:p>
            <a:pPr marL="0" indent="0">
              <a:buNone/>
            </a:pPr>
            <a:r>
              <a:rPr lang="en-US" sz="1050" dirty="0">
                <a:solidFill>
                  <a:srgbClr val="1C2833"/>
                </a:solidFill>
              </a:rPr>
              <a:t>Analyse revenue &amp; profit trends across years, months and quarters to identify growth trajectories and seasonal patterns.</a:t>
            </a:r>
            <a:endParaRPr lang="en-US" sz="1050" dirty="0"/>
          </a:p>
        </p:txBody>
      </p:sp>
      <p:sp>
        <p:nvSpPr>
          <p:cNvPr id="10" name="Shape 8"/>
          <p:cNvSpPr/>
          <p:nvPr/>
        </p:nvSpPr>
        <p:spPr>
          <a:xfrm>
            <a:off x="3227832" y="1295679"/>
            <a:ext cx="2816352" cy="16642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1" name="Shape 9"/>
          <p:cNvSpPr/>
          <p:nvPr/>
        </p:nvSpPr>
        <p:spPr>
          <a:xfrm>
            <a:off x="3227832" y="1295679"/>
            <a:ext cx="2816352" cy="384048"/>
          </a:xfrm>
          <a:prstGeom prst="rect">
            <a:avLst/>
          </a:prstGeom>
          <a:solidFill>
            <a:srgbClr val="00897B"/>
          </a:solidFill>
          <a:ln w="12700">
            <a:solidFill>
              <a:srgbClr val="00897B"/>
            </a:solidFill>
            <a:prstDash val="solid"/>
          </a:ln>
        </p:spPr>
      </p:sp>
      <p:sp>
        <p:nvSpPr>
          <p:cNvPr id="12" name="Text 10"/>
          <p:cNvSpPr/>
          <p:nvPr/>
        </p:nvSpPr>
        <p:spPr>
          <a:xfrm>
            <a:off x="3337560" y="1350543"/>
            <a:ext cx="2615184" cy="274320"/>
          </a:xfrm>
          <a:prstGeom prst="rect">
            <a:avLst/>
          </a:prstGeom>
          <a:noFill/>
          <a:ln/>
        </p:spPr>
        <p:txBody>
          <a:bodyPr wrap="square" lIns="0" tIns="0" rIns="0" bIns="0" rtlCol="0" anchor="ctr"/>
          <a:lstStyle/>
          <a:p>
            <a:pPr marL="0" indent="0">
              <a:buNone/>
            </a:pPr>
            <a:r>
              <a:rPr lang="en-US" sz="1150" b="1" dirty="0">
                <a:solidFill>
                  <a:srgbClr val="FFFFFF"/>
                </a:solidFill>
              </a:rPr>
              <a:t>📦  Category Profitability</a:t>
            </a:r>
            <a:endParaRPr lang="en-US" sz="1150" dirty="0"/>
          </a:p>
        </p:txBody>
      </p:sp>
      <p:sp>
        <p:nvSpPr>
          <p:cNvPr id="13" name="Text 11"/>
          <p:cNvSpPr/>
          <p:nvPr/>
        </p:nvSpPr>
        <p:spPr>
          <a:xfrm>
            <a:off x="3337560" y="1752879"/>
            <a:ext cx="2615184" cy="1143000"/>
          </a:xfrm>
          <a:prstGeom prst="rect">
            <a:avLst/>
          </a:prstGeom>
          <a:noFill/>
          <a:ln/>
        </p:spPr>
        <p:txBody>
          <a:bodyPr wrap="square" lIns="0" tIns="0" rIns="0" bIns="0" rtlCol="0" anchor="ctr"/>
          <a:lstStyle/>
          <a:p>
            <a:pPr marL="0" indent="0">
              <a:buNone/>
            </a:pPr>
            <a:r>
              <a:rPr lang="en-US" sz="1050" dirty="0">
                <a:solidFill>
                  <a:srgbClr val="1C2833"/>
                </a:solidFill>
              </a:rPr>
              <a:t>Determine which of the 7 product categories drives maximum revenue, profit and quantity — and which underperform.</a:t>
            </a:r>
            <a:endParaRPr lang="en-US" sz="1050" dirty="0"/>
          </a:p>
        </p:txBody>
      </p:sp>
      <p:sp>
        <p:nvSpPr>
          <p:cNvPr id="14" name="Shape 12"/>
          <p:cNvSpPr/>
          <p:nvPr/>
        </p:nvSpPr>
        <p:spPr>
          <a:xfrm>
            <a:off x="6181344" y="1295679"/>
            <a:ext cx="2816352" cy="16642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5" name="Shape 13"/>
          <p:cNvSpPr/>
          <p:nvPr/>
        </p:nvSpPr>
        <p:spPr>
          <a:xfrm>
            <a:off x="6181344" y="1295679"/>
            <a:ext cx="2816352" cy="384048"/>
          </a:xfrm>
          <a:prstGeom prst="rect">
            <a:avLst/>
          </a:prstGeom>
          <a:solidFill>
            <a:srgbClr val="00897B"/>
          </a:solidFill>
          <a:ln w="12700">
            <a:solidFill>
              <a:srgbClr val="00897B"/>
            </a:solidFill>
            <a:prstDash val="solid"/>
          </a:ln>
        </p:spPr>
      </p:sp>
      <p:sp>
        <p:nvSpPr>
          <p:cNvPr id="16" name="Text 14"/>
          <p:cNvSpPr/>
          <p:nvPr/>
        </p:nvSpPr>
        <p:spPr>
          <a:xfrm>
            <a:off x="6291072" y="1350543"/>
            <a:ext cx="2615184" cy="274320"/>
          </a:xfrm>
          <a:prstGeom prst="rect">
            <a:avLst/>
          </a:prstGeom>
          <a:noFill/>
          <a:ln/>
        </p:spPr>
        <p:txBody>
          <a:bodyPr wrap="square" lIns="0" tIns="0" rIns="0" bIns="0" rtlCol="0" anchor="ctr"/>
          <a:lstStyle/>
          <a:p>
            <a:pPr marL="0" indent="0">
              <a:buNone/>
            </a:pPr>
            <a:r>
              <a:rPr lang="en-US" sz="1150" b="1" dirty="0">
                <a:solidFill>
                  <a:srgbClr val="FFFFFF"/>
                </a:solidFill>
              </a:rPr>
              <a:t>🏷️  Discount Optimisation</a:t>
            </a:r>
            <a:endParaRPr lang="en-US" sz="1150" dirty="0"/>
          </a:p>
        </p:txBody>
      </p:sp>
      <p:sp>
        <p:nvSpPr>
          <p:cNvPr id="17" name="Text 15"/>
          <p:cNvSpPr/>
          <p:nvPr/>
        </p:nvSpPr>
        <p:spPr>
          <a:xfrm>
            <a:off x="6291072" y="1752879"/>
            <a:ext cx="2615184" cy="1143000"/>
          </a:xfrm>
          <a:prstGeom prst="rect">
            <a:avLst/>
          </a:prstGeom>
          <a:noFill/>
          <a:ln/>
        </p:spPr>
        <p:txBody>
          <a:bodyPr wrap="square" lIns="0" tIns="0" rIns="0" bIns="0" rtlCol="0" anchor="ctr"/>
          <a:lstStyle/>
          <a:p>
            <a:pPr marL="0" indent="0">
              <a:buNone/>
            </a:pPr>
            <a:r>
              <a:rPr lang="en-US" sz="1050" dirty="0">
                <a:solidFill>
                  <a:srgbClr val="1C2833"/>
                </a:solidFill>
              </a:rPr>
              <a:t>Quantify how the 0–40% discount range affects revenue and profit; recommend an optimal discount strategy.</a:t>
            </a:r>
            <a:endParaRPr lang="en-US" sz="1050" dirty="0"/>
          </a:p>
        </p:txBody>
      </p:sp>
      <p:sp>
        <p:nvSpPr>
          <p:cNvPr id="18" name="Shape 16"/>
          <p:cNvSpPr/>
          <p:nvPr/>
        </p:nvSpPr>
        <p:spPr>
          <a:xfrm>
            <a:off x="274320" y="3106191"/>
            <a:ext cx="2816352" cy="16642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9" name="Shape 17"/>
          <p:cNvSpPr/>
          <p:nvPr/>
        </p:nvSpPr>
        <p:spPr>
          <a:xfrm>
            <a:off x="274320" y="3106191"/>
            <a:ext cx="2816352" cy="384048"/>
          </a:xfrm>
          <a:prstGeom prst="rect">
            <a:avLst/>
          </a:prstGeom>
          <a:solidFill>
            <a:srgbClr val="00897B"/>
          </a:solidFill>
          <a:ln w="12700">
            <a:solidFill>
              <a:srgbClr val="00897B"/>
            </a:solidFill>
            <a:prstDash val="solid"/>
          </a:ln>
        </p:spPr>
      </p:sp>
      <p:sp>
        <p:nvSpPr>
          <p:cNvPr id="20" name="Text 18"/>
          <p:cNvSpPr/>
          <p:nvPr/>
        </p:nvSpPr>
        <p:spPr>
          <a:xfrm>
            <a:off x="384048" y="3161055"/>
            <a:ext cx="2615184" cy="274320"/>
          </a:xfrm>
          <a:prstGeom prst="rect">
            <a:avLst/>
          </a:prstGeom>
          <a:noFill/>
          <a:ln/>
        </p:spPr>
        <p:txBody>
          <a:bodyPr wrap="square" lIns="0" tIns="0" rIns="0" bIns="0" rtlCol="0" anchor="ctr"/>
          <a:lstStyle/>
          <a:p>
            <a:pPr marL="0" indent="0">
              <a:buNone/>
            </a:pPr>
            <a:r>
              <a:rPr lang="en-US" sz="1150" b="1" dirty="0">
                <a:solidFill>
                  <a:srgbClr val="FFFFFF"/>
                </a:solidFill>
              </a:rPr>
              <a:t>🔄  Return Rate Reduction</a:t>
            </a:r>
            <a:endParaRPr lang="en-US" sz="1150" dirty="0"/>
          </a:p>
        </p:txBody>
      </p:sp>
      <p:sp>
        <p:nvSpPr>
          <p:cNvPr id="21" name="Text 19"/>
          <p:cNvSpPr/>
          <p:nvPr/>
        </p:nvSpPr>
        <p:spPr>
          <a:xfrm>
            <a:off x="384048" y="3563391"/>
            <a:ext cx="2615184" cy="1143000"/>
          </a:xfrm>
          <a:prstGeom prst="rect">
            <a:avLst/>
          </a:prstGeom>
          <a:noFill/>
          <a:ln/>
        </p:spPr>
        <p:txBody>
          <a:bodyPr wrap="square" lIns="0" tIns="0" rIns="0" bIns="0" rtlCol="0" anchor="ctr"/>
          <a:lstStyle/>
          <a:p>
            <a:pPr marL="0" indent="0">
              <a:buNone/>
            </a:pPr>
            <a:r>
              <a:rPr lang="en-US" sz="1050" dirty="0">
                <a:solidFill>
                  <a:srgbClr val="1C2833"/>
                </a:solidFill>
              </a:rPr>
              <a:t>Measure and compare return rates across categories and countries to pinpoint product quality and description gaps.</a:t>
            </a:r>
            <a:endParaRPr lang="en-US" sz="1050" dirty="0"/>
          </a:p>
        </p:txBody>
      </p:sp>
      <p:sp>
        <p:nvSpPr>
          <p:cNvPr id="22" name="Shape 20"/>
          <p:cNvSpPr/>
          <p:nvPr/>
        </p:nvSpPr>
        <p:spPr>
          <a:xfrm>
            <a:off x="3227832" y="3106191"/>
            <a:ext cx="2816352" cy="16642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23" name="Shape 21"/>
          <p:cNvSpPr/>
          <p:nvPr/>
        </p:nvSpPr>
        <p:spPr>
          <a:xfrm>
            <a:off x="3227832" y="3106191"/>
            <a:ext cx="2816352" cy="384048"/>
          </a:xfrm>
          <a:prstGeom prst="rect">
            <a:avLst/>
          </a:prstGeom>
          <a:solidFill>
            <a:srgbClr val="00897B"/>
          </a:solidFill>
          <a:ln w="12700">
            <a:solidFill>
              <a:srgbClr val="00897B"/>
            </a:solidFill>
            <a:prstDash val="solid"/>
          </a:ln>
        </p:spPr>
      </p:sp>
      <p:sp>
        <p:nvSpPr>
          <p:cNvPr id="24" name="Text 22"/>
          <p:cNvSpPr/>
          <p:nvPr/>
        </p:nvSpPr>
        <p:spPr>
          <a:xfrm>
            <a:off x="3337560" y="3161055"/>
            <a:ext cx="2615184" cy="274320"/>
          </a:xfrm>
          <a:prstGeom prst="rect">
            <a:avLst/>
          </a:prstGeom>
          <a:noFill/>
          <a:ln/>
        </p:spPr>
        <p:txBody>
          <a:bodyPr wrap="square" lIns="0" tIns="0" rIns="0" bIns="0" rtlCol="0" anchor="ctr"/>
          <a:lstStyle/>
          <a:p>
            <a:pPr marL="0" indent="0">
              <a:buNone/>
            </a:pPr>
            <a:r>
              <a:rPr lang="en-US" sz="1150" b="1" dirty="0">
                <a:solidFill>
                  <a:srgbClr val="FFFFFF"/>
                </a:solidFill>
              </a:rPr>
              <a:t>🌍  Geographic Insights</a:t>
            </a:r>
            <a:endParaRPr lang="en-US" sz="1150" dirty="0"/>
          </a:p>
        </p:txBody>
      </p:sp>
      <p:sp>
        <p:nvSpPr>
          <p:cNvPr id="25" name="Text 23"/>
          <p:cNvSpPr/>
          <p:nvPr/>
        </p:nvSpPr>
        <p:spPr>
          <a:xfrm>
            <a:off x="3337560" y="3563391"/>
            <a:ext cx="2615184" cy="1143000"/>
          </a:xfrm>
          <a:prstGeom prst="rect">
            <a:avLst/>
          </a:prstGeom>
          <a:noFill/>
          <a:ln/>
        </p:spPr>
        <p:txBody>
          <a:bodyPr wrap="square" lIns="0" tIns="0" rIns="0" bIns="0" rtlCol="0" anchor="ctr"/>
          <a:lstStyle/>
          <a:p>
            <a:pPr marL="0" indent="0">
              <a:buNone/>
            </a:pPr>
            <a:r>
              <a:rPr lang="en-US" sz="1050" dirty="0">
                <a:solidFill>
                  <a:srgbClr val="1C2833"/>
                </a:solidFill>
              </a:rPr>
              <a:t>Rank 7 countries by revenue, order volume and customer satisfaction to guide regional marketing investment.</a:t>
            </a:r>
            <a:endParaRPr lang="en-US" sz="1050" dirty="0"/>
          </a:p>
        </p:txBody>
      </p:sp>
      <p:sp>
        <p:nvSpPr>
          <p:cNvPr id="26" name="Shape 24"/>
          <p:cNvSpPr/>
          <p:nvPr/>
        </p:nvSpPr>
        <p:spPr>
          <a:xfrm>
            <a:off x="6181344" y="3106191"/>
            <a:ext cx="2816352" cy="16642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27" name="Shape 25"/>
          <p:cNvSpPr/>
          <p:nvPr/>
        </p:nvSpPr>
        <p:spPr>
          <a:xfrm>
            <a:off x="6181344" y="3106191"/>
            <a:ext cx="2816352" cy="384048"/>
          </a:xfrm>
          <a:prstGeom prst="rect">
            <a:avLst/>
          </a:prstGeom>
          <a:solidFill>
            <a:srgbClr val="00897B"/>
          </a:solidFill>
          <a:ln w="12700">
            <a:solidFill>
              <a:srgbClr val="00897B"/>
            </a:solidFill>
            <a:prstDash val="solid"/>
          </a:ln>
        </p:spPr>
      </p:sp>
      <p:sp>
        <p:nvSpPr>
          <p:cNvPr id="28" name="Text 26"/>
          <p:cNvSpPr/>
          <p:nvPr/>
        </p:nvSpPr>
        <p:spPr>
          <a:xfrm>
            <a:off x="6291072" y="3161055"/>
            <a:ext cx="2615184" cy="274320"/>
          </a:xfrm>
          <a:prstGeom prst="rect">
            <a:avLst/>
          </a:prstGeom>
          <a:noFill/>
          <a:ln/>
        </p:spPr>
        <p:txBody>
          <a:bodyPr wrap="square" lIns="0" tIns="0" rIns="0" bIns="0" rtlCol="0" anchor="ctr"/>
          <a:lstStyle/>
          <a:p>
            <a:pPr marL="0" indent="0">
              <a:buNone/>
            </a:pPr>
            <a:r>
              <a:rPr lang="en-US" sz="1150" b="1" dirty="0">
                <a:solidFill>
                  <a:srgbClr val="FFFFFF"/>
                </a:solidFill>
              </a:rPr>
              <a:t>📣  Channel Effectiveness</a:t>
            </a:r>
            <a:endParaRPr lang="en-US" sz="1150" dirty="0"/>
          </a:p>
        </p:txBody>
      </p:sp>
      <p:sp>
        <p:nvSpPr>
          <p:cNvPr id="29" name="Text 27"/>
          <p:cNvSpPr/>
          <p:nvPr/>
        </p:nvSpPr>
        <p:spPr>
          <a:xfrm>
            <a:off x="6291072" y="3563391"/>
            <a:ext cx="2615184" cy="1143000"/>
          </a:xfrm>
          <a:prstGeom prst="rect">
            <a:avLst/>
          </a:prstGeom>
          <a:noFill/>
          <a:ln/>
        </p:spPr>
        <p:txBody>
          <a:bodyPr wrap="square" lIns="0" tIns="0" rIns="0" bIns="0" rtlCol="0" anchor="ctr"/>
          <a:lstStyle/>
          <a:p>
            <a:pPr marL="0" indent="0">
              <a:buNone/>
            </a:pPr>
            <a:r>
              <a:rPr lang="en-US" sz="1050" dirty="0">
                <a:solidFill>
                  <a:srgbClr val="1C2833"/>
                </a:solidFill>
              </a:rPr>
              <a:t>Evaluate 5 traffic sources — Paid Ads, Social Media, Email, Organic, Direct — by revenue and profit contribution.</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02  Problem Statements</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Key business questions driving this analysis</a:t>
            </a:r>
            <a:endParaRPr lang="en-US" sz="1100" dirty="0"/>
          </a:p>
        </p:txBody>
      </p:sp>
      <p:sp>
        <p:nvSpPr>
          <p:cNvPr id="6" name="Shape 4"/>
          <p:cNvSpPr/>
          <p:nvPr/>
        </p:nvSpPr>
        <p:spPr>
          <a:xfrm>
            <a:off x="365760" y="1115568"/>
            <a:ext cx="8412480" cy="402336"/>
          </a:xfrm>
          <a:prstGeom prst="rect">
            <a:avLst/>
          </a:prstGeom>
          <a:solidFill>
            <a:srgbClr val="EBF5FB"/>
          </a:solidFill>
          <a:ln w="12700">
            <a:solidFill>
              <a:srgbClr val="CFD8DC"/>
            </a:solidFill>
            <a:prstDash val="solid"/>
          </a:ln>
        </p:spPr>
      </p:sp>
      <p:sp>
        <p:nvSpPr>
          <p:cNvPr id="7" name="Shape 5"/>
          <p:cNvSpPr/>
          <p:nvPr/>
        </p:nvSpPr>
        <p:spPr>
          <a:xfrm>
            <a:off x="365760" y="1115568"/>
            <a:ext cx="502920" cy="402336"/>
          </a:xfrm>
          <a:prstGeom prst="rect">
            <a:avLst/>
          </a:prstGeom>
          <a:solidFill>
            <a:srgbClr val="00897B"/>
          </a:solidFill>
          <a:ln w="12700">
            <a:solidFill>
              <a:srgbClr val="00897B"/>
            </a:solidFill>
            <a:prstDash val="solid"/>
          </a:ln>
        </p:spPr>
      </p:sp>
      <p:sp>
        <p:nvSpPr>
          <p:cNvPr id="8" name="Text 6"/>
          <p:cNvSpPr/>
          <p:nvPr/>
        </p:nvSpPr>
        <p:spPr>
          <a:xfrm>
            <a:off x="365760" y="1197864"/>
            <a:ext cx="502920" cy="237744"/>
          </a:xfrm>
          <a:prstGeom prst="rect">
            <a:avLst/>
          </a:prstGeom>
          <a:noFill/>
          <a:ln/>
        </p:spPr>
        <p:txBody>
          <a:bodyPr wrap="square" lIns="0" tIns="0" rIns="0" bIns="0" rtlCol="0" anchor="ctr"/>
          <a:lstStyle/>
          <a:p>
            <a:pPr marL="0" indent="0" algn="ctr">
              <a:buNone/>
            </a:pPr>
            <a:r>
              <a:rPr lang="en-US" sz="1100" b="1" dirty="0">
                <a:solidFill>
                  <a:srgbClr val="FFFFFF"/>
                </a:solidFill>
              </a:rPr>
              <a:t>Q1</a:t>
            </a:r>
            <a:endParaRPr lang="en-US" sz="1100" dirty="0"/>
          </a:p>
        </p:txBody>
      </p:sp>
      <p:sp>
        <p:nvSpPr>
          <p:cNvPr id="9" name="Text 7"/>
          <p:cNvSpPr/>
          <p:nvPr/>
        </p:nvSpPr>
        <p:spPr>
          <a:xfrm>
            <a:off x="960120" y="1188720"/>
            <a:ext cx="7726680" cy="274320"/>
          </a:xfrm>
          <a:prstGeom prst="rect">
            <a:avLst/>
          </a:prstGeom>
          <a:noFill/>
          <a:ln/>
        </p:spPr>
        <p:txBody>
          <a:bodyPr wrap="square" lIns="0" tIns="0" rIns="0" bIns="0" rtlCol="0" anchor="ctr"/>
          <a:lstStyle/>
          <a:p>
            <a:pPr marL="0" indent="0">
              <a:buNone/>
            </a:pPr>
            <a:r>
              <a:rPr lang="en-US" sz="1100" dirty="0">
                <a:solidFill>
                  <a:srgbClr val="1C2833"/>
                </a:solidFill>
              </a:rPr>
              <a:t>Which months/quarters drive peak revenue and are patterns consistent across 2023–2025?</a:t>
            </a:r>
            <a:endParaRPr lang="en-US" sz="1100" dirty="0"/>
          </a:p>
        </p:txBody>
      </p:sp>
      <p:sp>
        <p:nvSpPr>
          <p:cNvPr id="10" name="Shape 8"/>
          <p:cNvSpPr/>
          <p:nvPr/>
        </p:nvSpPr>
        <p:spPr>
          <a:xfrm>
            <a:off x="365760" y="1591056"/>
            <a:ext cx="8412480" cy="402336"/>
          </a:xfrm>
          <a:prstGeom prst="rect">
            <a:avLst/>
          </a:prstGeom>
          <a:solidFill>
            <a:srgbClr val="F5F7FA"/>
          </a:solidFill>
          <a:ln w="12700">
            <a:solidFill>
              <a:srgbClr val="CFD8DC"/>
            </a:solidFill>
            <a:prstDash val="solid"/>
          </a:ln>
        </p:spPr>
      </p:sp>
      <p:sp>
        <p:nvSpPr>
          <p:cNvPr id="11" name="Shape 9"/>
          <p:cNvSpPr/>
          <p:nvPr/>
        </p:nvSpPr>
        <p:spPr>
          <a:xfrm>
            <a:off x="365760" y="1591056"/>
            <a:ext cx="502920" cy="402336"/>
          </a:xfrm>
          <a:prstGeom prst="rect">
            <a:avLst/>
          </a:prstGeom>
          <a:solidFill>
            <a:srgbClr val="00897B"/>
          </a:solidFill>
          <a:ln w="12700">
            <a:solidFill>
              <a:srgbClr val="00897B"/>
            </a:solidFill>
            <a:prstDash val="solid"/>
          </a:ln>
        </p:spPr>
      </p:sp>
      <p:sp>
        <p:nvSpPr>
          <p:cNvPr id="12" name="Text 10"/>
          <p:cNvSpPr/>
          <p:nvPr/>
        </p:nvSpPr>
        <p:spPr>
          <a:xfrm>
            <a:off x="365760" y="1673352"/>
            <a:ext cx="502920" cy="237744"/>
          </a:xfrm>
          <a:prstGeom prst="rect">
            <a:avLst/>
          </a:prstGeom>
          <a:noFill/>
          <a:ln/>
        </p:spPr>
        <p:txBody>
          <a:bodyPr wrap="square" lIns="0" tIns="0" rIns="0" bIns="0" rtlCol="0" anchor="ctr"/>
          <a:lstStyle/>
          <a:p>
            <a:pPr marL="0" indent="0" algn="ctr">
              <a:buNone/>
            </a:pPr>
            <a:r>
              <a:rPr lang="en-US" sz="1100" b="1" dirty="0">
                <a:solidFill>
                  <a:srgbClr val="FFFFFF"/>
                </a:solidFill>
              </a:rPr>
              <a:t>Q2</a:t>
            </a:r>
            <a:endParaRPr lang="en-US" sz="1100" dirty="0"/>
          </a:p>
        </p:txBody>
      </p:sp>
      <p:sp>
        <p:nvSpPr>
          <p:cNvPr id="13" name="Text 11"/>
          <p:cNvSpPr/>
          <p:nvPr/>
        </p:nvSpPr>
        <p:spPr>
          <a:xfrm>
            <a:off x="960120" y="1664208"/>
            <a:ext cx="7726680" cy="274320"/>
          </a:xfrm>
          <a:prstGeom prst="rect">
            <a:avLst/>
          </a:prstGeom>
          <a:noFill/>
          <a:ln/>
        </p:spPr>
        <p:txBody>
          <a:bodyPr wrap="square" lIns="0" tIns="0" rIns="0" bIns="0" rtlCol="0" anchor="ctr"/>
          <a:lstStyle/>
          <a:p>
            <a:pPr marL="0" indent="0">
              <a:buNone/>
            </a:pPr>
            <a:r>
              <a:rPr lang="en-US" sz="1100" dirty="0">
                <a:solidFill>
                  <a:srgbClr val="1C2833"/>
                </a:solidFill>
              </a:rPr>
              <a:t>Which product categories generate maximum revenue and profit — and which have poor margins?</a:t>
            </a:r>
            <a:endParaRPr lang="en-US" sz="1100" dirty="0"/>
          </a:p>
        </p:txBody>
      </p:sp>
      <p:sp>
        <p:nvSpPr>
          <p:cNvPr id="14" name="Shape 12"/>
          <p:cNvSpPr/>
          <p:nvPr/>
        </p:nvSpPr>
        <p:spPr>
          <a:xfrm>
            <a:off x="365760" y="2066544"/>
            <a:ext cx="8412480" cy="402336"/>
          </a:xfrm>
          <a:prstGeom prst="rect">
            <a:avLst/>
          </a:prstGeom>
          <a:solidFill>
            <a:srgbClr val="EBF5FB"/>
          </a:solidFill>
          <a:ln w="12700">
            <a:solidFill>
              <a:srgbClr val="CFD8DC"/>
            </a:solidFill>
            <a:prstDash val="solid"/>
          </a:ln>
        </p:spPr>
      </p:sp>
      <p:sp>
        <p:nvSpPr>
          <p:cNvPr id="15" name="Shape 13"/>
          <p:cNvSpPr/>
          <p:nvPr/>
        </p:nvSpPr>
        <p:spPr>
          <a:xfrm>
            <a:off x="365760" y="2066544"/>
            <a:ext cx="502920" cy="402336"/>
          </a:xfrm>
          <a:prstGeom prst="rect">
            <a:avLst/>
          </a:prstGeom>
          <a:solidFill>
            <a:srgbClr val="00897B"/>
          </a:solidFill>
          <a:ln w="12700">
            <a:solidFill>
              <a:srgbClr val="00897B"/>
            </a:solidFill>
            <a:prstDash val="solid"/>
          </a:ln>
        </p:spPr>
      </p:sp>
      <p:sp>
        <p:nvSpPr>
          <p:cNvPr id="16" name="Text 14"/>
          <p:cNvSpPr/>
          <p:nvPr/>
        </p:nvSpPr>
        <p:spPr>
          <a:xfrm>
            <a:off x="365760" y="2148840"/>
            <a:ext cx="502920" cy="237744"/>
          </a:xfrm>
          <a:prstGeom prst="rect">
            <a:avLst/>
          </a:prstGeom>
          <a:noFill/>
          <a:ln/>
        </p:spPr>
        <p:txBody>
          <a:bodyPr wrap="square" lIns="0" tIns="0" rIns="0" bIns="0" rtlCol="0" anchor="ctr"/>
          <a:lstStyle/>
          <a:p>
            <a:pPr marL="0" indent="0" algn="ctr">
              <a:buNone/>
            </a:pPr>
            <a:r>
              <a:rPr lang="en-US" sz="1100" b="1" dirty="0">
                <a:solidFill>
                  <a:srgbClr val="FFFFFF"/>
                </a:solidFill>
              </a:rPr>
              <a:t>Q3</a:t>
            </a:r>
            <a:endParaRPr lang="en-US" sz="1100" dirty="0"/>
          </a:p>
        </p:txBody>
      </p:sp>
      <p:sp>
        <p:nvSpPr>
          <p:cNvPr id="17" name="Text 15"/>
          <p:cNvSpPr/>
          <p:nvPr/>
        </p:nvSpPr>
        <p:spPr>
          <a:xfrm>
            <a:off x="960120" y="2139696"/>
            <a:ext cx="7726680" cy="274320"/>
          </a:xfrm>
          <a:prstGeom prst="rect">
            <a:avLst/>
          </a:prstGeom>
          <a:noFill/>
          <a:ln/>
        </p:spPr>
        <p:txBody>
          <a:bodyPr wrap="square" lIns="0" tIns="0" rIns="0" bIns="0" rtlCol="0" anchor="ctr"/>
          <a:lstStyle/>
          <a:p>
            <a:pPr marL="0" indent="0">
              <a:buNone/>
            </a:pPr>
            <a:r>
              <a:rPr lang="en-US" sz="1100" dirty="0">
                <a:solidFill>
                  <a:srgbClr val="1C2833"/>
                </a:solidFill>
              </a:rPr>
              <a:t>What is the true impact of discounts (0–40%) on revenue and profitability per order?</a:t>
            </a:r>
            <a:endParaRPr lang="en-US" sz="1100" dirty="0"/>
          </a:p>
        </p:txBody>
      </p:sp>
      <p:sp>
        <p:nvSpPr>
          <p:cNvPr id="18" name="Shape 16"/>
          <p:cNvSpPr/>
          <p:nvPr/>
        </p:nvSpPr>
        <p:spPr>
          <a:xfrm>
            <a:off x="365760" y="2542032"/>
            <a:ext cx="8412480" cy="402336"/>
          </a:xfrm>
          <a:prstGeom prst="rect">
            <a:avLst/>
          </a:prstGeom>
          <a:solidFill>
            <a:srgbClr val="F5F7FA"/>
          </a:solidFill>
          <a:ln w="12700">
            <a:solidFill>
              <a:srgbClr val="CFD8DC"/>
            </a:solidFill>
            <a:prstDash val="solid"/>
          </a:ln>
        </p:spPr>
      </p:sp>
      <p:sp>
        <p:nvSpPr>
          <p:cNvPr id="19" name="Shape 17"/>
          <p:cNvSpPr/>
          <p:nvPr/>
        </p:nvSpPr>
        <p:spPr>
          <a:xfrm>
            <a:off x="365760" y="2542032"/>
            <a:ext cx="502920" cy="402336"/>
          </a:xfrm>
          <a:prstGeom prst="rect">
            <a:avLst/>
          </a:prstGeom>
          <a:solidFill>
            <a:srgbClr val="00897B"/>
          </a:solidFill>
          <a:ln w="12700">
            <a:solidFill>
              <a:srgbClr val="00897B"/>
            </a:solidFill>
            <a:prstDash val="solid"/>
          </a:ln>
        </p:spPr>
      </p:sp>
      <p:sp>
        <p:nvSpPr>
          <p:cNvPr id="20" name="Text 18"/>
          <p:cNvSpPr/>
          <p:nvPr/>
        </p:nvSpPr>
        <p:spPr>
          <a:xfrm>
            <a:off x="365760" y="2624328"/>
            <a:ext cx="502920" cy="237744"/>
          </a:xfrm>
          <a:prstGeom prst="rect">
            <a:avLst/>
          </a:prstGeom>
          <a:noFill/>
          <a:ln/>
        </p:spPr>
        <p:txBody>
          <a:bodyPr wrap="square" lIns="0" tIns="0" rIns="0" bIns="0" rtlCol="0" anchor="ctr"/>
          <a:lstStyle/>
          <a:p>
            <a:pPr marL="0" indent="0" algn="ctr">
              <a:buNone/>
            </a:pPr>
            <a:r>
              <a:rPr lang="en-US" sz="1100" b="1" dirty="0">
                <a:solidFill>
                  <a:srgbClr val="FFFFFF"/>
                </a:solidFill>
              </a:rPr>
              <a:t>Q4</a:t>
            </a:r>
            <a:endParaRPr lang="en-US" sz="1100" dirty="0"/>
          </a:p>
        </p:txBody>
      </p:sp>
      <p:sp>
        <p:nvSpPr>
          <p:cNvPr id="21" name="Text 19"/>
          <p:cNvSpPr/>
          <p:nvPr/>
        </p:nvSpPr>
        <p:spPr>
          <a:xfrm>
            <a:off x="960120" y="2615184"/>
            <a:ext cx="7726680" cy="274320"/>
          </a:xfrm>
          <a:prstGeom prst="rect">
            <a:avLst/>
          </a:prstGeom>
          <a:noFill/>
          <a:ln/>
        </p:spPr>
        <p:txBody>
          <a:bodyPr wrap="square" lIns="0" tIns="0" rIns="0" bIns="0" rtlCol="0" anchor="ctr"/>
          <a:lstStyle/>
          <a:p>
            <a:pPr marL="0" indent="0">
              <a:buNone/>
            </a:pPr>
            <a:r>
              <a:rPr lang="en-US" sz="1100" dirty="0">
                <a:solidFill>
                  <a:srgbClr val="1C2833"/>
                </a:solidFill>
              </a:rPr>
              <a:t>Which product categories and countries have disproportionately high return rates?</a:t>
            </a:r>
            <a:endParaRPr lang="en-US" sz="1100" dirty="0"/>
          </a:p>
        </p:txBody>
      </p:sp>
      <p:sp>
        <p:nvSpPr>
          <p:cNvPr id="22" name="Shape 20"/>
          <p:cNvSpPr/>
          <p:nvPr/>
        </p:nvSpPr>
        <p:spPr>
          <a:xfrm>
            <a:off x="365760" y="3017520"/>
            <a:ext cx="8412480" cy="402336"/>
          </a:xfrm>
          <a:prstGeom prst="rect">
            <a:avLst/>
          </a:prstGeom>
          <a:solidFill>
            <a:srgbClr val="EBF5FB"/>
          </a:solidFill>
          <a:ln w="12700">
            <a:solidFill>
              <a:srgbClr val="CFD8DC"/>
            </a:solidFill>
            <a:prstDash val="solid"/>
          </a:ln>
        </p:spPr>
      </p:sp>
      <p:sp>
        <p:nvSpPr>
          <p:cNvPr id="23" name="Shape 21"/>
          <p:cNvSpPr/>
          <p:nvPr/>
        </p:nvSpPr>
        <p:spPr>
          <a:xfrm>
            <a:off x="365760" y="3017520"/>
            <a:ext cx="502920" cy="402336"/>
          </a:xfrm>
          <a:prstGeom prst="rect">
            <a:avLst/>
          </a:prstGeom>
          <a:solidFill>
            <a:srgbClr val="00897B"/>
          </a:solidFill>
          <a:ln w="12700">
            <a:solidFill>
              <a:srgbClr val="00897B"/>
            </a:solidFill>
            <a:prstDash val="solid"/>
          </a:ln>
        </p:spPr>
      </p:sp>
      <p:sp>
        <p:nvSpPr>
          <p:cNvPr id="24" name="Text 22"/>
          <p:cNvSpPr/>
          <p:nvPr/>
        </p:nvSpPr>
        <p:spPr>
          <a:xfrm>
            <a:off x="365760" y="3099816"/>
            <a:ext cx="502920" cy="237744"/>
          </a:xfrm>
          <a:prstGeom prst="rect">
            <a:avLst/>
          </a:prstGeom>
          <a:noFill/>
          <a:ln/>
        </p:spPr>
        <p:txBody>
          <a:bodyPr wrap="square" lIns="0" tIns="0" rIns="0" bIns="0" rtlCol="0" anchor="ctr"/>
          <a:lstStyle/>
          <a:p>
            <a:pPr marL="0" indent="0" algn="ctr">
              <a:buNone/>
            </a:pPr>
            <a:r>
              <a:rPr lang="en-US" sz="1100" b="1" dirty="0">
                <a:solidFill>
                  <a:srgbClr val="FFFFFF"/>
                </a:solidFill>
              </a:rPr>
              <a:t>Q5</a:t>
            </a:r>
            <a:endParaRPr lang="en-US" sz="1100" dirty="0"/>
          </a:p>
        </p:txBody>
      </p:sp>
      <p:sp>
        <p:nvSpPr>
          <p:cNvPr id="25" name="Text 23"/>
          <p:cNvSpPr/>
          <p:nvPr/>
        </p:nvSpPr>
        <p:spPr>
          <a:xfrm>
            <a:off x="960120" y="3090672"/>
            <a:ext cx="7726680" cy="274320"/>
          </a:xfrm>
          <a:prstGeom prst="rect">
            <a:avLst/>
          </a:prstGeom>
          <a:noFill/>
          <a:ln/>
        </p:spPr>
        <p:txBody>
          <a:bodyPr wrap="square" lIns="0" tIns="0" rIns="0" bIns="0" rtlCol="0" anchor="ctr"/>
          <a:lstStyle/>
          <a:p>
            <a:pPr marL="0" indent="0">
              <a:buNone/>
            </a:pPr>
            <a:r>
              <a:rPr lang="en-US" sz="1100" dirty="0">
                <a:solidFill>
                  <a:srgbClr val="1C2833"/>
                </a:solidFill>
              </a:rPr>
              <a:t>Which of the 5 traffic sources delivers the highest revenue, profit and order volume?</a:t>
            </a:r>
            <a:endParaRPr lang="en-US" sz="1100" dirty="0"/>
          </a:p>
        </p:txBody>
      </p:sp>
      <p:sp>
        <p:nvSpPr>
          <p:cNvPr id="26" name="Shape 24"/>
          <p:cNvSpPr/>
          <p:nvPr/>
        </p:nvSpPr>
        <p:spPr>
          <a:xfrm>
            <a:off x="365760" y="3493008"/>
            <a:ext cx="8412480" cy="402336"/>
          </a:xfrm>
          <a:prstGeom prst="rect">
            <a:avLst/>
          </a:prstGeom>
          <a:solidFill>
            <a:srgbClr val="F5F7FA"/>
          </a:solidFill>
          <a:ln w="12700">
            <a:solidFill>
              <a:srgbClr val="CFD8DC"/>
            </a:solidFill>
            <a:prstDash val="solid"/>
          </a:ln>
        </p:spPr>
      </p:sp>
      <p:sp>
        <p:nvSpPr>
          <p:cNvPr id="27" name="Shape 25"/>
          <p:cNvSpPr/>
          <p:nvPr/>
        </p:nvSpPr>
        <p:spPr>
          <a:xfrm>
            <a:off x="365760" y="3493008"/>
            <a:ext cx="502920" cy="402336"/>
          </a:xfrm>
          <a:prstGeom prst="rect">
            <a:avLst/>
          </a:prstGeom>
          <a:solidFill>
            <a:srgbClr val="00897B"/>
          </a:solidFill>
          <a:ln w="12700">
            <a:solidFill>
              <a:srgbClr val="00897B"/>
            </a:solidFill>
            <a:prstDash val="solid"/>
          </a:ln>
        </p:spPr>
      </p:sp>
      <p:sp>
        <p:nvSpPr>
          <p:cNvPr id="28" name="Text 26"/>
          <p:cNvSpPr/>
          <p:nvPr/>
        </p:nvSpPr>
        <p:spPr>
          <a:xfrm>
            <a:off x="365760" y="3575304"/>
            <a:ext cx="502920" cy="237744"/>
          </a:xfrm>
          <a:prstGeom prst="rect">
            <a:avLst/>
          </a:prstGeom>
          <a:noFill/>
          <a:ln/>
        </p:spPr>
        <p:txBody>
          <a:bodyPr wrap="square" lIns="0" tIns="0" rIns="0" bIns="0" rtlCol="0" anchor="ctr"/>
          <a:lstStyle/>
          <a:p>
            <a:pPr marL="0" indent="0" algn="ctr">
              <a:buNone/>
            </a:pPr>
            <a:r>
              <a:rPr lang="en-US" sz="1100" b="1" dirty="0">
                <a:solidFill>
                  <a:srgbClr val="FFFFFF"/>
                </a:solidFill>
              </a:rPr>
              <a:t>Q6</a:t>
            </a:r>
            <a:endParaRPr lang="en-US" sz="1100" dirty="0"/>
          </a:p>
        </p:txBody>
      </p:sp>
      <p:sp>
        <p:nvSpPr>
          <p:cNvPr id="29" name="Text 27"/>
          <p:cNvSpPr/>
          <p:nvPr/>
        </p:nvSpPr>
        <p:spPr>
          <a:xfrm>
            <a:off x="960120" y="3566160"/>
            <a:ext cx="7726680" cy="274320"/>
          </a:xfrm>
          <a:prstGeom prst="rect">
            <a:avLst/>
          </a:prstGeom>
          <a:noFill/>
          <a:ln/>
        </p:spPr>
        <p:txBody>
          <a:bodyPr wrap="square" lIns="0" tIns="0" rIns="0" bIns="0" rtlCol="0" anchor="ctr"/>
          <a:lstStyle/>
          <a:p>
            <a:pPr marL="0" indent="0">
              <a:buNone/>
            </a:pPr>
            <a:r>
              <a:rPr lang="en-US" sz="1100" dirty="0">
                <a:solidFill>
                  <a:srgbClr val="1C2833"/>
                </a:solidFill>
              </a:rPr>
              <a:t>How do revenue, ratings and order volumes differ across 7 countries?</a:t>
            </a:r>
            <a:endParaRPr lang="en-US" sz="1100" dirty="0"/>
          </a:p>
        </p:txBody>
      </p:sp>
      <p:sp>
        <p:nvSpPr>
          <p:cNvPr id="30" name="Shape 28"/>
          <p:cNvSpPr/>
          <p:nvPr/>
        </p:nvSpPr>
        <p:spPr>
          <a:xfrm>
            <a:off x="365760" y="3968496"/>
            <a:ext cx="8412480" cy="402336"/>
          </a:xfrm>
          <a:prstGeom prst="rect">
            <a:avLst/>
          </a:prstGeom>
          <a:solidFill>
            <a:srgbClr val="EBF5FB"/>
          </a:solidFill>
          <a:ln w="12700">
            <a:solidFill>
              <a:srgbClr val="CFD8DC"/>
            </a:solidFill>
            <a:prstDash val="solid"/>
          </a:ln>
        </p:spPr>
      </p:sp>
      <p:sp>
        <p:nvSpPr>
          <p:cNvPr id="31" name="Shape 29"/>
          <p:cNvSpPr/>
          <p:nvPr/>
        </p:nvSpPr>
        <p:spPr>
          <a:xfrm>
            <a:off x="365760" y="3968496"/>
            <a:ext cx="502920" cy="402336"/>
          </a:xfrm>
          <a:prstGeom prst="rect">
            <a:avLst/>
          </a:prstGeom>
          <a:solidFill>
            <a:srgbClr val="00897B"/>
          </a:solidFill>
          <a:ln w="12700">
            <a:solidFill>
              <a:srgbClr val="00897B"/>
            </a:solidFill>
            <a:prstDash val="solid"/>
          </a:ln>
        </p:spPr>
      </p:sp>
      <p:sp>
        <p:nvSpPr>
          <p:cNvPr id="32" name="Text 30"/>
          <p:cNvSpPr/>
          <p:nvPr/>
        </p:nvSpPr>
        <p:spPr>
          <a:xfrm>
            <a:off x="365760" y="4050792"/>
            <a:ext cx="502920" cy="237744"/>
          </a:xfrm>
          <a:prstGeom prst="rect">
            <a:avLst/>
          </a:prstGeom>
          <a:noFill/>
          <a:ln/>
        </p:spPr>
        <p:txBody>
          <a:bodyPr wrap="square" lIns="0" tIns="0" rIns="0" bIns="0" rtlCol="0" anchor="ctr"/>
          <a:lstStyle/>
          <a:p>
            <a:pPr marL="0" indent="0" algn="ctr">
              <a:buNone/>
            </a:pPr>
            <a:r>
              <a:rPr lang="en-US" sz="1100" b="1" dirty="0">
                <a:solidFill>
                  <a:srgbClr val="FFFFFF"/>
                </a:solidFill>
              </a:rPr>
              <a:t>Q7</a:t>
            </a:r>
            <a:endParaRPr lang="en-US" sz="1100" dirty="0"/>
          </a:p>
        </p:txBody>
      </p:sp>
      <p:sp>
        <p:nvSpPr>
          <p:cNvPr id="33" name="Text 31"/>
          <p:cNvSpPr/>
          <p:nvPr/>
        </p:nvSpPr>
        <p:spPr>
          <a:xfrm>
            <a:off x="960120" y="4041648"/>
            <a:ext cx="7726680" cy="274320"/>
          </a:xfrm>
          <a:prstGeom prst="rect">
            <a:avLst/>
          </a:prstGeom>
          <a:noFill/>
          <a:ln/>
        </p:spPr>
        <p:txBody>
          <a:bodyPr wrap="square" lIns="0" tIns="0" rIns="0" bIns="0" rtlCol="0" anchor="ctr"/>
          <a:lstStyle/>
          <a:p>
            <a:pPr marL="0" indent="0">
              <a:buNone/>
            </a:pPr>
            <a:r>
              <a:rPr lang="en-US" sz="1100" dirty="0">
                <a:solidFill>
                  <a:srgbClr val="1C2833"/>
                </a:solidFill>
              </a:rPr>
              <a:t>How strongly are revenue, profit, discount%, quantity and shipping_cost correlated?</a:t>
            </a:r>
            <a:endParaRPr lang="en-US" sz="1100" dirty="0"/>
          </a:p>
        </p:txBody>
      </p:sp>
      <p:sp>
        <p:nvSpPr>
          <p:cNvPr id="34" name="Shape 32"/>
          <p:cNvSpPr/>
          <p:nvPr/>
        </p:nvSpPr>
        <p:spPr>
          <a:xfrm>
            <a:off x="365760" y="4443984"/>
            <a:ext cx="8412480" cy="402336"/>
          </a:xfrm>
          <a:prstGeom prst="rect">
            <a:avLst/>
          </a:prstGeom>
          <a:solidFill>
            <a:srgbClr val="F5F7FA"/>
          </a:solidFill>
          <a:ln w="12700">
            <a:solidFill>
              <a:srgbClr val="CFD8DC"/>
            </a:solidFill>
            <a:prstDash val="solid"/>
          </a:ln>
        </p:spPr>
      </p:sp>
      <p:sp>
        <p:nvSpPr>
          <p:cNvPr id="35" name="Shape 33"/>
          <p:cNvSpPr/>
          <p:nvPr/>
        </p:nvSpPr>
        <p:spPr>
          <a:xfrm>
            <a:off x="365760" y="4443984"/>
            <a:ext cx="502920" cy="402336"/>
          </a:xfrm>
          <a:prstGeom prst="rect">
            <a:avLst/>
          </a:prstGeom>
          <a:solidFill>
            <a:srgbClr val="00897B"/>
          </a:solidFill>
          <a:ln w="12700">
            <a:solidFill>
              <a:srgbClr val="00897B"/>
            </a:solidFill>
            <a:prstDash val="solid"/>
          </a:ln>
        </p:spPr>
      </p:sp>
      <p:sp>
        <p:nvSpPr>
          <p:cNvPr id="36" name="Text 34"/>
          <p:cNvSpPr/>
          <p:nvPr/>
        </p:nvSpPr>
        <p:spPr>
          <a:xfrm>
            <a:off x="365760" y="4526280"/>
            <a:ext cx="502920" cy="237744"/>
          </a:xfrm>
          <a:prstGeom prst="rect">
            <a:avLst/>
          </a:prstGeom>
          <a:noFill/>
          <a:ln/>
        </p:spPr>
        <p:txBody>
          <a:bodyPr wrap="square" lIns="0" tIns="0" rIns="0" bIns="0" rtlCol="0" anchor="ctr"/>
          <a:lstStyle/>
          <a:p>
            <a:pPr marL="0" indent="0" algn="ctr">
              <a:buNone/>
            </a:pPr>
            <a:r>
              <a:rPr lang="en-US" sz="1100" b="1" dirty="0">
                <a:solidFill>
                  <a:srgbClr val="FFFFFF"/>
                </a:solidFill>
              </a:rPr>
              <a:t>Q8</a:t>
            </a:r>
            <a:endParaRPr lang="en-US" sz="1100" dirty="0"/>
          </a:p>
        </p:txBody>
      </p:sp>
      <p:sp>
        <p:nvSpPr>
          <p:cNvPr id="37" name="Text 35"/>
          <p:cNvSpPr/>
          <p:nvPr/>
        </p:nvSpPr>
        <p:spPr>
          <a:xfrm>
            <a:off x="960120" y="4517136"/>
            <a:ext cx="7726680" cy="274320"/>
          </a:xfrm>
          <a:prstGeom prst="rect">
            <a:avLst/>
          </a:prstGeom>
          <a:noFill/>
          <a:ln/>
        </p:spPr>
        <p:txBody>
          <a:bodyPr wrap="square" lIns="0" tIns="0" rIns="0" bIns="0" rtlCol="0" anchor="ctr"/>
          <a:lstStyle/>
          <a:p>
            <a:pPr marL="0" indent="0">
              <a:buNone/>
            </a:pPr>
            <a:r>
              <a:rPr lang="en-US" sz="1100" dirty="0">
                <a:solidFill>
                  <a:srgbClr val="1C2833"/>
                </a:solidFill>
              </a:rPr>
              <a:t>Are there significant outliers in revenue/profit that could distort business decisions?</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03  Sales Performance — Yearly Revenue &amp; Profit Trend</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2023 → 2024 full years; 2025 partial (Jan–Jun)</a:t>
            </a:r>
            <a:endParaRPr lang="en-US" sz="1100" dirty="0"/>
          </a:p>
        </p:txBody>
      </p:sp>
      <p:graphicFrame>
        <p:nvGraphicFramePr>
          <p:cNvPr id="6" name="Chart 0"/>
          <p:cNvGraphicFramePr/>
          <p:nvPr>
            <p:extLst>
              <p:ext uri="{D42A27DB-BD31-4B8C-83A1-F6EECF244321}">
                <p14:modId xmlns:p14="http://schemas.microsoft.com/office/powerpoint/2010/main" val="3281879385"/>
              </p:ext>
            </p:extLst>
          </p:nvPr>
        </p:nvGraphicFramePr>
        <p:xfrm>
          <a:off x="173182" y="1078991"/>
          <a:ext cx="5678978" cy="3867081"/>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035040" y="1078992"/>
            <a:ext cx="2788920" cy="386708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8" name="Shape 5"/>
          <p:cNvSpPr/>
          <p:nvPr/>
        </p:nvSpPr>
        <p:spPr>
          <a:xfrm>
            <a:off x="6035040" y="1078992"/>
            <a:ext cx="2788920" cy="384048"/>
          </a:xfrm>
          <a:prstGeom prst="rect">
            <a:avLst/>
          </a:prstGeom>
          <a:solidFill>
            <a:srgbClr val="0D1B2A"/>
          </a:solidFill>
          <a:ln w="12700">
            <a:solidFill>
              <a:srgbClr val="0D1B2A"/>
            </a:solidFill>
            <a:prstDash val="solid"/>
          </a:ln>
        </p:spPr>
      </p:sp>
      <p:sp>
        <p:nvSpPr>
          <p:cNvPr id="9" name="Text 6"/>
          <p:cNvSpPr/>
          <p:nvPr/>
        </p:nvSpPr>
        <p:spPr>
          <a:xfrm>
            <a:off x="6126480" y="1124712"/>
            <a:ext cx="2606040" cy="292608"/>
          </a:xfrm>
          <a:prstGeom prst="rect">
            <a:avLst/>
          </a:prstGeom>
          <a:noFill/>
          <a:ln/>
        </p:spPr>
        <p:txBody>
          <a:bodyPr wrap="square" lIns="0" tIns="0" rIns="0" bIns="0" rtlCol="0" anchor="ctr"/>
          <a:lstStyle/>
          <a:p>
            <a:pPr marL="0" indent="0">
              <a:buNone/>
            </a:pPr>
            <a:r>
              <a:rPr lang="en-US" sz="1200" b="1" dirty="0">
                <a:solidFill>
                  <a:srgbClr val="FFFFFF"/>
                </a:solidFill>
              </a:rPr>
              <a:t>📊  Insights</a:t>
            </a:r>
            <a:endParaRPr lang="en-US" sz="1200" dirty="0"/>
          </a:p>
        </p:txBody>
      </p:sp>
      <p:sp>
        <p:nvSpPr>
          <p:cNvPr id="10" name="Text 7"/>
          <p:cNvSpPr/>
          <p:nvPr/>
        </p:nvSpPr>
        <p:spPr>
          <a:xfrm>
            <a:off x="6126480" y="1572768"/>
            <a:ext cx="2606040" cy="566928"/>
          </a:xfrm>
          <a:prstGeom prst="rect">
            <a:avLst/>
          </a:prstGeom>
          <a:noFill/>
          <a:ln/>
        </p:spPr>
        <p:txBody>
          <a:bodyPr wrap="square" lIns="0" tIns="0" rIns="0" bIns="0" rtlCol="0" anchor="ctr"/>
          <a:lstStyle/>
          <a:p>
            <a:pPr marL="0" indent="0">
              <a:buNone/>
            </a:pPr>
            <a:r>
              <a:rPr lang="en-US" sz="980" b="1" dirty="0">
                <a:solidFill>
                  <a:srgbClr val="00897B"/>
                </a:solidFill>
              </a:rPr>
              <a:t>▸  </a:t>
            </a:r>
            <a:r>
              <a:rPr lang="en-US" sz="980" dirty="0">
                <a:solidFill>
                  <a:srgbClr val="1C2833"/>
                </a:solidFill>
              </a:rPr>
              <a:t>2024 revenue ₹2.42 Cr exceeded 2023 (₹2.41 Cr) — a +0.46% YoY growth, showing steady momentum.</a:t>
            </a:r>
            <a:endParaRPr lang="en-US" sz="980" dirty="0"/>
          </a:p>
        </p:txBody>
      </p:sp>
      <p:sp>
        <p:nvSpPr>
          <p:cNvPr id="11" name="Text 8"/>
          <p:cNvSpPr/>
          <p:nvPr/>
        </p:nvSpPr>
        <p:spPr>
          <a:xfrm>
            <a:off x="6126480" y="2176272"/>
            <a:ext cx="2606040" cy="566928"/>
          </a:xfrm>
          <a:prstGeom prst="rect">
            <a:avLst/>
          </a:prstGeom>
          <a:noFill/>
          <a:ln/>
        </p:spPr>
        <p:txBody>
          <a:bodyPr wrap="square" lIns="0" tIns="0" rIns="0" bIns="0" rtlCol="0" anchor="ctr"/>
          <a:lstStyle/>
          <a:p>
            <a:pPr marL="0" indent="0">
              <a:buNone/>
            </a:pPr>
            <a:r>
              <a:rPr lang="en-US" sz="980" b="1" dirty="0">
                <a:solidFill>
                  <a:srgbClr val="00897B"/>
                </a:solidFill>
              </a:rPr>
              <a:t>▸  </a:t>
            </a:r>
            <a:r>
              <a:rPr lang="en-US" sz="980" dirty="0">
                <a:solidFill>
                  <a:srgbClr val="1C2833"/>
                </a:solidFill>
              </a:rPr>
              <a:t>2025 mid-year revenue (₹1.13 Cr) is pacing to match 2024 annualised figure.</a:t>
            </a:r>
            <a:endParaRPr lang="en-US" sz="980" dirty="0"/>
          </a:p>
        </p:txBody>
      </p:sp>
      <p:sp>
        <p:nvSpPr>
          <p:cNvPr id="12" name="Text 9"/>
          <p:cNvSpPr/>
          <p:nvPr/>
        </p:nvSpPr>
        <p:spPr>
          <a:xfrm>
            <a:off x="6126480" y="2779776"/>
            <a:ext cx="2606040" cy="566928"/>
          </a:xfrm>
          <a:prstGeom prst="rect">
            <a:avLst/>
          </a:prstGeom>
          <a:noFill/>
          <a:ln/>
        </p:spPr>
        <p:txBody>
          <a:bodyPr wrap="square" lIns="0" tIns="0" rIns="0" bIns="0" rtlCol="0" anchor="ctr"/>
          <a:lstStyle/>
          <a:p>
            <a:pPr marL="0" indent="0">
              <a:buNone/>
            </a:pPr>
            <a:r>
              <a:rPr lang="en-US" sz="980" b="1" dirty="0">
                <a:solidFill>
                  <a:srgbClr val="00897B"/>
                </a:solidFill>
              </a:rPr>
              <a:t>▸  </a:t>
            </a:r>
            <a:r>
              <a:rPr lang="en-US" sz="980" dirty="0">
                <a:solidFill>
                  <a:srgbClr val="1C2833"/>
                </a:solidFill>
              </a:rPr>
              <a:t>Profit closely tracks revenue each year — indicating stable cost structure.</a:t>
            </a:r>
            <a:endParaRPr lang="en-US" sz="980" dirty="0"/>
          </a:p>
        </p:txBody>
      </p:sp>
      <p:sp>
        <p:nvSpPr>
          <p:cNvPr id="13" name="Text 10"/>
          <p:cNvSpPr/>
          <p:nvPr/>
        </p:nvSpPr>
        <p:spPr>
          <a:xfrm>
            <a:off x="6126480" y="3383280"/>
            <a:ext cx="2606040" cy="566928"/>
          </a:xfrm>
          <a:prstGeom prst="rect">
            <a:avLst/>
          </a:prstGeom>
          <a:noFill/>
          <a:ln/>
        </p:spPr>
        <p:txBody>
          <a:bodyPr wrap="square" lIns="0" tIns="0" rIns="0" bIns="0" rtlCol="0" anchor="ctr"/>
          <a:lstStyle/>
          <a:p>
            <a:pPr marL="0" indent="0">
              <a:buNone/>
            </a:pPr>
            <a:r>
              <a:rPr lang="en-US" sz="980" b="1" dirty="0">
                <a:solidFill>
                  <a:srgbClr val="00897B"/>
                </a:solidFill>
              </a:rPr>
              <a:t>▸  </a:t>
            </a:r>
            <a:r>
              <a:rPr lang="en-US" sz="980" dirty="0">
                <a:solidFill>
                  <a:srgbClr val="1C2833"/>
                </a:solidFill>
              </a:rPr>
              <a:t>Profit margin held above 98.6% each year</a:t>
            </a:r>
            <a:endParaRPr lang="en-US" sz="980" dirty="0"/>
          </a:p>
        </p:txBody>
      </p:sp>
      <p:sp>
        <p:nvSpPr>
          <p:cNvPr id="14" name="Text 11"/>
          <p:cNvSpPr/>
          <p:nvPr/>
        </p:nvSpPr>
        <p:spPr>
          <a:xfrm>
            <a:off x="6126480" y="3986784"/>
            <a:ext cx="2606040" cy="566928"/>
          </a:xfrm>
          <a:prstGeom prst="rect">
            <a:avLst/>
          </a:prstGeom>
          <a:noFill/>
          <a:ln/>
        </p:spPr>
        <p:txBody>
          <a:bodyPr wrap="square" lIns="0" tIns="0" rIns="0" bIns="0" rtlCol="0" anchor="ctr"/>
          <a:lstStyle/>
          <a:p>
            <a:pPr marL="0" indent="0">
              <a:buNone/>
            </a:pPr>
            <a:r>
              <a:rPr lang="en-US" sz="980" b="1" dirty="0">
                <a:solidFill>
                  <a:srgbClr val="00897B"/>
                </a:solidFill>
              </a:rPr>
              <a:t>▸  </a:t>
            </a:r>
            <a:r>
              <a:rPr lang="en-US" sz="980" dirty="0">
                <a:solidFill>
                  <a:srgbClr val="1C2833"/>
                </a:solidFill>
              </a:rPr>
              <a:t>*2025 covers only Jan–Jun; full-year projection ≈ ₹2.26 Cr.</a:t>
            </a:r>
            <a:endParaRPr lang="en-US" sz="98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03  Sales Performance — Monthly Revenue Pattern</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Aggregated across 2023–2025 (all years combined)</a:t>
            </a:r>
            <a:endParaRPr lang="en-US" sz="1100" dirty="0"/>
          </a:p>
        </p:txBody>
      </p:sp>
      <p:graphicFrame>
        <p:nvGraphicFramePr>
          <p:cNvPr id="6" name="Chart 0"/>
          <p:cNvGraphicFramePr/>
          <p:nvPr>
            <p:extLst>
              <p:ext uri="{D42A27DB-BD31-4B8C-83A1-F6EECF244321}">
                <p14:modId xmlns:p14="http://schemas.microsoft.com/office/powerpoint/2010/main" val="701777130"/>
              </p:ext>
            </p:extLst>
          </p:nvPr>
        </p:nvGraphicFramePr>
        <p:xfrm>
          <a:off x="365760" y="1078992"/>
          <a:ext cx="841248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365760" y="4142232"/>
            <a:ext cx="1993392" cy="7498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8" name="Shape 5"/>
          <p:cNvSpPr/>
          <p:nvPr/>
        </p:nvSpPr>
        <p:spPr>
          <a:xfrm>
            <a:off x="365760" y="4142232"/>
            <a:ext cx="1993392" cy="54864"/>
          </a:xfrm>
          <a:prstGeom prst="rect">
            <a:avLst/>
          </a:prstGeom>
          <a:solidFill>
            <a:srgbClr val="2E7D32"/>
          </a:solidFill>
          <a:ln w="12700">
            <a:solidFill>
              <a:srgbClr val="2E7D32"/>
            </a:solidFill>
            <a:prstDash val="solid"/>
          </a:ln>
        </p:spPr>
      </p:sp>
      <p:sp>
        <p:nvSpPr>
          <p:cNvPr id="9" name="Text 6"/>
          <p:cNvSpPr/>
          <p:nvPr/>
        </p:nvSpPr>
        <p:spPr>
          <a:xfrm>
            <a:off x="457200" y="4197096"/>
            <a:ext cx="1810512" cy="256032"/>
          </a:xfrm>
          <a:prstGeom prst="rect">
            <a:avLst/>
          </a:prstGeom>
          <a:noFill/>
          <a:ln/>
        </p:spPr>
        <p:txBody>
          <a:bodyPr wrap="square" lIns="0" tIns="0" rIns="0" bIns="0" rtlCol="0" anchor="ctr"/>
          <a:lstStyle/>
          <a:p>
            <a:pPr marL="0" indent="0">
              <a:buNone/>
            </a:pPr>
            <a:r>
              <a:rPr lang="en-US" sz="950" b="1" dirty="0">
                <a:solidFill>
                  <a:srgbClr val="78909C"/>
                </a:solidFill>
              </a:rPr>
              <a:t>🔺 Peak</a:t>
            </a:r>
            <a:endParaRPr lang="en-US" sz="950" dirty="0"/>
          </a:p>
        </p:txBody>
      </p:sp>
      <p:sp>
        <p:nvSpPr>
          <p:cNvPr id="10" name="Text 7"/>
          <p:cNvSpPr/>
          <p:nvPr/>
        </p:nvSpPr>
        <p:spPr>
          <a:xfrm>
            <a:off x="457200" y="4462272"/>
            <a:ext cx="1810512" cy="365760"/>
          </a:xfrm>
          <a:prstGeom prst="rect">
            <a:avLst/>
          </a:prstGeom>
          <a:noFill/>
          <a:ln/>
        </p:spPr>
        <p:txBody>
          <a:bodyPr wrap="square" lIns="0" tIns="0" rIns="0" bIns="0" rtlCol="0" anchor="ctr"/>
          <a:lstStyle/>
          <a:p>
            <a:pPr marL="0" indent="0">
              <a:buNone/>
            </a:pPr>
            <a:r>
              <a:rPr lang="en-US" sz="1200" b="1" dirty="0">
                <a:solidFill>
                  <a:srgbClr val="0D1B2A"/>
                </a:solidFill>
              </a:rPr>
              <a:t>May — ₹62.9L</a:t>
            </a:r>
            <a:endParaRPr lang="en-US" sz="1200" dirty="0"/>
          </a:p>
        </p:txBody>
      </p:sp>
      <p:sp>
        <p:nvSpPr>
          <p:cNvPr id="11" name="Shape 8"/>
          <p:cNvSpPr/>
          <p:nvPr/>
        </p:nvSpPr>
        <p:spPr>
          <a:xfrm>
            <a:off x="2487168" y="4142232"/>
            <a:ext cx="1993392" cy="7498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2" name="Shape 9"/>
          <p:cNvSpPr/>
          <p:nvPr/>
        </p:nvSpPr>
        <p:spPr>
          <a:xfrm>
            <a:off x="2487168" y="4142232"/>
            <a:ext cx="1993392" cy="54864"/>
          </a:xfrm>
          <a:prstGeom prst="rect">
            <a:avLst/>
          </a:prstGeom>
          <a:solidFill>
            <a:srgbClr val="E53935"/>
          </a:solidFill>
          <a:ln w="12700">
            <a:solidFill>
              <a:srgbClr val="E53935"/>
            </a:solidFill>
            <a:prstDash val="solid"/>
          </a:ln>
        </p:spPr>
      </p:sp>
      <p:sp>
        <p:nvSpPr>
          <p:cNvPr id="13" name="Text 10"/>
          <p:cNvSpPr/>
          <p:nvPr/>
        </p:nvSpPr>
        <p:spPr>
          <a:xfrm>
            <a:off x="2578608" y="4197096"/>
            <a:ext cx="1810512" cy="256032"/>
          </a:xfrm>
          <a:prstGeom prst="rect">
            <a:avLst/>
          </a:prstGeom>
          <a:noFill/>
          <a:ln/>
        </p:spPr>
        <p:txBody>
          <a:bodyPr wrap="square" lIns="0" tIns="0" rIns="0" bIns="0" rtlCol="0" anchor="ctr"/>
          <a:lstStyle/>
          <a:p>
            <a:pPr marL="0" indent="0">
              <a:buNone/>
            </a:pPr>
            <a:r>
              <a:rPr lang="en-US" sz="950" b="1" dirty="0">
                <a:solidFill>
                  <a:srgbClr val="78909C"/>
                </a:solidFill>
              </a:rPr>
              <a:t>🔻 Lowest</a:t>
            </a:r>
            <a:endParaRPr lang="en-US" sz="950" dirty="0"/>
          </a:p>
        </p:txBody>
      </p:sp>
      <p:sp>
        <p:nvSpPr>
          <p:cNvPr id="14" name="Text 11"/>
          <p:cNvSpPr/>
          <p:nvPr/>
        </p:nvSpPr>
        <p:spPr>
          <a:xfrm>
            <a:off x="2578608" y="4462272"/>
            <a:ext cx="1810512" cy="365760"/>
          </a:xfrm>
          <a:prstGeom prst="rect">
            <a:avLst/>
          </a:prstGeom>
          <a:noFill/>
          <a:ln/>
        </p:spPr>
        <p:txBody>
          <a:bodyPr wrap="square" lIns="0" tIns="0" rIns="0" bIns="0" rtlCol="0" anchor="ctr"/>
          <a:lstStyle/>
          <a:p>
            <a:pPr marL="0" indent="0">
              <a:buNone/>
            </a:pPr>
            <a:r>
              <a:rPr lang="en-US" sz="1200" b="1" dirty="0">
                <a:solidFill>
                  <a:srgbClr val="0D1B2A"/>
                </a:solidFill>
              </a:rPr>
              <a:t>Nov — ₹39.3L</a:t>
            </a:r>
            <a:endParaRPr lang="en-US" sz="1200" dirty="0"/>
          </a:p>
        </p:txBody>
      </p:sp>
      <p:sp>
        <p:nvSpPr>
          <p:cNvPr id="15" name="Shape 12"/>
          <p:cNvSpPr/>
          <p:nvPr/>
        </p:nvSpPr>
        <p:spPr>
          <a:xfrm>
            <a:off x="4608576" y="4142232"/>
            <a:ext cx="1993392" cy="7498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6" name="Shape 13"/>
          <p:cNvSpPr/>
          <p:nvPr/>
        </p:nvSpPr>
        <p:spPr>
          <a:xfrm>
            <a:off x="4608576" y="4142232"/>
            <a:ext cx="1993392" cy="54864"/>
          </a:xfrm>
          <a:prstGeom prst="rect">
            <a:avLst/>
          </a:prstGeom>
          <a:solidFill>
            <a:srgbClr val="FFB300"/>
          </a:solidFill>
          <a:ln w="12700">
            <a:solidFill>
              <a:srgbClr val="FFB300"/>
            </a:solidFill>
            <a:prstDash val="solid"/>
          </a:ln>
        </p:spPr>
      </p:sp>
      <p:sp>
        <p:nvSpPr>
          <p:cNvPr id="17" name="Text 14"/>
          <p:cNvSpPr/>
          <p:nvPr/>
        </p:nvSpPr>
        <p:spPr>
          <a:xfrm>
            <a:off x="4700016" y="4197096"/>
            <a:ext cx="1810512" cy="256032"/>
          </a:xfrm>
          <a:prstGeom prst="rect">
            <a:avLst/>
          </a:prstGeom>
          <a:noFill/>
          <a:ln/>
        </p:spPr>
        <p:txBody>
          <a:bodyPr wrap="square" lIns="0" tIns="0" rIns="0" bIns="0" rtlCol="0" anchor="ctr"/>
          <a:lstStyle/>
          <a:p>
            <a:pPr marL="0" indent="0">
              <a:buNone/>
            </a:pPr>
            <a:r>
              <a:rPr lang="en-US" sz="950" b="1" dirty="0">
                <a:solidFill>
                  <a:srgbClr val="78909C"/>
                </a:solidFill>
              </a:rPr>
              <a:t>📉 Drop</a:t>
            </a:r>
            <a:endParaRPr lang="en-US" sz="950" dirty="0"/>
          </a:p>
        </p:txBody>
      </p:sp>
      <p:sp>
        <p:nvSpPr>
          <p:cNvPr id="18" name="Text 15"/>
          <p:cNvSpPr/>
          <p:nvPr/>
        </p:nvSpPr>
        <p:spPr>
          <a:xfrm>
            <a:off x="4700016" y="4462272"/>
            <a:ext cx="1810512" cy="365760"/>
          </a:xfrm>
          <a:prstGeom prst="rect">
            <a:avLst/>
          </a:prstGeom>
          <a:noFill/>
          <a:ln/>
        </p:spPr>
        <p:txBody>
          <a:bodyPr wrap="square" lIns="0" tIns="0" rIns="0" bIns="0" rtlCol="0" anchor="ctr"/>
          <a:lstStyle/>
          <a:p>
            <a:pPr marL="0" indent="0">
              <a:buNone/>
            </a:pPr>
            <a:r>
              <a:rPr lang="en-US" sz="1200" b="1" dirty="0">
                <a:solidFill>
                  <a:srgbClr val="0D1B2A"/>
                </a:solidFill>
              </a:rPr>
              <a:t>Jun→Jul: −22%</a:t>
            </a:r>
            <a:endParaRPr lang="en-US" sz="1200" dirty="0"/>
          </a:p>
        </p:txBody>
      </p:sp>
      <p:sp>
        <p:nvSpPr>
          <p:cNvPr id="19" name="Shape 16"/>
          <p:cNvSpPr/>
          <p:nvPr/>
        </p:nvSpPr>
        <p:spPr>
          <a:xfrm>
            <a:off x="6729984" y="4142232"/>
            <a:ext cx="1993392" cy="749808"/>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20" name="Shape 17"/>
          <p:cNvSpPr/>
          <p:nvPr/>
        </p:nvSpPr>
        <p:spPr>
          <a:xfrm>
            <a:off x="6729984" y="4142232"/>
            <a:ext cx="1993392" cy="54864"/>
          </a:xfrm>
          <a:prstGeom prst="rect">
            <a:avLst/>
          </a:prstGeom>
          <a:solidFill>
            <a:srgbClr val="00897B"/>
          </a:solidFill>
          <a:ln w="12700">
            <a:solidFill>
              <a:srgbClr val="00897B"/>
            </a:solidFill>
            <a:prstDash val="solid"/>
          </a:ln>
        </p:spPr>
      </p:sp>
      <p:sp>
        <p:nvSpPr>
          <p:cNvPr id="21" name="Text 18"/>
          <p:cNvSpPr/>
          <p:nvPr/>
        </p:nvSpPr>
        <p:spPr>
          <a:xfrm>
            <a:off x="6821424" y="4197096"/>
            <a:ext cx="1810512" cy="256032"/>
          </a:xfrm>
          <a:prstGeom prst="rect">
            <a:avLst/>
          </a:prstGeom>
          <a:noFill/>
          <a:ln/>
        </p:spPr>
        <p:txBody>
          <a:bodyPr wrap="square" lIns="0" tIns="0" rIns="0" bIns="0" rtlCol="0" anchor="ctr"/>
          <a:lstStyle/>
          <a:p>
            <a:pPr marL="0" indent="0">
              <a:buNone/>
            </a:pPr>
            <a:r>
              <a:rPr lang="en-US" sz="950" b="1" dirty="0">
                <a:solidFill>
                  <a:srgbClr val="78909C"/>
                </a:solidFill>
              </a:rPr>
              <a:t>📅 Pattern</a:t>
            </a:r>
            <a:endParaRPr lang="en-US" sz="950" dirty="0"/>
          </a:p>
        </p:txBody>
      </p:sp>
      <p:sp>
        <p:nvSpPr>
          <p:cNvPr id="22" name="Text 19"/>
          <p:cNvSpPr/>
          <p:nvPr/>
        </p:nvSpPr>
        <p:spPr>
          <a:xfrm>
            <a:off x="6821424" y="4462272"/>
            <a:ext cx="1810512" cy="365760"/>
          </a:xfrm>
          <a:prstGeom prst="rect">
            <a:avLst/>
          </a:prstGeom>
          <a:noFill/>
          <a:ln/>
        </p:spPr>
        <p:txBody>
          <a:bodyPr wrap="square" lIns="0" tIns="0" rIns="0" bIns="0" rtlCol="0" anchor="ctr"/>
          <a:lstStyle/>
          <a:p>
            <a:pPr marL="0" indent="0">
              <a:buNone/>
            </a:pPr>
            <a:r>
              <a:rPr lang="en-US" sz="1200" b="1" dirty="0">
                <a:solidFill>
                  <a:srgbClr val="0D1B2A"/>
                </a:solidFill>
              </a:rPr>
              <a:t>Q1–Q2 &gt; Q3–Q4</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03  Sales Performance — Quarterly Breakdown</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Revenue distribution across Q1–Q4 (all years)</a:t>
            </a:r>
            <a:endParaRPr lang="en-US" sz="1100" dirty="0"/>
          </a:p>
        </p:txBody>
      </p:sp>
      <p:graphicFrame>
        <p:nvGraphicFramePr>
          <p:cNvPr id="6" name="Chart 0"/>
          <p:cNvGraphicFramePr/>
          <p:nvPr>
            <p:extLst>
              <p:ext uri="{D42A27DB-BD31-4B8C-83A1-F6EECF244321}">
                <p14:modId xmlns:p14="http://schemas.microsoft.com/office/powerpoint/2010/main" val="2349126300"/>
              </p:ext>
            </p:extLst>
          </p:nvPr>
        </p:nvGraphicFramePr>
        <p:xfrm>
          <a:off x="365760" y="1078991"/>
          <a:ext cx="5120640" cy="3860153"/>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669280" y="1293737"/>
            <a:ext cx="3154680" cy="80467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8" name="Shape 5"/>
          <p:cNvSpPr/>
          <p:nvPr/>
        </p:nvSpPr>
        <p:spPr>
          <a:xfrm>
            <a:off x="5669280" y="1293737"/>
            <a:ext cx="502920" cy="804672"/>
          </a:xfrm>
          <a:prstGeom prst="rect">
            <a:avLst/>
          </a:prstGeom>
          <a:solidFill>
            <a:srgbClr val="00897B"/>
          </a:solidFill>
          <a:ln w="12700">
            <a:solidFill>
              <a:srgbClr val="00897B"/>
            </a:solidFill>
            <a:prstDash val="solid"/>
          </a:ln>
        </p:spPr>
      </p:sp>
      <p:sp>
        <p:nvSpPr>
          <p:cNvPr id="9" name="Text 6"/>
          <p:cNvSpPr/>
          <p:nvPr/>
        </p:nvSpPr>
        <p:spPr>
          <a:xfrm>
            <a:off x="5669280" y="1522337"/>
            <a:ext cx="502920" cy="347472"/>
          </a:xfrm>
          <a:prstGeom prst="rect">
            <a:avLst/>
          </a:prstGeom>
          <a:noFill/>
          <a:ln/>
        </p:spPr>
        <p:txBody>
          <a:bodyPr wrap="square" lIns="0" tIns="0" rIns="0" bIns="0" rtlCol="0" anchor="ctr"/>
          <a:lstStyle/>
          <a:p>
            <a:pPr marL="0" indent="0" algn="ctr">
              <a:buNone/>
            </a:pPr>
            <a:r>
              <a:rPr lang="en-US" sz="1400" b="1" dirty="0">
                <a:solidFill>
                  <a:srgbClr val="FFFFFF"/>
                </a:solidFill>
              </a:rPr>
              <a:t>Q1</a:t>
            </a:r>
            <a:endParaRPr lang="en-US" sz="1400" dirty="0"/>
          </a:p>
        </p:txBody>
      </p:sp>
      <p:sp>
        <p:nvSpPr>
          <p:cNvPr id="10" name="Text 7"/>
          <p:cNvSpPr/>
          <p:nvPr/>
        </p:nvSpPr>
        <p:spPr>
          <a:xfrm>
            <a:off x="6263640" y="1385177"/>
            <a:ext cx="2468880" cy="292608"/>
          </a:xfrm>
          <a:prstGeom prst="rect">
            <a:avLst/>
          </a:prstGeom>
          <a:noFill/>
          <a:ln/>
        </p:spPr>
        <p:txBody>
          <a:bodyPr wrap="square" lIns="0" tIns="0" rIns="0" bIns="0" rtlCol="0" anchor="ctr"/>
          <a:lstStyle/>
          <a:p>
            <a:pPr marL="0" indent="0">
              <a:buNone/>
            </a:pPr>
            <a:r>
              <a:rPr lang="en-US" sz="1200" b="1" dirty="0">
                <a:solidFill>
                  <a:srgbClr val="0D1B2A"/>
                </a:solidFill>
              </a:rPr>
              <a:t>₹1.79 Cr (29.9%)</a:t>
            </a:r>
            <a:endParaRPr lang="en-US" sz="1200" dirty="0"/>
          </a:p>
        </p:txBody>
      </p:sp>
      <p:sp>
        <p:nvSpPr>
          <p:cNvPr id="11" name="Text 8"/>
          <p:cNvSpPr/>
          <p:nvPr/>
        </p:nvSpPr>
        <p:spPr>
          <a:xfrm>
            <a:off x="6263640" y="1705217"/>
            <a:ext cx="2468880" cy="329184"/>
          </a:xfrm>
          <a:prstGeom prst="rect">
            <a:avLst/>
          </a:prstGeom>
          <a:noFill/>
          <a:ln/>
        </p:spPr>
        <p:txBody>
          <a:bodyPr wrap="square" lIns="0" tIns="0" rIns="0" bIns="0" rtlCol="0" anchor="ctr"/>
          <a:lstStyle/>
          <a:p>
            <a:pPr marL="0" indent="0">
              <a:buNone/>
            </a:pPr>
            <a:r>
              <a:rPr lang="en-US" sz="950" dirty="0">
                <a:solidFill>
                  <a:srgbClr val="78909C"/>
                </a:solidFill>
              </a:rPr>
              <a:t>Strongest quarter — New Year &amp; spring demand</a:t>
            </a:r>
            <a:endParaRPr lang="en-US" sz="950" dirty="0"/>
          </a:p>
        </p:txBody>
      </p:sp>
      <p:sp>
        <p:nvSpPr>
          <p:cNvPr id="12" name="Shape 9"/>
          <p:cNvSpPr/>
          <p:nvPr/>
        </p:nvSpPr>
        <p:spPr>
          <a:xfrm>
            <a:off x="5669280" y="2185277"/>
            <a:ext cx="3154680" cy="80467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3" name="Shape 10"/>
          <p:cNvSpPr/>
          <p:nvPr/>
        </p:nvSpPr>
        <p:spPr>
          <a:xfrm>
            <a:off x="5669280" y="2185277"/>
            <a:ext cx="502920" cy="804672"/>
          </a:xfrm>
          <a:prstGeom prst="rect">
            <a:avLst/>
          </a:prstGeom>
          <a:solidFill>
            <a:srgbClr val="26A69A"/>
          </a:solidFill>
          <a:ln w="12700">
            <a:solidFill>
              <a:srgbClr val="26A69A"/>
            </a:solidFill>
            <a:prstDash val="solid"/>
          </a:ln>
        </p:spPr>
      </p:sp>
      <p:sp>
        <p:nvSpPr>
          <p:cNvPr id="14" name="Text 11"/>
          <p:cNvSpPr/>
          <p:nvPr/>
        </p:nvSpPr>
        <p:spPr>
          <a:xfrm>
            <a:off x="5669280" y="2413877"/>
            <a:ext cx="502920" cy="347472"/>
          </a:xfrm>
          <a:prstGeom prst="rect">
            <a:avLst/>
          </a:prstGeom>
          <a:noFill/>
          <a:ln/>
        </p:spPr>
        <p:txBody>
          <a:bodyPr wrap="square" lIns="0" tIns="0" rIns="0" bIns="0" rtlCol="0" anchor="ctr"/>
          <a:lstStyle/>
          <a:p>
            <a:pPr marL="0" indent="0" algn="ctr">
              <a:buNone/>
            </a:pPr>
            <a:r>
              <a:rPr lang="en-US" sz="1400" b="1" dirty="0">
                <a:solidFill>
                  <a:srgbClr val="FFFFFF"/>
                </a:solidFill>
              </a:rPr>
              <a:t>Q2</a:t>
            </a:r>
            <a:endParaRPr lang="en-US" sz="1400" dirty="0"/>
          </a:p>
        </p:txBody>
      </p:sp>
      <p:sp>
        <p:nvSpPr>
          <p:cNvPr id="15" name="Text 12"/>
          <p:cNvSpPr/>
          <p:nvPr/>
        </p:nvSpPr>
        <p:spPr>
          <a:xfrm>
            <a:off x="6263640" y="2276717"/>
            <a:ext cx="2468880" cy="292608"/>
          </a:xfrm>
          <a:prstGeom prst="rect">
            <a:avLst/>
          </a:prstGeom>
          <a:noFill/>
          <a:ln/>
        </p:spPr>
        <p:txBody>
          <a:bodyPr wrap="square" lIns="0" tIns="0" rIns="0" bIns="0" rtlCol="0" anchor="ctr"/>
          <a:lstStyle/>
          <a:p>
            <a:pPr marL="0" indent="0">
              <a:buNone/>
            </a:pPr>
            <a:r>
              <a:rPr lang="en-US" sz="1200" b="1" dirty="0">
                <a:solidFill>
                  <a:srgbClr val="0D1B2A"/>
                </a:solidFill>
              </a:rPr>
              <a:t>₹1.75 Cr (29.4%)</a:t>
            </a:r>
            <a:endParaRPr lang="en-US" sz="1200" dirty="0"/>
          </a:p>
        </p:txBody>
      </p:sp>
      <p:sp>
        <p:nvSpPr>
          <p:cNvPr id="16" name="Text 13"/>
          <p:cNvSpPr/>
          <p:nvPr/>
        </p:nvSpPr>
        <p:spPr>
          <a:xfrm>
            <a:off x="6263640" y="2596757"/>
            <a:ext cx="2468880" cy="329184"/>
          </a:xfrm>
          <a:prstGeom prst="rect">
            <a:avLst/>
          </a:prstGeom>
          <a:noFill/>
          <a:ln/>
        </p:spPr>
        <p:txBody>
          <a:bodyPr wrap="square" lIns="0" tIns="0" rIns="0" bIns="0" rtlCol="0" anchor="ctr"/>
          <a:lstStyle/>
          <a:p>
            <a:pPr marL="0" indent="0">
              <a:buNone/>
            </a:pPr>
            <a:r>
              <a:rPr lang="en-US" sz="950" dirty="0">
                <a:solidFill>
                  <a:srgbClr val="78909C"/>
                </a:solidFill>
              </a:rPr>
              <a:t>Near Q1 levels; May peaks within quarter</a:t>
            </a:r>
            <a:endParaRPr lang="en-US" sz="950" dirty="0"/>
          </a:p>
        </p:txBody>
      </p:sp>
      <p:sp>
        <p:nvSpPr>
          <p:cNvPr id="17" name="Shape 14"/>
          <p:cNvSpPr/>
          <p:nvPr/>
        </p:nvSpPr>
        <p:spPr>
          <a:xfrm>
            <a:off x="5669280" y="3076817"/>
            <a:ext cx="3154680" cy="80467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8" name="Shape 15"/>
          <p:cNvSpPr/>
          <p:nvPr/>
        </p:nvSpPr>
        <p:spPr>
          <a:xfrm>
            <a:off x="5669280" y="3076817"/>
            <a:ext cx="502920" cy="804672"/>
          </a:xfrm>
          <a:prstGeom prst="rect">
            <a:avLst/>
          </a:prstGeom>
          <a:solidFill>
            <a:srgbClr val="FFB300"/>
          </a:solidFill>
          <a:ln w="12700">
            <a:solidFill>
              <a:srgbClr val="FFB300"/>
            </a:solidFill>
            <a:prstDash val="solid"/>
          </a:ln>
        </p:spPr>
      </p:sp>
      <p:sp>
        <p:nvSpPr>
          <p:cNvPr id="19" name="Text 16"/>
          <p:cNvSpPr/>
          <p:nvPr/>
        </p:nvSpPr>
        <p:spPr>
          <a:xfrm>
            <a:off x="5669280" y="3305417"/>
            <a:ext cx="502920" cy="347472"/>
          </a:xfrm>
          <a:prstGeom prst="rect">
            <a:avLst/>
          </a:prstGeom>
          <a:noFill/>
          <a:ln/>
        </p:spPr>
        <p:txBody>
          <a:bodyPr wrap="square" lIns="0" tIns="0" rIns="0" bIns="0" rtlCol="0" anchor="ctr"/>
          <a:lstStyle/>
          <a:p>
            <a:pPr marL="0" indent="0" algn="ctr">
              <a:buNone/>
            </a:pPr>
            <a:r>
              <a:rPr lang="en-US" sz="1400" b="1" dirty="0">
                <a:solidFill>
                  <a:srgbClr val="FFFFFF"/>
                </a:solidFill>
              </a:rPr>
              <a:t>Q3</a:t>
            </a:r>
            <a:endParaRPr lang="en-US" sz="1400" dirty="0"/>
          </a:p>
        </p:txBody>
      </p:sp>
      <p:sp>
        <p:nvSpPr>
          <p:cNvPr id="20" name="Text 17"/>
          <p:cNvSpPr/>
          <p:nvPr/>
        </p:nvSpPr>
        <p:spPr>
          <a:xfrm>
            <a:off x="6263640" y="3168257"/>
            <a:ext cx="2468880" cy="292608"/>
          </a:xfrm>
          <a:prstGeom prst="rect">
            <a:avLst/>
          </a:prstGeom>
          <a:noFill/>
          <a:ln/>
        </p:spPr>
        <p:txBody>
          <a:bodyPr wrap="square" lIns="0" tIns="0" rIns="0" bIns="0" rtlCol="0" anchor="ctr"/>
          <a:lstStyle/>
          <a:p>
            <a:pPr marL="0" indent="0">
              <a:buNone/>
            </a:pPr>
            <a:r>
              <a:rPr lang="en-US" sz="1200" b="1" dirty="0">
                <a:solidFill>
                  <a:srgbClr val="0D1B2A"/>
                </a:solidFill>
              </a:rPr>
              <a:t>₹1.22 Cr (20.5%)</a:t>
            </a:r>
            <a:endParaRPr lang="en-US" sz="1200" dirty="0"/>
          </a:p>
        </p:txBody>
      </p:sp>
      <p:sp>
        <p:nvSpPr>
          <p:cNvPr id="21" name="Text 18"/>
          <p:cNvSpPr/>
          <p:nvPr/>
        </p:nvSpPr>
        <p:spPr>
          <a:xfrm>
            <a:off x="6263640" y="3488297"/>
            <a:ext cx="2468880" cy="329184"/>
          </a:xfrm>
          <a:prstGeom prst="rect">
            <a:avLst/>
          </a:prstGeom>
          <a:noFill/>
          <a:ln/>
        </p:spPr>
        <p:txBody>
          <a:bodyPr wrap="square" lIns="0" tIns="0" rIns="0" bIns="0" rtlCol="0" anchor="ctr"/>
          <a:lstStyle/>
          <a:p>
            <a:pPr marL="0" indent="0">
              <a:buNone/>
            </a:pPr>
            <a:r>
              <a:rPr lang="en-US" sz="950" dirty="0">
                <a:solidFill>
                  <a:srgbClr val="78909C"/>
                </a:solidFill>
              </a:rPr>
              <a:t>Sharp drop in Jul; slow summer months</a:t>
            </a:r>
            <a:endParaRPr lang="en-US" sz="950" dirty="0"/>
          </a:p>
        </p:txBody>
      </p:sp>
      <p:sp>
        <p:nvSpPr>
          <p:cNvPr id="22" name="Shape 19"/>
          <p:cNvSpPr/>
          <p:nvPr/>
        </p:nvSpPr>
        <p:spPr>
          <a:xfrm>
            <a:off x="5669280" y="3968357"/>
            <a:ext cx="3154680" cy="80467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23" name="Shape 20"/>
          <p:cNvSpPr/>
          <p:nvPr/>
        </p:nvSpPr>
        <p:spPr>
          <a:xfrm>
            <a:off x="5669280" y="3968357"/>
            <a:ext cx="502920" cy="804672"/>
          </a:xfrm>
          <a:prstGeom prst="rect">
            <a:avLst/>
          </a:prstGeom>
          <a:solidFill>
            <a:srgbClr val="E53935"/>
          </a:solidFill>
          <a:ln w="12700">
            <a:solidFill>
              <a:srgbClr val="E53935"/>
            </a:solidFill>
            <a:prstDash val="solid"/>
          </a:ln>
        </p:spPr>
      </p:sp>
      <p:sp>
        <p:nvSpPr>
          <p:cNvPr id="24" name="Text 21"/>
          <p:cNvSpPr/>
          <p:nvPr/>
        </p:nvSpPr>
        <p:spPr>
          <a:xfrm>
            <a:off x="5669280" y="4196957"/>
            <a:ext cx="502920" cy="347472"/>
          </a:xfrm>
          <a:prstGeom prst="rect">
            <a:avLst/>
          </a:prstGeom>
          <a:noFill/>
          <a:ln/>
        </p:spPr>
        <p:txBody>
          <a:bodyPr wrap="square" lIns="0" tIns="0" rIns="0" bIns="0" rtlCol="0" anchor="ctr"/>
          <a:lstStyle/>
          <a:p>
            <a:pPr marL="0" indent="0" algn="ctr">
              <a:buNone/>
            </a:pPr>
            <a:r>
              <a:rPr lang="en-US" sz="1400" b="1" dirty="0">
                <a:solidFill>
                  <a:srgbClr val="FFFFFF"/>
                </a:solidFill>
              </a:rPr>
              <a:t>Q4</a:t>
            </a:r>
            <a:endParaRPr lang="en-US" sz="1400" dirty="0"/>
          </a:p>
        </p:txBody>
      </p:sp>
      <p:sp>
        <p:nvSpPr>
          <p:cNvPr id="25" name="Text 22"/>
          <p:cNvSpPr/>
          <p:nvPr/>
        </p:nvSpPr>
        <p:spPr>
          <a:xfrm>
            <a:off x="6263640" y="4059797"/>
            <a:ext cx="2468880" cy="292608"/>
          </a:xfrm>
          <a:prstGeom prst="rect">
            <a:avLst/>
          </a:prstGeom>
          <a:noFill/>
          <a:ln/>
        </p:spPr>
        <p:txBody>
          <a:bodyPr wrap="square" lIns="0" tIns="0" rIns="0" bIns="0" rtlCol="0" anchor="ctr"/>
          <a:lstStyle/>
          <a:p>
            <a:pPr marL="0" indent="0">
              <a:buNone/>
            </a:pPr>
            <a:r>
              <a:rPr lang="en-US" sz="1200" b="1" dirty="0">
                <a:solidFill>
                  <a:srgbClr val="0D1B2A"/>
                </a:solidFill>
              </a:rPr>
              <a:t>₹1.20 Cr (20.1%)</a:t>
            </a:r>
            <a:endParaRPr lang="en-US" sz="1200" dirty="0"/>
          </a:p>
        </p:txBody>
      </p:sp>
      <p:sp>
        <p:nvSpPr>
          <p:cNvPr id="26" name="Text 23"/>
          <p:cNvSpPr/>
          <p:nvPr/>
        </p:nvSpPr>
        <p:spPr>
          <a:xfrm>
            <a:off x="6263640" y="4379837"/>
            <a:ext cx="2468880" cy="329184"/>
          </a:xfrm>
          <a:prstGeom prst="rect">
            <a:avLst/>
          </a:prstGeom>
          <a:noFill/>
          <a:ln/>
        </p:spPr>
        <p:txBody>
          <a:bodyPr wrap="square" lIns="0" tIns="0" rIns="0" bIns="0" rtlCol="0" anchor="ctr"/>
          <a:lstStyle/>
          <a:p>
            <a:pPr marL="0" indent="0">
              <a:buNone/>
            </a:pPr>
            <a:r>
              <a:rPr lang="en-US" sz="950" dirty="0">
                <a:solidFill>
                  <a:srgbClr val="78909C"/>
                </a:solidFill>
              </a:rPr>
              <a:t>Lowest — missed festive campaign opportunity</a:t>
            </a:r>
            <a:endParaRPr lang="en-US" sz="9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04  Category Analysis — Revenue by Product Category</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Which category generates the most business value?</a:t>
            </a:r>
            <a:endParaRPr lang="en-US" sz="1100" dirty="0"/>
          </a:p>
        </p:txBody>
      </p:sp>
      <p:graphicFrame>
        <p:nvGraphicFramePr>
          <p:cNvPr id="6" name="Chart 0"/>
          <p:cNvGraphicFramePr/>
          <p:nvPr/>
        </p:nvGraphicFramePr>
        <p:xfrm>
          <a:off x="365760" y="1078992"/>
          <a:ext cx="54864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035040" y="1078992"/>
            <a:ext cx="2788920" cy="365760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8" name="Shape 5"/>
          <p:cNvSpPr/>
          <p:nvPr/>
        </p:nvSpPr>
        <p:spPr>
          <a:xfrm>
            <a:off x="6035040" y="1078992"/>
            <a:ext cx="2788920" cy="347472"/>
          </a:xfrm>
          <a:prstGeom prst="rect">
            <a:avLst/>
          </a:prstGeom>
          <a:solidFill>
            <a:srgbClr val="0D1B2A"/>
          </a:solidFill>
          <a:ln w="12700">
            <a:solidFill>
              <a:srgbClr val="0D1B2A"/>
            </a:solidFill>
            <a:prstDash val="solid"/>
          </a:ln>
        </p:spPr>
      </p:sp>
      <p:sp>
        <p:nvSpPr>
          <p:cNvPr id="9" name="Text 6"/>
          <p:cNvSpPr/>
          <p:nvPr/>
        </p:nvSpPr>
        <p:spPr>
          <a:xfrm>
            <a:off x="6126480" y="1115568"/>
            <a:ext cx="2606040" cy="256032"/>
          </a:xfrm>
          <a:prstGeom prst="rect">
            <a:avLst/>
          </a:prstGeom>
          <a:noFill/>
          <a:ln/>
        </p:spPr>
        <p:txBody>
          <a:bodyPr wrap="square" lIns="0" tIns="0" rIns="0" bIns="0" rtlCol="0" anchor="ctr"/>
          <a:lstStyle/>
          <a:p>
            <a:pPr marL="0" indent="0" algn="ctr">
              <a:buNone/>
            </a:pPr>
            <a:r>
              <a:rPr lang="en-US" sz="1100" b="1" dirty="0">
                <a:solidFill>
                  <a:srgbClr val="FFFFFF"/>
                </a:solidFill>
              </a:rPr>
              <a:t>Rank by Revenue</a:t>
            </a:r>
            <a:endParaRPr lang="en-US" sz="1100" dirty="0"/>
          </a:p>
        </p:txBody>
      </p:sp>
      <p:sp>
        <p:nvSpPr>
          <p:cNvPr id="10" name="Shape 7"/>
          <p:cNvSpPr/>
          <p:nvPr/>
        </p:nvSpPr>
        <p:spPr>
          <a:xfrm>
            <a:off x="6035040" y="1426464"/>
            <a:ext cx="2788920" cy="457200"/>
          </a:xfrm>
          <a:prstGeom prst="rect">
            <a:avLst/>
          </a:prstGeom>
          <a:solidFill>
            <a:srgbClr val="EBF5FB"/>
          </a:solidFill>
          <a:ln w="12700">
            <a:solidFill>
              <a:srgbClr val="CFD8DC"/>
            </a:solidFill>
            <a:prstDash val="solid"/>
          </a:ln>
        </p:spPr>
      </p:sp>
      <p:sp>
        <p:nvSpPr>
          <p:cNvPr id="11" name="Text 8"/>
          <p:cNvSpPr/>
          <p:nvPr/>
        </p:nvSpPr>
        <p:spPr>
          <a:xfrm>
            <a:off x="6080760" y="1517904"/>
            <a:ext cx="365760" cy="274320"/>
          </a:xfrm>
          <a:prstGeom prst="rect">
            <a:avLst/>
          </a:prstGeom>
          <a:noFill/>
          <a:ln/>
        </p:spPr>
        <p:txBody>
          <a:bodyPr wrap="square" lIns="0" tIns="0" rIns="0" bIns="0" rtlCol="0" anchor="ctr"/>
          <a:lstStyle/>
          <a:p>
            <a:pPr marL="0" indent="0">
              <a:buNone/>
            </a:pPr>
            <a:r>
              <a:rPr lang="en-US" sz="1100" b="1" dirty="0">
                <a:solidFill>
                  <a:srgbClr val="00897B"/>
                </a:solidFill>
              </a:rPr>
              <a:t>#1</a:t>
            </a:r>
            <a:endParaRPr lang="en-US" sz="1100" dirty="0"/>
          </a:p>
        </p:txBody>
      </p:sp>
      <p:sp>
        <p:nvSpPr>
          <p:cNvPr id="12" name="Text 9"/>
          <p:cNvSpPr/>
          <p:nvPr/>
        </p:nvSpPr>
        <p:spPr>
          <a:xfrm>
            <a:off x="6473952" y="1481328"/>
            <a:ext cx="1371600" cy="182880"/>
          </a:xfrm>
          <a:prstGeom prst="rect">
            <a:avLst/>
          </a:prstGeom>
          <a:noFill/>
          <a:ln/>
        </p:spPr>
        <p:txBody>
          <a:bodyPr wrap="square" lIns="0" tIns="0" rIns="0" bIns="0" rtlCol="0" anchor="ctr"/>
          <a:lstStyle/>
          <a:p>
            <a:pPr marL="0" indent="0">
              <a:buNone/>
            </a:pPr>
            <a:r>
              <a:rPr lang="en-US" sz="1000" b="1" dirty="0">
                <a:solidFill>
                  <a:srgbClr val="0D1B2A"/>
                </a:solidFill>
              </a:rPr>
              <a:t>Electronics</a:t>
            </a:r>
            <a:endParaRPr lang="en-US" sz="1000" dirty="0"/>
          </a:p>
        </p:txBody>
      </p:sp>
      <p:sp>
        <p:nvSpPr>
          <p:cNvPr id="13" name="Text 10"/>
          <p:cNvSpPr/>
          <p:nvPr/>
        </p:nvSpPr>
        <p:spPr>
          <a:xfrm>
            <a:off x="6473952" y="1664208"/>
            <a:ext cx="1371600" cy="182880"/>
          </a:xfrm>
          <a:prstGeom prst="rect">
            <a:avLst/>
          </a:prstGeom>
          <a:noFill/>
          <a:ln/>
        </p:spPr>
        <p:txBody>
          <a:bodyPr wrap="square" lIns="0" tIns="0" rIns="0" bIns="0" rtlCol="0" anchor="ctr"/>
          <a:lstStyle/>
          <a:p>
            <a:pPr marL="0" indent="0">
              <a:buNone/>
            </a:pPr>
            <a:r>
              <a:rPr lang="en-US" sz="950" dirty="0">
                <a:solidFill>
                  <a:srgbClr val="78909C"/>
                </a:solidFill>
              </a:rPr>
              <a:t>₹87.2L</a:t>
            </a:r>
            <a:endParaRPr lang="en-US" sz="950" dirty="0"/>
          </a:p>
        </p:txBody>
      </p:sp>
      <p:sp>
        <p:nvSpPr>
          <p:cNvPr id="14" name="Shape 11"/>
          <p:cNvSpPr/>
          <p:nvPr/>
        </p:nvSpPr>
        <p:spPr>
          <a:xfrm>
            <a:off x="7909560" y="1563624"/>
            <a:ext cx="778881" cy="182880"/>
          </a:xfrm>
          <a:prstGeom prst="rect">
            <a:avLst/>
          </a:prstGeom>
          <a:solidFill>
            <a:srgbClr val="00897B"/>
          </a:solidFill>
          <a:ln w="12700">
            <a:solidFill>
              <a:srgbClr val="00897B"/>
            </a:solidFill>
            <a:prstDash val="solid"/>
          </a:ln>
        </p:spPr>
      </p:sp>
      <p:sp>
        <p:nvSpPr>
          <p:cNvPr id="15" name="Shape 12"/>
          <p:cNvSpPr/>
          <p:nvPr/>
        </p:nvSpPr>
        <p:spPr>
          <a:xfrm>
            <a:off x="6035040" y="1901952"/>
            <a:ext cx="2788920" cy="457200"/>
          </a:xfrm>
          <a:prstGeom prst="rect">
            <a:avLst/>
          </a:prstGeom>
          <a:solidFill>
            <a:srgbClr val="FFFFFF"/>
          </a:solidFill>
          <a:ln w="12700">
            <a:solidFill>
              <a:srgbClr val="CFD8DC"/>
            </a:solidFill>
            <a:prstDash val="solid"/>
          </a:ln>
        </p:spPr>
      </p:sp>
      <p:sp>
        <p:nvSpPr>
          <p:cNvPr id="16" name="Text 13"/>
          <p:cNvSpPr/>
          <p:nvPr/>
        </p:nvSpPr>
        <p:spPr>
          <a:xfrm>
            <a:off x="6080760" y="1993392"/>
            <a:ext cx="365760" cy="274320"/>
          </a:xfrm>
          <a:prstGeom prst="rect">
            <a:avLst/>
          </a:prstGeom>
          <a:noFill/>
          <a:ln/>
        </p:spPr>
        <p:txBody>
          <a:bodyPr wrap="square" lIns="0" tIns="0" rIns="0" bIns="0" rtlCol="0" anchor="ctr"/>
          <a:lstStyle/>
          <a:p>
            <a:pPr marL="0" indent="0">
              <a:buNone/>
            </a:pPr>
            <a:r>
              <a:rPr lang="en-US" sz="1100" b="1" dirty="0">
                <a:solidFill>
                  <a:srgbClr val="00897B"/>
                </a:solidFill>
              </a:rPr>
              <a:t>#2</a:t>
            </a:r>
            <a:endParaRPr lang="en-US" sz="1100" dirty="0"/>
          </a:p>
        </p:txBody>
      </p:sp>
      <p:sp>
        <p:nvSpPr>
          <p:cNvPr id="17" name="Text 14"/>
          <p:cNvSpPr/>
          <p:nvPr/>
        </p:nvSpPr>
        <p:spPr>
          <a:xfrm>
            <a:off x="6473952" y="1956816"/>
            <a:ext cx="1371600" cy="182880"/>
          </a:xfrm>
          <a:prstGeom prst="rect">
            <a:avLst/>
          </a:prstGeom>
          <a:noFill/>
          <a:ln/>
        </p:spPr>
        <p:txBody>
          <a:bodyPr wrap="square" lIns="0" tIns="0" rIns="0" bIns="0" rtlCol="0" anchor="ctr"/>
          <a:lstStyle/>
          <a:p>
            <a:pPr marL="0" indent="0">
              <a:buNone/>
            </a:pPr>
            <a:r>
              <a:rPr lang="en-US" sz="1000" b="1" dirty="0">
                <a:solidFill>
                  <a:srgbClr val="0D1B2A"/>
                </a:solidFill>
              </a:rPr>
              <a:t>Accessories</a:t>
            </a:r>
            <a:endParaRPr lang="en-US" sz="1000" dirty="0"/>
          </a:p>
        </p:txBody>
      </p:sp>
      <p:sp>
        <p:nvSpPr>
          <p:cNvPr id="18" name="Text 15"/>
          <p:cNvSpPr/>
          <p:nvPr/>
        </p:nvSpPr>
        <p:spPr>
          <a:xfrm>
            <a:off x="6473952" y="2139696"/>
            <a:ext cx="1371600" cy="182880"/>
          </a:xfrm>
          <a:prstGeom prst="rect">
            <a:avLst/>
          </a:prstGeom>
          <a:noFill/>
          <a:ln/>
        </p:spPr>
        <p:txBody>
          <a:bodyPr wrap="square" lIns="0" tIns="0" rIns="0" bIns="0" rtlCol="0" anchor="ctr"/>
          <a:lstStyle/>
          <a:p>
            <a:pPr marL="0" indent="0">
              <a:buNone/>
            </a:pPr>
            <a:r>
              <a:rPr lang="en-US" sz="950" dirty="0">
                <a:solidFill>
                  <a:srgbClr val="78909C"/>
                </a:solidFill>
              </a:rPr>
              <a:t>₹86.1L</a:t>
            </a:r>
            <a:endParaRPr lang="en-US" sz="950" dirty="0"/>
          </a:p>
        </p:txBody>
      </p:sp>
      <p:sp>
        <p:nvSpPr>
          <p:cNvPr id="19" name="Shape 16"/>
          <p:cNvSpPr/>
          <p:nvPr/>
        </p:nvSpPr>
        <p:spPr>
          <a:xfrm>
            <a:off x="7909560" y="2039112"/>
            <a:ext cx="661469" cy="182880"/>
          </a:xfrm>
          <a:prstGeom prst="rect">
            <a:avLst/>
          </a:prstGeom>
          <a:solidFill>
            <a:srgbClr val="00897B"/>
          </a:solidFill>
          <a:ln w="12700">
            <a:solidFill>
              <a:srgbClr val="00897B"/>
            </a:solidFill>
            <a:prstDash val="solid"/>
          </a:ln>
        </p:spPr>
      </p:sp>
      <p:sp>
        <p:nvSpPr>
          <p:cNvPr id="20" name="Shape 17"/>
          <p:cNvSpPr/>
          <p:nvPr/>
        </p:nvSpPr>
        <p:spPr>
          <a:xfrm>
            <a:off x="6035040" y="2377440"/>
            <a:ext cx="2788920" cy="457200"/>
          </a:xfrm>
          <a:prstGeom prst="rect">
            <a:avLst/>
          </a:prstGeom>
          <a:solidFill>
            <a:srgbClr val="EBF5FB"/>
          </a:solidFill>
          <a:ln w="12700">
            <a:solidFill>
              <a:srgbClr val="CFD8DC"/>
            </a:solidFill>
            <a:prstDash val="solid"/>
          </a:ln>
        </p:spPr>
      </p:sp>
      <p:sp>
        <p:nvSpPr>
          <p:cNvPr id="21" name="Text 18"/>
          <p:cNvSpPr/>
          <p:nvPr/>
        </p:nvSpPr>
        <p:spPr>
          <a:xfrm>
            <a:off x="6080760" y="2468880"/>
            <a:ext cx="365760" cy="274320"/>
          </a:xfrm>
          <a:prstGeom prst="rect">
            <a:avLst/>
          </a:prstGeom>
          <a:noFill/>
          <a:ln/>
        </p:spPr>
        <p:txBody>
          <a:bodyPr wrap="square" lIns="0" tIns="0" rIns="0" bIns="0" rtlCol="0" anchor="ctr"/>
          <a:lstStyle/>
          <a:p>
            <a:pPr marL="0" indent="0">
              <a:buNone/>
            </a:pPr>
            <a:r>
              <a:rPr lang="en-US" sz="1100" b="1" dirty="0">
                <a:solidFill>
                  <a:srgbClr val="00897B"/>
                </a:solidFill>
              </a:rPr>
              <a:t>#3</a:t>
            </a:r>
            <a:endParaRPr lang="en-US" sz="1100" dirty="0"/>
          </a:p>
        </p:txBody>
      </p:sp>
      <p:sp>
        <p:nvSpPr>
          <p:cNvPr id="22" name="Text 19"/>
          <p:cNvSpPr/>
          <p:nvPr/>
        </p:nvSpPr>
        <p:spPr>
          <a:xfrm>
            <a:off x="6473952" y="2432304"/>
            <a:ext cx="1371600" cy="182880"/>
          </a:xfrm>
          <a:prstGeom prst="rect">
            <a:avLst/>
          </a:prstGeom>
          <a:noFill/>
          <a:ln/>
        </p:spPr>
        <p:txBody>
          <a:bodyPr wrap="square" lIns="0" tIns="0" rIns="0" bIns="0" rtlCol="0" anchor="ctr"/>
          <a:lstStyle/>
          <a:p>
            <a:pPr marL="0" indent="0">
              <a:buNone/>
            </a:pPr>
            <a:r>
              <a:rPr lang="en-US" sz="1000" b="1" dirty="0">
                <a:solidFill>
                  <a:srgbClr val="0D1B2A"/>
                </a:solidFill>
              </a:rPr>
              <a:t>Home Decor</a:t>
            </a:r>
            <a:endParaRPr lang="en-US" sz="1000" dirty="0"/>
          </a:p>
        </p:txBody>
      </p:sp>
      <p:sp>
        <p:nvSpPr>
          <p:cNvPr id="23" name="Text 20"/>
          <p:cNvSpPr/>
          <p:nvPr/>
        </p:nvSpPr>
        <p:spPr>
          <a:xfrm>
            <a:off x="6473952" y="2615184"/>
            <a:ext cx="1371600" cy="182880"/>
          </a:xfrm>
          <a:prstGeom prst="rect">
            <a:avLst/>
          </a:prstGeom>
          <a:noFill/>
          <a:ln/>
        </p:spPr>
        <p:txBody>
          <a:bodyPr wrap="square" lIns="0" tIns="0" rIns="0" bIns="0" rtlCol="0" anchor="ctr"/>
          <a:lstStyle/>
          <a:p>
            <a:pPr marL="0" indent="0">
              <a:buNone/>
            </a:pPr>
            <a:r>
              <a:rPr lang="en-US" sz="950" dirty="0">
                <a:solidFill>
                  <a:srgbClr val="78909C"/>
                </a:solidFill>
              </a:rPr>
              <a:t>₹85.5L</a:t>
            </a:r>
            <a:endParaRPr lang="en-US" sz="950" dirty="0"/>
          </a:p>
        </p:txBody>
      </p:sp>
      <p:sp>
        <p:nvSpPr>
          <p:cNvPr id="24" name="Shape 21"/>
          <p:cNvSpPr/>
          <p:nvPr/>
        </p:nvSpPr>
        <p:spPr>
          <a:xfrm>
            <a:off x="7909560" y="2514600"/>
            <a:ext cx="592700" cy="182880"/>
          </a:xfrm>
          <a:prstGeom prst="rect">
            <a:avLst/>
          </a:prstGeom>
          <a:solidFill>
            <a:srgbClr val="00897B"/>
          </a:solidFill>
          <a:ln w="12700">
            <a:solidFill>
              <a:srgbClr val="00897B"/>
            </a:solidFill>
            <a:prstDash val="solid"/>
          </a:ln>
        </p:spPr>
      </p:sp>
      <p:sp>
        <p:nvSpPr>
          <p:cNvPr id="25" name="Shape 22"/>
          <p:cNvSpPr/>
          <p:nvPr/>
        </p:nvSpPr>
        <p:spPr>
          <a:xfrm>
            <a:off x="6035040" y="2852928"/>
            <a:ext cx="2788920" cy="457200"/>
          </a:xfrm>
          <a:prstGeom prst="rect">
            <a:avLst/>
          </a:prstGeom>
          <a:solidFill>
            <a:srgbClr val="FFFFFF"/>
          </a:solidFill>
          <a:ln w="12700">
            <a:solidFill>
              <a:srgbClr val="CFD8DC"/>
            </a:solidFill>
            <a:prstDash val="solid"/>
          </a:ln>
        </p:spPr>
      </p:sp>
      <p:sp>
        <p:nvSpPr>
          <p:cNvPr id="26" name="Text 23"/>
          <p:cNvSpPr/>
          <p:nvPr/>
        </p:nvSpPr>
        <p:spPr>
          <a:xfrm>
            <a:off x="6080760" y="2944368"/>
            <a:ext cx="365760" cy="274320"/>
          </a:xfrm>
          <a:prstGeom prst="rect">
            <a:avLst/>
          </a:prstGeom>
          <a:noFill/>
          <a:ln/>
        </p:spPr>
        <p:txBody>
          <a:bodyPr wrap="square" lIns="0" tIns="0" rIns="0" bIns="0" rtlCol="0" anchor="ctr"/>
          <a:lstStyle/>
          <a:p>
            <a:pPr marL="0" indent="0">
              <a:buNone/>
            </a:pPr>
            <a:r>
              <a:rPr lang="en-US" sz="1100" b="1" dirty="0">
                <a:solidFill>
                  <a:srgbClr val="00897B"/>
                </a:solidFill>
              </a:rPr>
              <a:t>#4</a:t>
            </a:r>
            <a:endParaRPr lang="en-US" sz="1100" dirty="0"/>
          </a:p>
        </p:txBody>
      </p:sp>
      <p:sp>
        <p:nvSpPr>
          <p:cNvPr id="27" name="Text 24"/>
          <p:cNvSpPr/>
          <p:nvPr/>
        </p:nvSpPr>
        <p:spPr>
          <a:xfrm>
            <a:off x="6473952" y="2907792"/>
            <a:ext cx="1371600" cy="182880"/>
          </a:xfrm>
          <a:prstGeom prst="rect">
            <a:avLst/>
          </a:prstGeom>
          <a:noFill/>
          <a:ln/>
        </p:spPr>
        <p:txBody>
          <a:bodyPr wrap="square" lIns="0" tIns="0" rIns="0" bIns="0" rtlCol="0" anchor="ctr"/>
          <a:lstStyle/>
          <a:p>
            <a:pPr marL="0" indent="0">
              <a:buNone/>
            </a:pPr>
            <a:r>
              <a:rPr lang="en-US" sz="1000" b="1" dirty="0">
                <a:solidFill>
                  <a:srgbClr val="0D1B2A"/>
                </a:solidFill>
              </a:rPr>
              <a:t>Beauty</a:t>
            </a:r>
            <a:endParaRPr lang="en-US" sz="1000" dirty="0"/>
          </a:p>
        </p:txBody>
      </p:sp>
      <p:sp>
        <p:nvSpPr>
          <p:cNvPr id="28" name="Text 25"/>
          <p:cNvSpPr/>
          <p:nvPr/>
        </p:nvSpPr>
        <p:spPr>
          <a:xfrm>
            <a:off x="6473952" y="3090672"/>
            <a:ext cx="1371600" cy="182880"/>
          </a:xfrm>
          <a:prstGeom prst="rect">
            <a:avLst/>
          </a:prstGeom>
          <a:noFill/>
          <a:ln/>
        </p:spPr>
        <p:txBody>
          <a:bodyPr wrap="square" lIns="0" tIns="0" rIns="0" bIns="0" rtlCol="0" anchor="ctr"/>
          <a:lstStyle/>
          <a:p>
            <a:pPr marL="0" indent="0">
              <a:buNone/>
            </a:pPr>
            <a:r>
              <a:rPr lang="en-US" sz="950" dirty="0">
                <a:solidFill>
                  <a:srgbClr val="78909C"/>
                </a:solidFill>
              </a:rPr>
              <a:t>₹85.4L</a:t>
            </a:r>
            <a:endParaRPr lang="en-US" sz="950" dirty="0"/>
          </a:p>
        </p:txBody>
      </p:sp>
      <p:sp>
        <p:nvSpPr>
          <p:cNvPr id="29" name="Shape 26"/>
          <p:cNvSpPr/>
          <p:nvPr/>
        </p:nvSpPr>
        <p:spPr>
          <a:xfrm>
            <a:off x="7909560" y="2990088"/>
            <a:ext cx="591660" cy="182880"/>
          </a:xfrm>
          <a:prstGeom prst="rect">
            <a:avLst/>
          </a:prstGeom>
          <a:solidFill>
            <a:srgbClr val="00897B"/>
          </a:solidFill>
          <a:ln w="12700">
            <a:solidFill>
              <a:srgbClr val="00897B"/>
            </a:solidFill>
            <a:prstDash val="solid"/>
          </a:ln>
        </p:spPr>
      </p:sp>
      <p:sp>
        <p:nvSpPr>
          <p:cNvPr id="30" name="Shape 27"/>
          <p:cNvSpPr/>
          <p:nvPr/>
        </p:nvSpPr>
        <p:spPr>
          <a:xfrm>
            <a:off x="6035040" y="3328416"/>
            <a:ext cx="2788920" cy="457200"/>
          </a:xfrm>
          <a:prstGeom prst="rect">
            <a:avLst/>
          </a:prstGeom>
          <a:solidFill>
            <a:srgbClr val="EBF5FB"/>
          </a:solidFill>
          <a:ln w="12700">
            <a:solidFill>
              <a:srgbClr val="CFD8DC"/>
            </a:solidFill>
            <a:prstDash val="solid"/>
          </a:ln>
        </p:spPr>
      </p:sp>
      <p:sp>
        <p:nvSpPr>
          <p:cNvPr id="31" name="Text 28"/>
          <p:cNvSpPr/>
          <p:nvPr/>
        </p:nvSpPr>
        <p:spPr>
          <a:xfrm>
            <a:off x="6080760" y="3419856"/>
            <a:ext cx="365760" cy="274320"/>
          </a:xfrm>
          <a:prstGeom prst="rect">
            <a:avLst/>
          </a:prstGeom>
          <a:noFill/>
          <a:ln/>
        </p:spPr>
        <p:txBody>
          <a:bodyPr wrap="square" lIns="0" tIns="0" rIns="0" bIns="0" rtlCol="0" anchor="ctr"/>
          <a:lstStyle/>
          <a:p>
            <a:pPr marL="0" indent="0">
              <a:buNone/>
            </a:pPr>
            <a:r>
              <a:rPr lang="en-US" sz="1100" b="1" dirty="0">
                <a:solidFill>
                  <a:srgbClr val="00897B"/>
                </a:solidFill>
              </a:rPr>
              <a:t>#5</a:t>
            </a:r>
            <a:endParaRPr lang="en-US" sz="1100" dirty="0"/>
          </a:p>
        </p:txBody>
      </p:sp>
      <p:sp>
        <p:nvSpPr>
          <p:cNvPr id="32" name="Text 29"/>
          <p:cNvSpPr/>
          <p:nvPr/>
        </p:nvSpPr>
        <p:spPr>
          <a:xfrm>
            <a:off x="6473952" y="3383280"/>
            <a:ext cx="1371600" cy="182880"/>
          </a:xfrm>
          <a:prstGeom prst="rect">
            <a:avLst/>
          </a:prstGeom>
          <a:noFill/>
          <a:ln/>
        </p:spPr>
        <p:txBody>
          <a:bodyPr wrap="square" lIns="0" tIns="0" rIns="0" bIns="0" rtlCol="0" anchor="ctr"/>
          <a:lstStyle/>
          <a:p>
            <a:pPr marL="0" indent="0">
              <a:buNone/>
            </a:pPr>
            <a:r>
              <a:rPr lang="en-US" sz="1000" b="1" dirty="0">
                <a:solidFill>
                  <a:srgbClr val="0D1B2A"/>
                </a:solidFill>
              </a:rPr>
              <a:t>Fashion</a:t>
            </a:r>
            <a:endParaRPr lang="en-US" sz="1000" dirty="0"/>
          </a:p>
        </p:txBody>
      </p:sp>
      <p:sp>
        <p:nvSpPr>
          <p:cNvPr id="33" name="Text 30"/>
          <p:cNvSpPr/>
          <p:nvPr/>
        </p:nvSpPr>
        <p:spPr>
          <a:xfrm>
            <a:off x="6473952" y="3566160"/>
            <a:ext cx="1371600" cy="182880"/>
          </a:xfrm>
          <a:prstGeom prst="rect">
            <a:avLst/>
          </a:prstGeom>
          <a:noFill/>
          <a:ln/>
        </p:spPr>
        <p:txBody>
          <a:bodyPr wrap="square" lIns="0" tIns="0" rIns="0" bIns="0" rtlCol="0" anchor="ctr"/>
          <a:lstStyle/>
          <a:p>
            <a:pPr marL="0" indent="0">
              <a:buNone/>
            </a:pPr>
            <a:r>
              <a:rPr lang="en-US" sz="950" dirty="0">
                <a:solidFill>
                  <a:srgbClr val="78909C"/>
                </a:solidFill>
              </a:rPr>
              <a:t>₹84.5L</a:t>
            </a:r>
            <a:endParaRPr lang="en-US" sz="950" dirty="0"/>
          </a:p>
        </p:txBody>
      </p:sp>
      <p:sp>
        <p:nvSpPr>
          <p:cNvPr id="34" name="Shape 31"/>
          <p:cNvSpPr/>
          <p:nvPr/>
        </p:nvSpPr>
        <p:spPr>
          <a:xfrm>
            <a:off x="7909560" y="3465576"/>
            <a:ext cx="483283" cy="182880"/>
          </a:xfrm>
          <a:prstGeom prst="rect">
            <a:avLst/>
          </a:prstGeom>
          <a:solidFill>
            <a:srgbClr val="00897B"/>
          </a:solidFill>
          <a:ln w="12700">
            <a:solidFill>
              <a:srgbClr val="00897B"/>
            </a:solidFill>
            <a:prstDash val="solid"/>
          </a:ln>
        </p:spPr>
      </p:sp>
      <p:sp>
        <p:nvSpPr>
          <p:cNvPr id="35" name="Shape 32"/>
          <p:cNvSpPr/>
          <p:nvPr/>
        </p:nvSpPr>
        <p:spPr>
          <a:xfrm>
            <a:off x="6035040" y="3803904"/>
            <a:ext cx="2788920" cy="457200"/>
          </a:xfrm>
          <a:prstGeom prst="rect">
            <a:avLst/>
          </a:prstGeom>
          <a:solidFill>
            <a:srgbClr val="FFFFFF"/>
          </a:solidFill>
          <a:ln w="12700">
            <a:solidFill>
              <a:srgbClr val="CFD8DC"/>
            </a:solidFill>
            <a:prstDash val="solid"/>
          </a:ln>
        </p:spPr>
      </p:sp>
      <p:sp>
        <p:nvSpPr>
          <p:cNvPr id="36" name="Text 33"/>
          <p:cNvSpPr/>
          <p:nvPr/>
        </p:nvSpPr>
        <p:spPr>
          <a:xfrm>
            <a:off x="6080760" y="3895344"/>
            <a:ext cx="365760" cy="274320"/>
          </a:xfrm>
          <a:prstGeom prst="rect">
            <a:avLst/>
          </a:prstGeom>
          <a:noFill/>
          <a:ln/>
        </p:spPr>
        <p:txBody>
          <a:bodyPr wrap="square" lIns="0" tIns="0" rIns="0" bIns="0" rtlCol="0" anchor="ctr"/>
          <a:lstStyle/>
          <a:p>
            <a:pPr marL="0" indent="0">
              <a:buNone/>
            </a:pPr>
            <a:r>
              <a:rPr lang="en-US" sz="1100" b="1" dirty="0">
                <a:solidFill>
                  <a:srgbClr val="00897B"/>
                </a:solidFill>
              </a:rPr>
              <a:t>#6</a:t>
            </a:r>
            <a:endParaRPr lang="en-US" sz="1100" dirty="0"/>
          </a:p>
        </p:txBody>
      </p:sp>
      <p:sp>
        <p:nvSpPr>
          <p:cNvPr id="37" name="Text 34"/>
          <p:cNvSpPr/>
          <p:nvPr/>
        </p:nvSpPr>
        <p:spPr>
          <a:xfrm>
            <a:off x="6473952" y="3858768"/>
            <a:ext cx="1371600" cy="182880"/>
          </a:xfrm>
          <a:prstGeom prst="rect">
            <a:avLst/>
          </a:prstGeom>
          <a:noFill/>
          <a:ln/>
        </p:spPr>
        <p:txBody>
          <a:bodyPr wrap="square" lIns="0" tIns="0" rIns="0" bIns="0" rtlCol="0" anchor="ctr"/>
          <a:lstStyle/>
          <a:p>
            <a:pPr marL="0" indent="0">
              <a:buNone/>
            </a:pPr>
            <a:r>
              <a:rPr lang="en-US" sz="1000" b="1" dirty="0">
                <a:solidFill>
                  <a:srgbClr val="0D1B2A"/>
                </a:solidFill>
              </a:rPr>
              <a:t>Sports</a:t>
            </a:r>
            <a:endParaRPr lang="en-US" sz="1000" dirty="0"/>
          </a:p>
        </p:txBody>
      </p:sp>
      <p:sp>
        <p:nvSpPr>
          <p:cNvPr id="38" name="Text 35"/>
          <p:cNvSpPr/>
          <p:nvPr/>
        </p:nvSpPr>
        <p:spPr>
          <a:xfrm>
            <a:off x="6473952" y="4041648"/>
            <a:ext cx="1371600" cy="182880"/>
          </a:xfrm>
          <a:prstGeom prst="rect">
            <a:avLst/>
          </a:prstGeom>
          <a:noFill/>
          <a:ln/>
        </p:spPr>
        <p:txBody>
          <a:bodyPr wrap="square" lIns="0" tIns="0" rIns="0" bIns="0" rtlCol="0" anchor="ctr"/>
          <a:lstStyle/>
          <a:p>
            <a:pPr marL="0" indent="0">
              <a:buNone/>
            </a:pPr>
            <a:r>
              <a:rPr lang="en-US" sz="950" dirty="0">
                <a:solidFill>
                  <a:srgbClr val="78909C"/>
                </a:solidFill>
              </a:rPr>
              <a:t>₹84.3L</a:t>
            </a:r>
            <a:endParaRPr lang="en-US" sz="950" dirty="0"/>
          </a:p>
        </p:txBody>
      </p:sp>
      <p:sp>
        <p:nvSpPr>
          <p:cNvPr id="39" name="Shape 36"/>
          <p:cNvSpPr/>
          <p:nvPr/>
        </p:nvSpPr>
        <p:spPr>
          <a:xfrm>
            <a:off x="7909560" y="3941064"/>
            <a:ext cx="472018" cy="182880"/>
          </a:xfrm>
          <a:prstGeom prst="rect">
            <a:avLst/>
          </a:prstGeom>
          <a:solidFill>
            <a:srgbClr val="00897B"/>
          </a:solidFill>
          <a:ln w="12700">
            <a:solidFill>
              <a:srgbClr val="00897B"/>
            </a:solidFill>
            <a:prstDash val="solid"/>
          </a:ln>
        </p:spPr>
      </p:sp>
      <p:sp>
        <p:nvSpPr>
          <p:cNvPr id="40" name="Shape 37"/>
          <p:cNvSpPr/>
          <p:nvPr/>
        </p:nvSpPr>
        <p:spPr>
          <a:xfrm>
            <a:off x="6035040" y="4279392"/>
            <a:ext cx="2788920" cy="457200"/>
          </a:xfrm>
          <a:prstGeom prst="rect">
            <a:avLst/>
          </a:prstGeom>
          <a:solidFill>
            <a:srgbClr val="EBF5FB"/>
          </a:solidFill>
          <a:ln w="12700">
            <a:solidFill>
              <a:srgbClr val="CFD8DC"/>
            </a:solidFill>
            <a:prstDash val="solid"/>
          </a:ln>
        </p:spPr>
      </p:sp>
      <p:sp>
        <p:nvSpPr>
          <p:cNvPr id="41" name="Text 38"/>
          <p:cNvSpPr/>
          <p:nvPr/>
        </p:nvSpPr>
        <p:spPr>
          <a:xfrm>
            <a:off x="6080760" y="4370832"/>
            <a:ext cx="365760" cy="274320"/>
          </a:xfrm>
          <a:prstGeom prst="rect">
            <a:avLst/>
          </a:prstGeom>
          <a:noFill/>
          <a:ln/>
        </p:spPr>
        <p:txBody>
          <a:bodyPr wrap="square" lIns="0" tIns="0" rIns="0" bIns="0" rtlCol="0" anchor="ctr"/>
          <a:lstStyle/>
          <a:p>
            <a:pPr marL="0" indent="0">
              <a:buNone/>
            </a:pPr>
            <a:r>
              <a:rPr lang="en-US" sz="1100" b="1" dirty="0">
                <a:solidFill>
                  <a:srgbClr val="00897B"/>
                </a:solidFill>
              </a:rPr>
              <a:t>#7</a:t>
            </a:r>
            <a:endParaRPr lang="en-US" sz="1100" dirty="0"/>
          </a:p>
        </p:txBody>
      </p:sp>
      <p:sp>
        <p:nvSpPr>
          <p:cNvPr id="42" name="Text 39"/>
          <p:cNvSpPr/>
          <p:nvPr/>
        </p:nvSpPr>
        <p:spPr>
          <a:xfrm>
            <a:off x="6473952" y="4334256"/>
            <a:ext cx="1371600" cy="182880"/>
          </a:xfrm>
          <a:prstGeom prst="rect">
            <a:avLst/>
          </a:prstGeom>
          <a:noFill/>
          <a:ln/>
        </p:spPr>
        <p:txBody>
          <a:bodyPr wrap="square" lIns="0" tIns="0" rIns="0" bIns="0" rtlCol="0" anchor="ctr"/>
          <a:lstStyle/>
          <a:p>
            <a:pPr marL="0" indent="0">
              <a:buNone/>
            </a:pPr>
            <a:r>
              <a:rPr lang="en-US" sz="1000" b="1" dirty="0">
                <a:solidFill>
                  <a:srgbClr val="0D1B2A"/>
                </a:solidFill>
              </a:rPr>
              <a:t>Footwear</a:t>
            </a:r>
            <a:endParaRPr lang="en-US" sz="1000" dirty="0"/>
          </a:p>
        </p:txBody>
      </p:sp>
      <p:sp>
        <p:nvSpPr>
          <p:cNvPr id="43" name="Text 40"/>
          <p:cNvSpPr/>
          <p:nvPr/>
        </p:nvSpPr>
        <p:spPr>
          <a:xfrm>
            <a:off x="6473952" y="4517136"/>
            <a:ext cx="1371600" cy="182880"/>
          </a:xfrm>
          <a:prstGeom prst="rect">
            <a:avLst/>
          </a:prstGeom>
          <a:noFill/>
          <a:ln/>
        </p:spPr>
        <p:txBody>
          <a:bodyPr wrap="square" lIns="0" tIns="0" rIns="0" bIns="0" rtlCol="0" anchor="ctr"/>
          <a:lstStyle/>
          <a:p>
            <a:pPr marL="0" indent="0">
              <a:buNone/>
            </a:pPr>
            <a:r>
              <a:rPr lang="en-US" sz="950" dirty="0">
                <a:solidFill>
                  <a:srgbClr val="78909C"/>
                </a:solidFill>
              </a:rPr>
              <a:t>₹83.5L</a:t>
            </a:r>
            <a:endParaRPr lang="en-US" sz="950" dirty="0"/>
          </a:p>
        </p:txBody>
      </p:sp>
      <p:sp>
        <p:nvSpPr>
          <p:cNvPr id="44" name="Shape 41"/>
          <p:cNvSpPr/>
          <p:nvPr/>
        </p:nvSpPr>
        <p:spPr>
          <a:xfrm>
            <a:off x="7909560" y="4416552"/>
            <a:ext cx="378928" cy="182880"/>
          </a:xfrm>
          <a:prstGeom prst="rect">
            <a:avLst/>
          </a:prstGeom>
          <a:solidFill>
            <a:srgbClr val="00897B"/>
          </a:solidFill>
          <a:ln w="12700">
            <a:solidFill>
              <a:srgbClr val="00897B"/>
            </a:solidFill>
            <a:prstDash val="solid"/>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04  Category Analysis — Profit Margin &amp; Quantity Sold</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Margin % and units sold per product category</a:t>
            </a:r>
            <a:endParaRPr lang="en-US" sz="1100" dirty="0"/>
          </a:p>
        </p:txBody>
      </p:sp>
      <p:graphicFrame>
        <p:nvGraphicFramePr>
          <p:cNvPr id="6" name="Chart 0"/>
          <p:cNvGraphicFramePr/>
          <p:nvPr/>
        </p:nvGraphicFramePr>
        <p:xfrm>
          <a:off x="365760" y="1078992"/>
          <a:ext cx="512064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extLst>
              <p:ext uri="{D42A27DB-BD31-4B8C-83A1-F6EECF244321}">
                <p14:modId xmlns:p14="http://schemas.microsoft.com/office/powerpoint/2010/main" val="2657587608"/>
              </p:ext>
            </p:extLst>
          </p:nvPr>
        </p:nvGraphicFramePr>
        <p:xfrm>
          <a:off x="365760" y="3858768"/>
          <a:ext cx="5120640" cy="11658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715000" y="1078992"/>
            <a:ext cx="3108960" cy="82296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9" name="Shape 5"/>
          <p:cNvSpPr/>
          <p:nvPr/>
        </p:nvSpPr>
        <p:spPr>
          <a:xfrm>
            <a:off x="5715000" y="1078992"/>
            <a:ext cx="64008" cy="822960"/>
          </a:xfrm>
          <a:prstGeom prst="rect">
            <a:avLst/>
          </a:prstGeom>
          <a:solidFill>
            <a:srgbClr val="2E7D32"/>
          </a:solidFill>
          <a:ln w="12700">
            <a:solidFill>
              <a:srgbClr val="2E7D32"/>
            </a:solidFill>
            <a:prstDash val="solid"/>
          </a:ln>
        </p:spPr>
      </p:sp>
      <p:sp>
        <p:nvSpPr>
          <p:cNvPr id="10" name="Text 6"/>
          <p:cNvSpPr/>
          <p:nvPr/>
        </p:nvSpPr>
        <p:spPr>
          <a:xfrm>
            <a:off x="5870448" y="1143000"/>
            <a:ext cx="2834640" cy="256032"/>
          </a:xfrm>
          <a:prstGeom prst="rect">
            <a:avLst/>
          </a:prstGeom>
          <a:noFill/>
          <a:ln/>
        </p:spPr>
        <p:txBody>
          <a:bodyPr wrap="square" lIns="0" tIns="0" rIns="0" bIns="0" rtlCol="0" anchor="ctr"/>
          <a:lstStyle/>
          <a:p>
            <a:pPr marL="0" indent="0">
              <a:buNone/>
            </a:pPr>
            <a:r>
              <a:rPr lang="en-US" sz="1200" b="1" dirty="0">
                <a:solidFill>
                  <a:srgbClr val="0D1B2A"/>
                </a:solidFill>
              </a:rPr>
              <a:t>Electronics</a:t>
            </a:r>
            <a:endParaRPr lang="en-US" sz="1200" dirty="0"/>
          </a:p>
        </p:txBody>
      </p:sp>
      <p:sp>
        <p:nvSpPr>
          <p:cNvPr id="11" name="Text 7"/>
          <p:cNvSpPr/>
          <p:nvPr/>
        </p:nvSpPr>
        <p:spPr>
          <a:xfrm>
            <a:off x="5870448" y="1408176"/>
            <a:ext cx="1645920" cy="228600"/>
          </a:xfrm>
          <a:prstGeom prst="rect">
            <a:avLst/>
          </a:prstGeom>
          <a:noFill/>
          <a:ln/>
        </p:spPr>
        <p:txBody>
          <a:bodyPr wrap="square" lIns="0" tIns="0" rIns="0" bIns="0" rtlCol="0" anchor="ctr"/>
          <a:lstStyle/>
          <a:p>
            <a:pPr marL="0" indent="0">
              <a:buNone/>
            </a:pPr>
            <a:r>
              <a:rPr lang="en-US" sz="1050" b="1" dirty="0">
                <a:solidFill>
                  <a:srgbClr val="2E7D32"/>
                </a:solidFill>
              </a:rPr>
              <a:t>Margin: 95.51%</a:t>
            </a:r>
            <a:endParaRPr lang="en-US" sz="1050" dirty="0"/>
          </a:p>
        </p:txBody>
      </p:sp>
      <p:sp>
        <p:nvSpPr>
          <p:cNvPr id="12" name="Text 8"/>
          <p:cNvSpPr/>
          <p:nvPr/>
        </p:nvSpPr>
        <p:spPr>
          <a:xfrm>
            <a:off x="5870448" y="1627632"/>
            <a:ext cx="2834640" cy="228600"/>
          </a:xfrm>
          <a:prstGeom prst="rect">
            <a:avLst/>
          </a:prstGeom>
          <a:noFill/>
          <a:ln/>
        </p:spPr>
        <p:txBody>
          <a:bodyPr wrap="square" lIns="0" tIns="0" rIns="0" bIns="0" rtlCol="0" anchor="ctr"/>
          <a:lstStyle/>
          <a:p>
            <a:pPr marL="0" indent="0">
              <a:buNone/>
            </a:pPr>
            <a:r>
              <a:rPr lang="en-US" sz="950" dirty="0">
                <a:solidFill>
                  <a:srgbClr val="78909C"/>
                </a:solidFill>
              </a:rPr>
              <a:t>Highest margin — premium pricing power</a:t>
            </a:r>
            <a:endParaRPr lang="en-US" sz="950" dirty="0"/>
          </a:p>
        </p:txBody>
      </p:sp>
      <p:sp>
        <p:nvSpPr>
          <p:cNvPr id="13" name="Shape 9"/>
          <p:cNvSpPr/>
          <p:nvPr/>
        </p:nvSpPr>
        <p:spPr>
          <a:xfrm>
            <a:off x="5715000" y="2029968"/>
            <a:ext cx="3108960" cy="82296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4" name="Shape 10"/>
          <p:cNvSpPr/>
          <p:nvPr/>
        </p:nvSpPr>
        <p:spPr>
          <a:xfrm>
            <a:off x="5715000" y="2029968"/>
            <a:ext cx="64008" cy="822960"/>
          </a:xfrm>
          <a:prstGeom prst="rect">
            <a:avLst/>
          </a:prstGeom>
          <a:solidFill>
            <a:srgbClr val="00897B"/>
          </a:solidFill>
          <a:ln w="12700">
            <a:solidFill>
              <a:srgbClr val="00897B"/>
            </a:solidFill>
            <a:prstDash val="solid"/>
          </a:ln>
        </p:spPr>
      </p:sp>
      <p:sp>
        <p:nvSpPr>
          <p:cNvPr id="15" name="Text 11"/>
          <p:cNvSpPr/>
          <p:nvPr/>
        </p:nvSpPr>
        <p:spPr>
          <a:xfrm>
            <a:off x="5870448" y="2093976"/>
            <a:ext cx="2834640" cy="256032"/>
          </a:xfrm>
          <a:prstGeom prst="rect">
            <a:avLst/>
          </a:prstGeom>
          <a:noFill/>
          <a:ln/>
        </p:spPr>
        <p:txBody>
          <a:bodyPr wrap="square" lIns="0" tIns="0" rIns="0" bIns="0" rtlCol="0" anchor="ctr"/>
          <a:lstStyle/>
          <a:p>
            <a:pPr marL="0" indent="0">
              <a:buNone/>
            </a:pPr>
            <a:r>
              <a:rPr lang="en-US" sz="1200" b="1" dirty="0">
                <a:solidFill>
                  <a:srgbClr val="0D1B2A"/>
                </a:solidFill>
              </a:rPr>
              <a:t>Beauty</a:t>
            </a:r>
            <a:endParaRPr lang="en-US" sz="1200" dirty="0"/>
          </a:p>
        </p:txBody>
      </p:sp>
      <p:sp>
        <p:nvSpPr>
          <p:cNvPr id="16" name="Text 12"/>
          <p:cNvSpPr/>
          <p:nvPr/>
        </p:nvSpPr>
        <p:spPr>
          <a:xfrm>
            <a:off x="5870448" y="2359152"/>
            <a:ext cx="1645920" cy="228600"/>
          </a:xfrm>
          <a:prstGeom prst="rect">
            <a:avLst/>
          </a:prstGeom>
          <a:noFill/>
          <a:ln/>
        </p:spPr>
        <p:txBody>
          <a:bodyPr wrap="square" lIns="0" tIns="0" rIns="0" bIns="0" rtlCol="0" anchor="ctr"/>
          <a:lstStyle/>
          <a:p>
            <a:pPr marL="0" indent="0">
              <a:buNone/>
            </a:pPr>
            <a:r>
              <a:rPr lang="en-US" sz="1050" b="1" dirty="0">
                <a:solidFill>
                  <a:srgbClr val="00897B"/>
                </a:solidFill>
              </a:rPr>
              <a:t>Margin: 95.21%</a:t>
            </a:r>
            <a:endParaRPr lang="en-US" sz="1050" dirty="0"/>
          </a:p>
        </p:txBody>
      </p:sp>
      <p:sp>
        <p:nvSpPr>
          <p:cNvPr id="17" name="Text 13"/>
          <p:cNvSpPr/>
          <p:nvPr/>
        </p:nvSpPr>
        <p:spPr>
          <a:xfrm>
            <a:off x="5870448" y="2578608"/>
            <a:ext cx="2834640" cy="228600"/>
          </a:xfrm>
          <a:prstGeom prst="rect">
            <a:avLst/>
          </a:prstGeom>
          <a:noFill/>
          <a:ln/>
        </p:spPr>
        <p:txBody>
          <a:bodyPr wrap="square" lIns="0" tIns="0" rIns="0" bIns="0" rtlCol="0" anchor="ctr"/>
          <a:lstStyle/>
          <a:p>
            <a:pPr marL="0" indent="0">
              <a:buNone/>
            </a:pPr>
            <a:r>
              <a:rPr lang="en-US" sz="950" dirty="0">
                <a:solidFill>
                  <a:srgbClr val="78909C"/>
                </a:solidFill>
              </a:rPr>
              <a:t>High margin with strong repeat demand</a:t>
            </a:r>
            <a:endParaRPr lang="en-US" sz="950" dirty="0"/>
          </a:p>
        </p:txBody>
      </p:sp>
      <p:sp>
        <p:nvSpPr>
          <p:cNvPr id="18" name="Shape 14"/>
          <p:cNvSpPr/>
          <p:nvPr/>
        </p:nvSpPr>
        <p:spPr>
          <a:xfrm>
            <a:off x="5715000" y="2980944"/>
            <a:ext cx="3108960" cy="82296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9" name="Shape 15"/>
          <p:cNvSpPr/>
          <p:nvPr/>
        </p:nvSpPr>
        <p:spPr>
          <a:xfrm>
            <a:off x="5715000" y="2980944"/>
            <a:ext cx="64008" cy="822960"/>
          </a:xfrm>
          <a:prstGeom prst="rect">
            <a:avLst/>
          </a:prstGeom>
          <a:solidFill>
            <a:srgbClr val="00897B"/>
          </a:solidFill>
          <a:ln w="12700">
            <a:solidFill>
              <a:srgbClr val="00897B"/>
            </a:solidFill>
            <a:prstDash val="solid"/>
          </a:ln>
        </p:spPr>
      </p:sp>
      <p:sp>
        <p:nvSpPr>
          <p:cNvPr id="20" name="Text 16"/>
          <p:cNvSpPr/>
          <p:nvPr/>
        </p:nvSpPr>
        <p:spPr>
          <a:xfrm>
            <a:off x="5870448" y="3044952"/>
            <a:ext cx="2834640" cy="256032"/>
          </a:xfrm>
          <a:prstGeom prst="rect">
            <a:avLst/>
          </a:prstGeom>
          <a:noFill/>
          <a:ln/>
        </p:spPr>
        <p:txBody>
          <a:bodyPr wrap="square" lIns="0" tIns="0" rIns="0" bIns="0" rtlCol="0" anchor="ctr"/>
          <a:lstStyle/>
          <a:p>
            <a:pPr marL="0" indent="0">
              <a:buNone/>
            </a:pPr>
            <a:r>
              <a:rPr lang="en-US" sz="1200" b="1" dirty="0">
                <a:solidFill>
                  <a:srgbClr val="0D1B2A"/>
                </a:solidFill>
              </a:rPr>
              <a:t>Sports</a:t>
            </a:r>
            <a:endParaRPr lang="en-US" sz="1200" dirty="0"/>
          </a:p>
        </p:txBody>
      </p:sp>
      <p:sp>
        <p:nvSpPr>
          <p:cNvPr id="21" name="Text 17"/>
          <p:cNvSpPr/>
          <p:nvPr/>
        </p:nvSpPr>
        <p:spPr>
          <a:xfrm>
            <a:off x="5870448" y="3310128"/>
            <a:ext cx="1645920" cy="228600"/>
          </a:xfrm>
          <a:prstGeom prst="rect">
            <a:avLst/>
          </a:prstGeom>
          <a:noFill/>
          <a:ln/>
        </p:spPr>
        <p:txBody>
          <a:bodyPr wrap="square" lIns="0" tIns="0" rIns="0" bIns="0" rtlCol="0" anchor="ctr"/>
          <a:lstStyle/>
          <a:p>
            <a:pPr marL="0" indent="0">
              <a:buNone/>
            </a:pPr>
            <a:r>
              <a:rPr lang="en-US" sz="1050" b="1" dirty="0">
                <a:solidFill>
                  <a:srgbClr val="00897B"/>
                </a:solidFill>
              </a:rPr>
              <a:t>Margin: 95.30%</a:t>
            </a:r>
            <a:endParaRPr lang="en-US" sz="1050" dirty="0"/>
          </a:p>
        </p:txBody>
      </p:sp>
      <p:sp>
        <p:nvSpPr>
          <p:cNvPr id="22" name="Text 18"/>
          <p:cNvSpPr/>
          <p:nvPr/>
        </p:nvSpPr>
        <p:spPr>
          <a:xfrm>
            <a:off x="5870448" y="3529584"/>
            <a:ext cx="2834640" cy="228600"/>
          </a:xfrm>
          <a:prstGeom prst="rect">
            <a:avLst/>
          </a:prstGeom>
          <a:noFill/>
          <a:ln/>
        </p:spPr>
        <p:txBody>
          <a:bodyPr wrap="square" lIns="0" tIns="0" rIns="0" bIns="0" rtlCol="0" anchor="ctr"/>
          <a:lstStyle/>
          <a:p>
            <a:pPr marL="0" indent="0">
              <a:buNone/>
            </a:pPr>
            <a:r>
              <a:rPr lang="en-US" sz="950" dirty="0">
                <a:solidFill>
                  <a:srgbClr val="78909C"/>
                </a:solidFill>
              </a:rPr>
              <a:t>Solid margin despite high return rate</a:t>
            </a:r>
            <a:endParaRPr lang="en-US" sz="950" dirty="0"/>
          </a:p>
        </p:txBody>
      </p:sp>
      <p:sp>
        <p:nvSpPr>
          <p:cNvPr id="23" name="Shape 19"/>
          <p:cNvSpPr/>
          <p:nvPr/>
        </p:nvSpPr>
        <p:spPr>
          <a:xfrm>
            <a:off x="5715000" y="3931920"/>
            <a:ext cx="3108960" cy="82296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24" name="Shape 20"/>
          <p:cNvSpPr/>
          <p:nvPr/>
        </p:nvSpPr>
        <p:spPr>
          <a:xfrm>
            <a:off x="5715000" y="3931920"/>
            <a:ext cx="64008" cy="822960"/>
          </a:xfrm>
          <a:prstGeom prst="rect">
            <a:avLst/>
          </a:prstGeom>
          <a:solidFill>
            <a:srgbClr val="FFB300"/>
          </a:solidFill>
          <a:ln w="12700">
            <a:solidFill>
              <a:srgbClr val="FFB300"/>
            </a:solidFill>
            <a:prstDash val="solid"/>
          </a:ln>
        </p:spPr>
      </p:sp>
      <p:sp>
        <p:nvSpPr>
          <p:cNvPr id="25" name="Text 21"/>
          <p:cNvSpPr/>
          <p:nvPr/>
        </p:nvSpPr>
        <p:spPr>
          <a:xfrm>
            <a:off x="5870448" y="3995928"/>
            <a:ext cx="2834640" cy="256032"/>
          </a:xfrm>
          <a:prstGeom prst="rect">
            <a:avLst/>
          </a:prstGeom>
          <a:noFill/>
          <a:ln/>
        </p:spPr>
        <p:txBody>
          <a:bodyPr wrap="square" lIns="0" tIns="0" rIns="0" bIns="0" rtlCol="0" anchor="ctr"/>
          <a:lstStyle/>
          <a:p>
            <a:pPr marL="0" indent="0">
              <a:buNone/>
            </a:pPr>
            <a:r>
              <a:rPr lang="en-US" sz="1200" b="1" dirty="0">
                <a:solidFill>
                  <a:srgbClr val="0D1B2A"/>
                </a:solidFill>
              </a:rPr>
              <a:t>Footwear</a:t>
            </a:r>
            <a:endParaRPr lang="en-US" sz="1200" dirty="0"/>
          </a:p>
        </p:txBody>
      </p:sp>
      <p:sp>
        <p:nvSpPr>
          <p:cNvPr id="26" name="Text 22"/>
          <p:cNvSpPr/>
          <p:nvPr/>
        </p:nvSpPr>
        <p:spPr>
          <a:xfrm>
            <a:off x="5870448" y="4261104"/>
            <a:ext cx="1645920" cy="228600"/>
          </a:xfrm>
          <a:prstGeom prst="rect">
            <a:avLst/>
          </a:prstGeom>
          <a:noFill/>
          <a:ln/>
        </p:spPr>
        <p:txBody>
          <a:bodyPr wrap="square" lIns="0" tIns="0" rIns="0" bIns="0" rtlCol="0" anchor="ctr"/>
          <a:lstStyle/>
          <a:p>
            <a:pPr marL="0" indent="0">
              <a:buNone/>
            </a:pPr>
            <a:r>
              <a:rPr lang="en-US" sz="1050" b="1" dirty="0">
                <a:solidFill>
                  <a:srgbClr val="FFB300"/>
                </a:solidFill>
              </a:rPr>
              <a:t>Margin: 95.08%</a:t>
            </a:r>
            <a:endParaRPr lang="en-US" sz="1050" dirty="0"/>
          </a:p>
        </p:txBody>
      </p:sp>
      <p:sp>
        <p:nvSpPr>
          <p:cNvPr id="27" name="Text 23"/>
          <p:cNvSpPr/>
          <p:nvPr/>
        </p:nvSpPr>
        <p:spPr>
          <a:xfrm>
            <a:off x="5870448" y="4480560"/>
            <a:ext cx="2834640" cy="228600"/>
          </a:xfrm>
          <a:prstGeom prst="rect">
            <a:avLst/>
          </a:prstGeom>
          <a:noFill/>
          <a:ln/>
        </p:spPr>
        <p:txBody>
          <a:bodyPr wrap="square" lIns="0" tIns="0" rIns="0" bIns="0" rtlCol="0" anchor="ctr"/>
          <a:lstStyle/>
          <a:p>
            <a:pPr marL="0" indent="0">
              <a:buNone/>
            </a:pPr>
            <a:r>
              <a:rPr lang="en-US" sz="950" dirty="0">
                <a:solidFill>
                  <a:srgbClr val="78909C"/>
                </a:solidFill>
              </a:rPr>
              <a:t>Lowest margin — most room to improve</a:t>
            </a:r>
            <a:endParaRPr lang="en-US" sz="9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05  Discount Impact Analysis</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How does discount % (0–40%) affect revenue and profit?</a:t>
            </a:r>
            <a:endParaRPr lang="en-US" sz="1100" dirty="0"/>
          </a:p>
        </p:txBody>
      </p:sp>
      <p:graphicFrame>
        <p:nvGraphicFramePr>
          <p:cNvPr id="6" name="Chart 0"/>
          <p:cNvGraphicFramePr/>
          <p:nvPr>
            <p:extLst>
              <p:ext uri="{D42A27DB-BD31-4B8C-83A1-F6EECF244321}">
                <p14:modId xmlns:p14="http://schemas.microsoft.com/office/powerpoint/2010/main" val="182226549"/>
              </p:ext>
            </p:extLst>
          </p:nvPr>
        </p:nvGraphicFramePr>
        <p:xfrm>
          <a:off x="209481" y="1078992"/>
          <a:ext cx="5276919"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5715000" y="1078992"/>
            <a:ext cx="3108960" cy="91440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9" name="Shape 5"/>
          <p:cNvSpPr/>
          <p:nvPr/>
        </p:nvSpPr>
        <p:spPr>
          <a:xfrm>
            <a:off x="5715000" y="1078992"/>
            <a:ext cx="64008" cy="914400"/>
          </a:xfrm>
          <a:prstGeom prst="rect">
            <a:avLst/>
          </a:prstGeom>
          <a:solidFill>
            <a:srgbClr val="E53935"/>
          </a:solidFill>
          <a:ln w="12700">
            <a:solidFill>
              <a:srgbClr val="E53935"/>
            </a:solidFill>
            <a:prstDash val="solid"/>
          </a:ln>
        </p:spPr>
      </p:sp>
      <p:sp>
        <p:nvSpPr>
          <p:cNvPr id="10" name="Text 6"/>
          <p:cNvSpPr/>
          <p:nvPr/>
        </p:nvSpPr>
        <p:spPr>
          <a:xfrm>
            <a:off x="5870448" y="1152144"/>
            <a:ext cx="2834640" cy="256032"/>
          </a:xfrm>
          <a:prstGeom prst="rect">
            <a:avLst/>
          </a:prstGeom>
          <a:noFill/>
          <a:ln/>
        </p:spPr>
        <p:txBody>
          <a:bodyPr wrap="square" lIns="0" tIns="0" rIns="0" bIns="0" rtlCol="0" anchor="ctr"/>
          <a:lstStyle/>
          <a:p>
            <a:pPr marL="0" indent="0">
              <a:buNone/>
            </a:pPr>
            <a:r>
              <a:rPr lang="en-US" sz="1100" b="1" dirty="0">
                <a:solidFill>
                  <a:srgbClr val="0D1B2A"/>
                </a:solidFill>
              </a:rPr>
              <a:t>Mild Negative Impact</a:t>
            </a:r>
            <a:endParaRPr lang="en-US" sz="1100" dirty="0"/>
          </a:p>
        </p:txBody>
      </p:sp>
      <p:sp>
        <p:nvSpPr>
          <p:cNvPr id="11" name="Text 7"/>
          <p:cNvSpPr/>
          <p:nvPr/>
        </p:nvSpPr>
        <p:spPr>
          <a:xfrm>
            <a:off x="5870448" y="1444752"/>
            <a:ext cx="2834640" cy="475488"/>
          </a:xfrm>
          <a:prstGeom prst="rect">
            <a:avLst/>
          </a:prstGeom>
          <a:noFill/>
          <a:ln/>
        </p:spPr>
        <p:txBody>
          <a:bodyPr wrap="square" lIns="0" tIns="0" rIns="0" bIns="0" rtlCol="0" anchor="ctr"/>
          <a:lstStyle/>
          <a:p>
            <a:pPr marL="0" indent="0">
              <a:buNone/>
            </a:pPr>
            <a:r>
              <a:rPr lang="en-US" sz="980" dirty="0">
                <a:solidFill>
                  <a:srgbClr val="1C2833"/>
                </a:solidFill>
              </a:rPr>
              <a:t>Correlation of −0.19 between discount% and revenue/profit — higher discounts slightly erode margins.</a:t>
            </a:r>
            <a:endParaRPr lang="en-US" sz="980" dirty="0"/>
          </a:p>
        </p:txBody>
      </p:sp>
      <p:sp>
        <p:nvSpPr>
          <p:cNvPr id="12" name="Shape 8"/>
          <p:cNvSpPr/>
          <p:nvPr/>
        </p:nvSpPr>
        <p:spPr>
          <a:xfrm>
            <a:off x="5715000" y="2084832"/>
            <a:ext cx="3108960" cy="91440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3" name="Shape 9"/>
          <p:cNvSpPr/>
          <p:nvPr/>
        </p:nvSpPr>
        <p:spPr>
          <a:xfrm>
            <a:off x="5715000" y="2084832"/>
            <a:ext cx="64008" cy="914400"/>
          </a:xfrm>
          <a:prstGeom prst="rect">
            <a:avLst/>
          </a:prstGeom>
          <a:solidFill>
            <a:srgbClr val="FFB300"/>
          </a:solidFill>
          <a:ln w="12700">
            <a:solidFill>
              <a:srgbClr val="FFB300"/>
            </a:solidFill>
            <a:prstDash val="solid"/>
          </a:ln>
        </p:spPr>
      </p:sp>
      <p:sp>
        <p:nvSpPr>
          <p:cNvPr id="14" name="Text 10"/>
          <p:cNvSpPr/>
          <p:nvPr/>
        </p:nvSpPr>
        <p:spPr>
          <a:xfrm>
            <a:off x="5870448" y="2157984"/>
            <a:ext cx="2834640" cy="256032"/>
          </a:xfrm>
          <a:prstGeom prst="rect">
            <a:avLst/>
          </a:prstGeom>
          <a:noFill/>
          <a:ln/>
        </p:spPr>
        <p:txBody>
          <a:bodyPr wrap="square" lIns="0" tIns="0" rIns="0" bIns="0" rtlCol="0" anchor="ctr"/>
          <a:lstStyle/>
          <a:p>
            <a:pPr marL="0" indent="0">
              <a:buNone/>
            </a:pPr>
            <a:r>
              <a:rPr lang="en-US" sz="1100" b="1" dirty="0">
                <a:solidFill>
                  <a:srgbClr val="0D1B2A"/>
                </a:solidFill>
              </a:rPr>
              <a:t>Uniform Discounting</a:t>
            </a:r>
            <a:endParaRPr lang="en-US" sz="1100" dirty="0"/>
          </a:p>
        </p:txBody>
      </p:sp>
      <p:sp>
        <p:nvSpPr>
          <p:cNvPr id="15" name="Text 11"/>
          <p:cNvSpPr/>
          <p:nvPr/>
        </p:nvSpPr>
        <p:spPr>
          <a:xfrm>
            <a:off x="5870448" y="2450592"/>
            <a:ext cx="2834640" cy="475488"/>
          </a:xfrm>
          <a:prstGeom prst="rect">
            <a:avLst/>
          </a:prstGeom>
          <a:noFill/>
          <a:ln/>
        </p:spPr>
        <p:txBody>
          <a:bodyPr wrap="square" lIns="0" tIns="0" rIns="0" bIns="0" rtlCol="0" anchor="ctr"/>
          <a:lstStyle/>
          <a:p>
            <a:pPr marL="0" indent="0">
              <a:buNone/>
            </a:pPr>
            <a:r>
              <a:rPr lang="en-US" sz="980" dirty="0">
                <a:solidFill>
                  <a:srgbClr val="1C2833"/>
                </a:solidFill>
              </a:rPr>
              <a:t>Average discount is ~18% across ALL 7 categories — no strategic differentiation by category demand.</a:t>
            </a:r>
            <a:endParaRPr lang="en-US" sz="980" dirty="0"/>
          </a:p>
        </p:txBody>
      </p:sp>
      <p:sp>
        <p:nvSpPr>
          <p:cNvPr id="16" name="Shape 12"/>
          <p:cNvSpPr/>
          <p:nvPr/>
        </p:nvSpPr>
        <p:spPr>
          <a:xfrm>
            <a:off x="5715000" y="3090672"/>
            <a:ext cx="3108960" cy="91440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7" name="Shape 13"/>
          <p:cNvSpPr/>
          <p:nvPr/>
        </p:nvSpPr>
        <p:spPr>
          <a:xfrm>
            <a:off x="5715000" y="3090672"/>
            <a:ext cx="64008" cy="914400"/>
          </a:xfrm>
          <a:prstGeom prst="rect">
            <a:avLst/>
          </a:prstGeom>
          <a:solidFill>
            <a:srgbClr val="2E7D32"/>
          </a:solidFill>
          <a:ln w="12700">
            <a:solidFill>
              <a:srgbClr val="2E7D32"/>
            </a:solidFill>
            <a:prstDash val="solid"/>
          </a:ln>
        </p:spPr>
      </p:sp>
      <p:sp>
        <p:nvSpPr>
          <p:cNvPr id="18" name="Text 14"/>
          <p:cNvSpPr/>
          <p:nvPr/>
        </p:nvSpPr>
        <p:spPr>
          <a:xfrm>
            <a:off x="5870448" y="3163824"/>
            <a:ext cx="2834640" cy="256032"/>
          </a:xfrm>
          <a:prstGeom prst="rect">
            <a:avLst/>
          </a:prstGeom>
          <a:noFill/>
          <a:ln/>
        </p:spPr>
        <p:txBody>
          <a:bodyPr wrap="square" lIns="0" tIns="0" rIns="0" bIns="0" rtlCol="0" anchor="ctr"/>
          <a:lstStyle/>
          <a:p>
            <a:pPr marL="0" indent="0">
              <a:buNone/>
            </a:pPr>
            <a:r>
              <a:rPr lang="en-US" sz="1100" b="1" dirty="0">
                <a:solidFill>
                  <a:srgbClr val="0D1B2A"/>
                </a:solidFill>
              </a:rPr>
              <a:t>Quantity Drives Revenue</a:t>
            </a:r>
            <a:endParaRPr lang="en-US" sz="1100" dirty="0"/>
          </a:p>
        </p:txBody>
      </p:sp>
      <p:sp>
        <p:nvSpPr>
          <p:cNvPr id="19" name="Text 15"/>
          <p:cNvSpPr/>
          <p:nvPr/>
        </p:nvSpPr>
        <p:spPr>
          <a:xfrm>
            <a:off x="5870448" y="3456432"/>
            <a:ext cx="2834640" cy="475488"/>
          </a:xfrm>
          <a:prstGeom prst="rect">
            <a:avLst/>
          </a:prstGeom>
          <a:noFill/>
          <a:ln/>
        </p:spPr>
        <p:txBody>
          <a:bodyPr wrap="square" lIns="0" tIns="0" rIns="0" bIns="0" rtlCol="0" anchor="ctr"/>
          <a:lstStyle/>
          <a:p>
            <a:pPr marL="0" indent="0">
              <a:buNone/>
            </a:pPr>
            <a:r>
              <a:rPr lang="en-US" sz="980" dirty="0">
                <a:solidFill>
                  <a:srgbClr val="1C2833"/>
                </a:solidFill>
              </a:rPr>
              <a:t>Quantity has the strongest revenue correlation (0.58) — volume strategy more impactful than price cuts.</a:t>
            </a:r>
            <a:endParaRPr lang="en-US" sz="980" dirty="0"/>
          </a:p>
        </p:txBody>
      </p:sp>
      <p:sp>
        <p:nvSpPr>
          <p:cNvPr id="20" name="Shape 16"/>
          <p:cNvSpPr/>
          <p:nvPr/>
        </p:nvSpPr>
        <p:spPr>
          <a:xfrm>
            <a:off x="5715000" y="4096512"/>
            <a:ext cx="3108960" cy="91440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21" name="Shape 17"/>
          <p:cNvSpPr/>
          <p:nvPr/>
        </p:nvSpPr>
        <p:spPr>
          <a:xfrm>
            <a:off x="5715000" y="4096512"/>
            <a:ext cx="64008" cy="914400"/>
          </a:xfrm>
          <a:prstGeom prst="rect">
            <a:avLst/>
          </a:prstGeom>
          <a:solidFill>
            <a:srgbClr val="00897B"/>
          </a:solidFill>
          <a:ln w="12700">
            <a:solidFill>
              <a:srgbClr val="00897B"/>
            </a:solidFill>
            <a:prstDash val="solid"/>
          </a:ln>
        </p:spPr>
      </p:sp>
      <p:sp>
        <p:nvSpPr>
          <p:cNvPr id="22" name="Text 18"/>
          <p:cNvSpPr/>
          <p:nvPr/>
        </p:nvSpPr>
        <p:spPr>
          <a:xfrm>
            <a:off x="5870448" y="4169664"/>
            <a:ext cx="2834640" cy="256032"/>
          </a:xfrm>
          <a:prstGeom prst="rect">
            <a:avLst/>
          </a:prstGeom>
          <a:noFill/>
          <a:ln/>
        </p:spPr>
        <p:txBody>
          <a:bodyPr wrap="square" lIns="0" tIns="0" rIns="0" bIns="0" rtlCol="0" anchor="ctr"/>
          <a:lstStyle/>
          <a:p>
            <a:pPr marL="0" indent="0">
              <a:buNone/>
            </a:pPr>
            <a:r>
              <a:rPr lang="en-US" sz="1100" b="1" dirty="0">
                <a:solidFill>
                  <a:srgbClr val="0D1B2A"/>
                </a:solidFill>
              </a:rPr>
              <a:t>Opportunity Zone</a:t>
            </a:r>
            <a:endParaRPr lang="en-US" sz="1100" dirty="0"/>
          </a:p>
        </p:txBody>
      </p:sp>
      <p:sp>
        <p:nvSpPr>
          <p:cNvPr id="23" name="Text 19"/>
          <p:cNvSpPr/>
          <p:nvPr/>
        </p:nvSpPr>
        <p:spPr>
          <a:xfrm>
            <a:off x="5870448" y="4462272"/>
            <a:ext cx="2834640" cy="475488"/>
          </a:xfrm>
          <a:prstGeom prst="rect">
            <a:avLst/>
          </a:prstGeom>
          <a:noFill/>
          <a:ln/>
        </p:spPr>
        <p:txBody>
          <a:bodyPr wrap="square" lIns="0" tIns="0" rIns="0" bIns="0" rtlCol="0" anchor="ctr"/>
          <a:lstStyle/>
          <a:p>
            <a:pPr marL="0" indent="0">
              <a:buNone/>
            </a:pPr>
            <a:r>
              <a:rPr lang="en-US" sz="980" dirty="0">
                <a:solidFill>
                  <a:srgbClr val="1C2833"/>
                </a:solidFill>
              </a:rPr>
              <a:t>Reduce discounts on high-demand Electronics (margin 95.5%). Offer targeted deals only on Footwear &amp; Fashion.</a:t>
            </a:r>
            <a:endParaRPr lang="en-US" sz="980" dirty="0"/>
          </a:p>
        </p:txBody>
      </p:sp>
      <p:pic>
        <p:nvPicPr>
          <p:cNvPr id="1026" name="Picture 2">
            <a:extLst>
              <a:ext uri="{FF2B5EF4-FFF2-40B4-BE49-F238E27FC236}">
                <a16:creationId xmlns:a16="http://schemas.microsoft.com/office/drawing/2014/main" id="{5413E402-0A38-CEF7-3E61-31AC5A74EB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556" y="3145536"/>
            <a:ext cx="5070462" cy="19606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06  Return Rate Analysis</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Which categories and countries have the highest return rates?</a:t>
            </a:r>
            <a:endParaRPr lang="en-US" sz="1100" dirty="0"/>
          </a:p>
        </p:txBody>
      </p:sp>
      <p:graphicFrame>
        <p:nvGraphicFramePr>
          <p:cNvPr id="6" name="Chart 0"/>
          <p:cNvGraphicFramePr/>
          <p:nvPr/>
        </p:nvGraphicFramePr>
        <p:xfrm>
          <a:off x="365760" y="1078992"/>
          <a:ext cx="2926080"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3429000" y="1078992"/>
          <a:ext cx="5394960" cy="23774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2"/>
          <p:cNvGraphicFramePr/>
          <p:nvPr>
            <p:extLst>
              <p:ext uri="{D42A27DB-BD31-4B8C-83A1-F6EECF244321}">
                <p14:modId xmlns:p14="http://schemas.microsoft.com/office/powerpoint/2010/main" val="285900109"/>
              </p:ext>
            </p:extLst>
          </p:nvPr>
        </p:nvGraphicFramePr>
        <p:xfrm>
          <a:off x="365760" y="3503814"/>
          <a:ext cx="8458200" cy="141732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4"/>
          <p:cNvSpPr/>
          <p:nvPr/>
        </p:nvSpPr>
        <p:spPr>
          <a:xfrm>
            <a:off x="372687" y="4806141"/>
            <a:ext cx="8412480" cy="347472"/>
          </a:xfrm>
          <a:prstGeom prst="rect">
            <a:avLst/>
          </a:prstGeom>
          <a:noFill/>
          <a:ln/>
        </p:spPr>
        <p:txBody>
          <a:bodyPr wrap="square" lIns="0" tIns="0" rIns="0" bIns="0" rtlCol="0" anchor="ctr"/>
          <a:lstStyle/>
          <a:p>
            <a:pPr marL="0" indent="0" algn="ctr">
              <a:buNone/>
            </a:pPr>
            <a:r>
              <a:rPr lang="en-US" sz="1050" b="1" i="1" dirty="0">
                <a:solidFill>
                  <a:srgbClr val="E53935"/>
                </a:solidFill>
              </a:rPr>
              <a:t>⚠  14.81% return rate exceeds the e-commerce benchmark of 8–12%. Sports, Fashion &amp; Germany/Canada need quality review.</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07  Marketing Channel Analysis — Traffic Sources</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Which acquisition channel drives the most revenue and profit?</a:t>
            </a:r>
            <a:endParaRPr lang="en-US" sz="1100" dirty="0"/>
          </a:p>
        </p:txBody>
      </p:sp>
      <p:graphicFrame>
        <p:nvGraphicFramePr>
          <p:cNvPr id="6" name="Chart 0"/>
          <p:cNvGraphicFramePr/>
          <p:nvPr/>
        </p:nvGraphicFramePr>
        <p:xfrm>
          <a:off x="365760" y="1078992"/>
          <a:ext cx="56692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217920" y="1078992"/>
            <a:ext cx="2606040" cy="338328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8" name="Shape 5"/>
          <p:cNvSpPr/>
          <p:nvPr/>
        </p:nvSpPr>
        <p:spPr>
          <a:xfrm>
            <a:off x="6217920" y="1078992"/>
            <a:ext cx="2606040" cy="365760"/>
          </a:xfrm>
          <a:prstGeom prst="rect">
            <a:avLst/>
          </a:prstGeom>
          <a:solidFill>
            <a:srgbClr val="0D1B2A"/>
          </a:solidFill>
          <a:ln w="12700">
            <a:solidFill>
              <a:srgbClr val="0D1B2A"/>
            </a:solidFill>
            <a:prstDash val="solid"/>
          </a:ln>
        </p:spPr>
      </p:sp>
      <p:sp>
        <p:nvSpPr>
          <p:cNvPr id="9" name="Text 6"/>
          <p:cNvSpPr/>
          <p:nvPr/>
        </p:nvSpPr>
        <p:spPr>
          <a:xfrm>
            <a:off x="6309360" y="1115568"/>
            <a:ext cx="2423160" cy="274320"/>
          </a:xfrm>
          <a:prstGeom prst="rect">
            <a:avLst/>
          </a:prstGeom>
          <a:noFill/>
          <a:ln/>
        </p:spPr>
        <p:txBody>
          <a:bodyPr wrap="square" lIns="0" tIns="0" rIns="0" bIns="0" rtlCol="0" anchor="ctr"/>
          <a:lstStyle/>
          <a:p>
            <a:pPr marL="0" indent="0" algn="ctr">
              <a:buNone/>
            </a:pPr>
            <a:r>
              <a:rPr lang="en-US" sz="1100" b="1" dirty="0">
                <a:solidFill>
                  <a:srgbClr val="FFFFFF"/>
                </a:solidFill>
              </a:rPr>
              <a:t>Channel Summary</a:t>
            </a:r>
            <a:endParaRPr lang="en-US" sz="1100" dirty="0"/>
          </a:p>
        </p:txBody>
      </p:sp>
      <p:sp>
        <p:nvSpPr>
          <p:cNvPr id="10" name="Shape 7"/>
          <p:cNvSpPr/>
          <p:nvPr/>
        </p:nvSpPr>
        <p:spPr>
          <a:xfrm>
            <a:off x="6217920" y="1508760"/>
            <a:ext cx="2606040" cy="530352"/>
          </a:xfrm>
          <a:prstGeom prst="rect">
            <a:avLst/>
          </a:prstGeom>
          <a:solidFill>
            <a:srgbClr val="E0F7FA"/>
          </a:solidFill>
          <a:ln w="12700">
            <a:solidFill>
              <a:srgbClr val="CFD8DC"/>
            </a:solidFill>
            <a:prstDash val="solid"/>
          </a:ln>
        </p:spPr>
      </p:sp>
      <p:sp>
        <p:nvSpPr>
          <p:cNvPr id="11" name="Text 8"/>
          <p:cNvSpPr/>
          <p:nvPr/>
        </p:nvSpPr>
        <p:spPr>
          <a:xfrm>
            <a:off x="6309360" y="1554480"/>
            <a:ext cx="2423160" cy="228600"/>
          </a:xfrm>
          <a:prstGeom prst="rect">
            <a:avLst/>
          </a:prstGeom>
          <a:noFill/>
          <a:ln/>
        </p:spPr>
        <p:txBody>
          <a:bodyPr wrap="square" lIns="0" tIns="0" rIns="0" bIns="0" rtlCol="0" anchor="ctr"/>
          <a:lstStyle/>
          <a:p>
            <a:pPr marL="0" indent="0">
              <a:buNone/>
            </a:pPr>
            <a:r>
              <a:rPr lang="en-US" sz="1000" b="1" dirty="0">
                <a:solidFill>
                  <a:srgbClr val="00897B"/>
                </a:solidFill>
              </a:rPr>
              <a:t>📱 Social Media</a:t>
            </a:r>
            <a:endParaRPr lang="en-US" sz="1000" dirty="0"/>
          </a:p>
        </p:txBody>
      </p:sp>
      <p:sp>
        <p:nvSpPr>
          <p:cNvPr id="12" name="Text 9"/>
          <p:cNvSpPr/>
          <p:nvPr/>
        </p:nvSpPr>
        <p:spPr>
          <a:xfrm>
            <a:off x="6309360" y="1783080"/>
            <a:ext cx="2423160" cy="201168"/>
          </a:xfrm>
          <a:prstGeom prst="rect">
            <a:avLst/>
          </a:prstGeom>
          <a:noFill/>
          <a:ln/>
        </p:spPr>
        <p:txBody>
          <a:bodyPr wrap="square" lIns="0" tIns="0" rIns="0" bIns="0" rtlCol="0" anchor="ctr"/>
          <a:lstStyle/>
          <a:p>
            <a:pPr marL="0" indent="0">
              <a:buNone/>
            </a:pPr>
            <a:r>
              <a:rPr lang="en-US" sz="900" dirty="0">
                <a:solidFill>
                  <a:srgbClr val="78909C"/>
                </a:solidFill>
              </a:rPr>
              <a:t>₹120.2L  |  12,024 orders</a:t>
            </a:r>
            <a:endParaRPr lang="en-US" sz="900" dirty="0"/>
          </a:p>
        </p:txBody>
      </p:sp>
      <p:sp>
        <p:nvSpPr>
          <p:cNvPr id="13" name="Shape 10"/>
          <p:cNvSpPr/>
          <p:nvPr/>
        </p:nvSpPr>
        <p:spPr>
          <a:xfrm>
            <a:off x="6217920" y="2075688"/>
            <a:ext cx="2606040" cy="530352"/>
          </a:xfrm>
          <a:prstGeom prst="rect">
            <a:avLst/>
          </a:prstGeom>
          <a:solidFill>
            <a:srgbClr val="FFFFFF"/>
          </a:solidFill>
          <a:ln w="12700">
            <a:solidFill>
              <a:srgbClr val="CFD8DC"/>
            </a:solidFill>
            <a:prstDash val="solid"/>
          </a:ln>
        </p:spPr>
      </p:sp>
      <p:sp>
        <p:nvSpPr>
          <p:cNvPr id="14" name="Text 11"/>
          <p:cNvSpPr/>
          <p:nvPr/>
        </p:nvSpPr>
        <p:spPr>
          <a:xfrm>
            <a:off x="6309360" y="2121408"/>
            <a:ext cx="2423160" cy="228600"/>
          </a:xfrm>
          <a:prstGeom prst="rect">
            <a:avLst/>
          </a:prstGeom>
          <a:noFill/>
          <a:ln/>
        </p:spPr>
        <p:txBody>
          <a:bodyPr wrap="square" lIns="0" tIns="0" rIns="0" bIns="0" rtlCol="0" anchor="ctr"/>
          <a:lstStyle/>
          <a:p>
            <a:pPr marL="0" indent="0">
              <a:buNone/>
            </a:pPr>
            <a:r>
              <a:rPr lang="en-US" sz="1000" dirty="0">
                <a:solidFill>
                  <a:srgbClr val="0D1B2A"/>
                </a:solidFill>
              </a:rPr>
              <a:t>🖥️ Direct</a:t>
            </a:r>
            <a:endParaRPr lang="en-US" sz="1000" dirty="0"/>
          </a:p>
        </p:txBody>
      </p:sp>
      <p:sp>
        <p:nvSpPr>
          <p:cNvPr id="15" name="Text 12"/>
          <p:cNvSpPr/>
          <p:nvPr/>
        </p:nvSpPr>
        <p:spPr>
          <a:xfrm>
            <a:off x="6309360" y="2350008"/>
            <a:ext cx="2423160" cy="201168"/>
          </a:xfrm>
          <a:prstGeom prst="rect">
            <a:avLst/>
          </a:prstGeom>
          <a:noFill/>
          <a:ln/>
        </p:spPr>
        <p:txBody>
          <a:bodyPr wrap="square" lIns="0" tIns="0" rIns="0" bIns="0" rtlCol="0" anchor="ctr"/>
          <a:lstStyle/>
          <a:p>
            <a:pPr marL="0" indent="0">
              <a:buNone/>
            </a:pPr>
            <a:r>
              <a:rPr lang="en-US" sz="900" dirty="0">
                <a:solidFill>
                  <a:srgbClr val="78909C"/>
                </a:solidFill>
              </a:rPr>
              <a:t>₹119.5L  |  11,961 orders</a:t>
            </a:r>
            <a:endParaRPr lang="en-US" sz="900" dirty="0"/>
          </a:p>
        </p:txBody>
      </p:sp>
      <p:sp>
        <p:nvSpPr>
          <p:cNvPr id="16" name="Shape 13"/>
          <p:cNvSpPr/>
          <p:nvPr/>
        </p:nvSpPr>
        <p:spPr>
          <a:xfrm>
            <a:off x="6217920" y="2642616"/>
            <a:ext cx="2606040" cy="530352"/>
          </a:xfrm>
          <a:prstGeom prst="rect">
            <a:avLst/>
          </a:prstGeom>
          <a:solidFill>
            <a:srgbClr val="FFFFFF"/>
          </a:solidFill>
          <a:ln w="12700">
            <a:solidFill>
              <a:srgbClr val="CFD8DC"/>
            </a:solidFill>
            <a:prstDash val="solid"/>
          </a:ln>
        </p:spPr>
      </p:sp>
      <p:sp>
        <p:nvSpPr>
          <p:cNvPr id="17" name="Text 14"/>
          <p:cNvSpPr/>
          <p:nvPr/>
        </p:nvSpPr>
        <p:spPr>
          <a:xfrm>
            <a:off x="6309360" y="2688336"/>
            <a:ext cx="2423160" cy="228600"/>
          </a:xfrm>
          <a:prstGeom prst="rect">
            <a:avLst/>
          </a:prstGeom>
          <a:noFill/>
          <a:ln/>
        </p:spPr>
        <p:txBody>
          <a:bodyPr wrap="square" lIns="0" tIns="0" rIns="0" bIns="0" rtlCol="0" anchor="ctr"/>
          <a:lstStyle/>
          <a:p>
            <a:pPr marL="0" indent="0">
              <a:buNone/>
            </a:pPr>
            <a:r>
              <a:rPr lang="en-US" sz="1000" dirty="0">
                <a:solidFill>
                  <a:srgbClr val="0D1B2A"/>
                </a:solidFill>
              </a:rPr>
              <a:t>💰 Paid Ads</a:t>
            </a:r>
            <a:endParaRPr lang="en-US" sz="1000" dirty="0"/>
          </a:p>
        </p:txBody>
      </p:sp>
      <p:sp>
        <p:nvSpPr>
          <p:cNvPr id="18" name="Text 15"/>
          <p:cNvSpPr/>
          <p:nvPr/>
        </p:nvSpPr>
        <p:spPr>
          <a:xfrm>
            <a:off x="6309360" y="2916936"/>
            <a:ext cx="2423160" cy="201168"/>
          </a:xfrm>
          <a:prstGeom prst="rect">
            <a:avLst/>
          </a:prstGeom>
          <a:noFill/>
          <a:ln/>
        </p:spPr>
        <p:txBody>
          <a:bodyPr wrap="square" lIns="0" tIns="0" rIns="0" bIns="0" rtlCol="0" anchor="ctr"/>
          <a:lstStyle/>
          <a:p>
            <a:pPr marL="0" indent="0">
              <a:buNone/>
            </a:pPr>
            <a:r>
              <a:rPr lang="en-US" sz="900" dirty="0">
                <a:solidFill>
                  <a:srgbClr val="78909C"/>
                </a:solidFill>
              </a:rPr>
              <a:t>₹119.4L  |  12,018 orders</a:t>
            </a:r>
            <a:endParaRPr lang="en-US" sz="900" dirty="0"/>
          </a:p>
        </p:txBody>
      </p:sp>
      <p:sp>
        <p:nvSpPr>
          <p:cNvPr id="19" name="Shape 16"/>
          <p:cNvSpPr/>
          <p:nvPr/>
        </p:nvSpPr>
        <p:spPr>
          <a:xfrm>
            <a:off x="6217920" y="3209544"/>
            <a:ext cx="2606040" cy="530352"/>
          </a:xfrm>
          <a:prstGeom prst="rect">
            <a:avLst/>
          </a:prstGeom>
          <a:solidFill>
            <a:srgbClr val="FFFFFF"/>
          </a:solidFill>
          <a:ln w="12700">
            <a:solidFill>
              <a:srgbClr val="CFD8DC"/>
            </a:solidFill>
            <a:prstDash val="solid"/>
          </a:ln>
        </p:spPr>
      </p:sp>
      <p:sp>
        <p:nvSpPr>
          <p:cNvPr id="20" name="Text 17"/>
          <p:cNvSpPr/>
          <p:nvPr/>
        </p:nvSpPr>
        <p:spPr>
          <a:xfrm>
            <a:off x="6309360" y="3255264"/>
            <a:ext cx="2423160" cy="228600"/>
          </a:xfrm>
          <a:prstGeom prst="rect">
            <a:avLst/>
          </a:prstGeom>
          <a:noFill/>
          <a:ln/>
        </p:spPr>
        <p:txBody>
          <a:bodyPr wrap="square" lIns="0" tIns="0" rIns="0" bIns="0" rtlCol="0" anchor="ctr"/>
          <a:lstStyle/>
          <a:p>
            <a:pPr marL="0" indent="0">
              <a:buNone/>
            </a:pPr>
            <a:r>
              <a:rPr lang="en-US" sz="1000" dirty="0">
                <a:solidFill>
                  <a:srgbClr val="0D1B2A"/>
                </a:solidFill>
              </a:rPr>
              <a:t>🔍 Organic</a:t>
            </a:r>
            <a:endParaRPr lang="en-US" sz="1000" dirty="0"/>
          </a:p>
        </p:txBody>
      </p:sp>
      <p:sp>
        <p:nvSpPr>
          <p:cNvPr id="21" name="Text 18"/>
          <p:cNvSpPr/>
          <p:nvPr/>
        </p:nvSpPr>
        <p:spPr>
          <a:xfrm>
            <a:off x="6309360" y="3483864"/>
            <a:ext cx="2423160" cy="201168"/>
          </a:xfrm>
          <a:prstGeom prst="rect">
            <a:avLst/>
          </a:prstGeom>
          <a:noFill/>
          <a:ln/>
        </p:spPr>
        <p:txBody>
          <a:bodyPr wrap="square" lIns="0" tIns="0" rIns="0" bIns="0" rtlCol="0" anchor="ctr"/>
          <a:lstStyle/>
          <a:p>
            <a:pPr marL="0" indent="0">
              <a:buNone/>
            </a:pPr>
            <a:r>
              <a:rPr lang="en-US" sz="900" dirty="0">
                <a:solidFill>
                  <a:srgbClr val="78909C"/>
                </a:solidFill>
              </a:rPr>
              <a:t>₹119.1L  |  12,075 orders</a:t>
            </a:r>
            <a:endParaRPr lang="en-US" sz="900" dirty="0"/>
          </a:p>
        </p:txBody>
      </p:sp>
      <p:sp>
        <p:nvSpPr>
          <p:cNvPr id="22" name="Shape 19"/>
          <p:cNvSpPr/>
          <p:nvPr/>
        </p:nvSpPr>
        <p:spPr>
          <a:xfrm>
            <a:off x="6217920" y="3776472"/>
            <a:ext cx="2606040" cy="530352"/>
          </a:xfrm>
          <a:prstGeom prst="rect">
            <a:avLst/>
          </a:prstGeom>
          <a:solidFill>
            <a:srgbClr val="FFFFFF"/>
          </a:solidFill>
          <a:ln w="12700">
            <a:solidFill>
              <a:srgbClr val="CFD8DC"/>
            </a:solidFill>
            <a:prstDash val="solid"/>
          </a:ln>
        </p:spPr>
      </p:sp>
      <p:sp>
        <p:nvSpPr>
          <p:cNvPr id="23" name="Text 20"/>
          <p:cNvSpPr/>
          <p:nvPr/>
        </p:nvSpPr>
        <p:spPr>
          <a:xfrm>
            <a:off x="6309360" y="3822192"/>
            <a:ext cx="2423160" cy="228600"/>
          </a:xfrm>
          <a:prstGeom prst="rect">
            <a:avLst/>
          </a:prstGeom>
          <a:noFill/>
          <a:ln/>
        </p:spPr>
        <p:txBody>
          <a:bodyPr wrap="square" lIns="0" tIns="0" rIns="0" bIns="0" rtlCol="0" anchor="ctr"/>
          <a:lstStyle/>
          <a:p>
            <a:pPr marL="0" indent="0">
              <a:buNone/>
            </a:pPr>
            <a:r>
              <a:rPr lang="en-US" sz="1000" dirty="0">
                <a:solidFill>
                  <a:srgbClr val="0D1B2A"/>
                </a:solidFill>
              </a:rPr>
              <a:t>📧 Email</a:t>
            </a:r>
            <a:endParaRPr lang="en-US" sz="1000" dirty="0"/>
          </a:p>
        </p:txBody>
      </p:sp>
      <p:sp>
        <p:nvSpPr>
          <p:cNvPr id="24" name="Text 21"/>
          <p:cNvSpPr/>
          <p:nvPr/>
        </p:nvSpPr>
        <p:spPr>
          <a:xfrm>
            <a:off x="6309360" y="4050792"/>
            <a:ext cx="2423160" cy="201168"/>
          </a:xfrm>
          <a:prstGeom prst="rect">
            <a:avLst/>
          </a:prstGeom>
          <a:noFill/>
          <a:ln/>
        </p:spPr>
        <p:txBody>
          <a:bodyPr wrap="square" lIns="0" tIns="0" rIns="0" bIns="0" rtlCol="0" anchor="ctr"/>
          <a:lstStyle/>
          <a:p>
            <a:pPr marL="0" indent="0">
              <a:buNone/>
            </a:pPr>
            <a:r>
              <a:rPr lang="en-US" sz="900" dirty="0">
                <a:solidFill>
                  <a:srgbClr val="78909C"/>
                </a:solidFill>
              </a:rPr>
              <a:t>₹118.2L  |  11,922 orders</a:t>
            </a:r>
            <a:endParaRPr lang="en-US" sz="900" dirty="0"/>
          </a:p>
        </p:txBody>
      </p:sp>
      <p:sp>
        <p:nvSpPr>
          <p:cNvPr id="25" name="Text 22"/>
          <p:cNvSpPr/>
          <p:nvPr/>
        </p:nvSpPr>
        <p:spPr>
          <a:xfrm>
            <a:off x="365760" y="4553712"/>
            <a:ext cx="8412480" cy="384048"/>
          </a:xfrm>
          <a:prstGeom prst="rect">
            <a:avLst/>
          </a:prstGeom>
          <a:noFill/>
          <a:ln/>
        </p:spPr>
        <p:txBody>
          <a:bodyPr wrap="square" lIns="0" tIns="0" rIns="0" bIns="0" rtlCol="0" anchor="ctr"/>
          <a:lstStyle/>
          <a:p>
            <a:pPr marL="0" indent="0">
              <a:buNone/>
            </a:pPr>
            <a:r>
              <a:rPr lang="en-US" sz="1050" i="1" dirty="0">
                <a:solidFill>
                  <a:srgbClr val="78909C"/>
                </a:solidFill>
              </a:rPr>
              <a:t>📌  </a:t>
            </a:r>
            <a:r>
              <a:rPr lang="en-US" sz="1050" i="1" dirty="0">
                <a:solidFill>
                  <a:schemeClr val="tx1">
                    <a:lumMod val="95000"/>
                    <a:lumOff val="5000"/>
                  </a:schemeClr>
                </a:solidFill>
              </a:rPr>
              <a:t>Channels are nearly equal in revenue (spread &lt;₹2L), suggesting untapped potential for Social Media &amp; Email to pull ahead with targeted campaigns</a:t>
            </a:r>
            <a:r>
              <a:rPr lang="en-US" sz="1050" i="1" dirty="0">
                <a:solidFill>
                  <a:srgbClr val="78909C"/>
                </a:solidFill>
              </a:rPr>
              <a:t>.</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07  Geographic Analysis — Revenue by Country</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Which countries lead in revenue, orders and satisfaction?</a:t>
            </a:r>
            <a:endParaRPr lang="en-US" sz="1100" dirty="0"/>
          </a:p>
        </p:txBody>
      </p:sp>
      <p:graphicFrame>
        <p:nvGraphicFramePr>
          <p:cNvPr id="6" name="Chart 0"/>
          <p:cNvGraphicFramePr/>
          <p:nvPr>
            <p:extLst>
              <p:ext uri="{D42A27DB-BD31-4B8C-83A1-F6EECF244321}">
                <p14:modId xmlns:p14="http://schemas.microsoft.com/office/powerpoint/2010/main" val="2051312409"/>
              </p:ext>
            </p:extLst>
          </p:nvPr>
        </p:nvGraphicFramePr>
        <p:xfrm>
          <a:off x="274321" y="1078992"/>
          <a:ext cx="5232859" cy="21305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406542884"/>
              </p:ext>
            </p:extLst>
          </p:nvPr>
        </p:nvGraphicFramePr>
        <p:xfrm>
          <a:off x="274321" y="3191256"/>
          <a:ext cx="5232858" cy="1897380"/>
        </p:xfrm>
        <a:graphic>
          <a:graphicData uri="http://schemas.openxmlformats.org/drawingml/2006/table">
            <a:tbl>
              <a:tblPr/>
              <a:tblGrid>
                <a:gridCol w="1401658">
                  <a:extLst>
                    <a:ext uri="{9D8B030D-6E8A-4147-A177-3AD203B41FA5}">
                      <a16:colId xmlns:a16="http://schemas.microsoft.com/office/drawing/2014/main" val="20000"/>
                    </a:ext>
                  </a:extLst>
                </a:gridCol>
                <a:gridCol w="1401658">
                  <a:extLst>
                    <a:ext uri="{9D8B030D-6E8A-4147-A177-3AD203B41FA5}">
                      <a16:colId xmlns:a16="http://schemas.microsoft.com/office/drawing/2014/main" val="20001"/>
                    </a:ext>
                  </a:extLst>
                </a:gridCol>
                <a:gridCol w="1261493">
                  <a:extLst>
                    <a:ext uri="{9D8B030D-6E8A-4147-A177-3AD203B41FA5}">
                      <a16:colId xmlns:a16="http://schemas.microsoft.com/office/drawing/2014/main" val="20002"/>
                    </a:ext>
                  </a:extLst>
                </a:gridCol>
                <a:gridCol w="1168049">
                  <a:extLst>
                    <a:ext uri="{9D8B030D-6E8A-4147-A177-3AD203B41FA5}">
                      <a16:colId xmlns:a16="http://schemas.microsoft.com/office/drawing/2014/main" val="20003"/>
                    </a:ext>
                  </a:extLst>
                </a:gridCol>
              </a:tblGrid>
              <a:tr h="225038">
                <a:tc>
                  <a:txBody>
                    <a:bodyPr/>
                    <a:lstStyle/>
                    <a:p>
                      <a:pPr marL="0" indent="0" algn="ctr">
                        <a:buNone/>
                      </a:pPr>
                      <a:r>
                        <a:rPr lang="en-US" sz="1000" b="1" dirty="0">
                          <a:solidFill>
                            <a:srgbClr val="FFFFFF"/>
                          </a:solidFill>
                        </a:rPr>
                        <a:t>Country</a:t>
                      </a:r>
                      <a:endParaRPr lang="en-US" sz="100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rPr>
                        <a:t>Revenue</a:t>
                      </a:r>
                      <a:endParaRPr lang="en-US" sz="100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rPr>
                        <a:t>Orders</a:t>
                      </a:r>
                      <a:endParaRPr lang="en-US" sz="100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rPr>
                        <a:t>Rating</a:t>
                      </a:r>
                      <a:endParaRPr lang="en-US" sz="100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218005">
                <a:tc>
                  <a:txBody>
                    <a:bodyPr/>
                    <a:lstStyle/>
                    <a:p>
                      <a:pPr marL="0" indent="0" algn="ctr">
                        <a:buNone/>
                      </a:pPr>
                      <a:r>
                        <a:rPr lang="en-US" sz="950" dirty="0">
                          <a:solidFill>
                            <a:srgbClr val="1C2833"/>
                          </a:solidFill>
                        </a:rPr>
                        <a:t>Australia</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₹87.0L</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8,714</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2.99</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8005">
                <a:tc>
                  <a:txBody>
                    <a:bodyPr/>
                    <a:lstStyle/>
                    <a:p>
                      <a:pPr marL="0" indent="0" algn="ctr">
                        <a:buNone/>
                      </a:pPr>
                      <a:r>
                        <a:rPr lang="en-US" sz="950" dirty="0">
                          <a:solidFill>
                            <a:srgbClr val="1C2833"/>
                          </a:solidFill>
                        </a:rPr>
                        <a:t>Germany</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tc>
                  <a:txBody>
                    <a:bodyPr/>
                    <a:lstStyle/>
                    <a:p>
                      <a:pPr marL="0" indent="0" algn="ctr">
                        <a:buNone/>
                      </a:pPr>
                      <a:r>
                        <a:rPr lang="en-US" sz="950" dirty="0">
                          <a:solidFill>
                            <a:srgbClr val="1C2833"/>
                          </a:solidFill>
                        </a:rPr>
                        <a:t>₹85.7L</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tc>
                  <a:txBody>
                    <a:bodyPr/>
                    <a:lstStyle/>
                    <a:p>
                      <a:pPr marL="0" indent="0" algn="ctr">
                        <a:buNone/>
                      </a:pPr>
                      <a:r>
                        <a:rPr lang="en-US" sz="950" dirty="0">
                          <a:solidFill>
                            <a:srgbClr val="1C2833"/>
                          </a:solidFill>
                        </a:rPr>
                        <a:t>8,606</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tc>
                  <a:txBody>
                    <a:bodyPr/>
                    <a:lstStyle/>
                    <a:p>
                      <a:pPr marL="0" indent="0" algn="ctr">
                        <a:buNone/>
                      </a:pPr>
                      <a:r>
                        <a:rPr lang="en-US" sz="950" dirty="0">
                          <a:solidFill>
                            <a:srgbClr val="1C2833"/>
                          </a:solidFill>
                        </a:rPr>
                        <a:t>3.01</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218005">
                <a:tc>
                  <a:txBody>
                    <a:bodyPr/>
                    <a:lstStyle/>
                    <a:p>
                      <a:pPr marL="0" indent="0" algn="ctr">
                        <a:buNone/>
                      </a:pPr>
                      <a:r>
                        <a:rPr lang="en-US" sz="950" dirty="0">
                          <a:solidFill>
                            <a:srgbClr val="1C2833"/>
                          </a:solidFill>
                        </a:rPr>
                        <a:t>UAE</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₹85.4L</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8,599</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3.00</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8005">
                <a:tc>
                  <a:txBody>
                    <a:bodyPr/>
                    <a:lstStyle/>
                    <a:p>
                      <a:pPr marL="0" indent="0" algn="ctr">
                        <a:buNone/>
                      </a:pPr>
                      <a:r>
                        <a:rPr lang="en-US" sz="950" dirty="0">
                          <a:solidFill>
                            <a:srgbClr val="1C2833"/>
                          </a:solidFill>
                        </a:rPr>
                        <a:t>India</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tc>
                  <a:txBody>
                    <a:bodyPr/>
                    <a:lstStyle/>
                    <a:p>
                      <a:pPr marL="0" indent="0" algn="ctr">
                        <a:buNone/>
                      </a:pPr>
                      <a:r>
                        <a:rPr lang="en-US" sz="950" dirty="0">
                          <a:solidFill>
                            <a:srgbClr val="1C2833"/>
                          </a:solidFill>
                        </a:rPr>
                        <a:t>₹85.1L</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tc>
                  <a:txBody>
                    <a:bodyPr/>
                    <a:lstStyle/>
                    <a:p>
                      <a:pPr marL="0" indent="0" algn="ctr">
                        <a:buNone/>
                      </a:pPr>
                      <a:r>
                        <a:rPr lang="en-US" sz="950" dirty="0">
                          <a:solidFill>
                            <a:srgbClr val="1C2833"/>
                          </a:solidFill>
                        </a:rPr>
                        <a:t>8,554</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tc>
                  <a:txBody>
                    <a:bodyPr/>
                    <a:lstStyle/>
                    <a:p>
                      <a:pPr marL="0" indent="0" algn="ctr">
                        <a:buNone/>
                      </a:pPr>
                      <a:r>
                        <a:rPr lang="en-US" sz="950" dirty="0">
                          <a:solidFill>
                            <a:srgbClr val="1C2833"/>
                          </a:solidFill>
                        </a:rPr>
                        <a:t>3.04</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extLst>
                  <a:ext uri="{0D108BD9-81ED-4DB2-BD59-A6C34878D82A}">
                    <a16:rowId xmlns:a16="http://schemas.microsoft.com/office/drawing/2014/main" val="10004"/>
                  </a:ext>
                </a:extLst>
              </a:tr>
              <a:tr h="218005">
                <a:tc>
                  <a:txBody>
                    <a:bodyPr/>
                    <a:lstStyle/>
                    <a:p>
                      <a:pPr marL="0" indent="0" algn="ctr">
                        <a:buNone/>
                      </a:pPr>
                      <a:r>
                        <a:rPr lang="en-US" sz="950" dirty="0">
                          <a:solidFill>
                            <a:srgbClr val="1C2833"/>
                          </a:solidFill>
                        </a:rPr>
                        <a:t>Canada</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₹85.1L</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8,586</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3.00</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18005">
                <a:tc>
                  <a:txBody>
                    <a:bodyPr/>
                    <a:lstStyle/>
                    <a:p>
                      <a:pPr marL="0" indent="0" algn="ctr">
                        <a:buNone/>
                      </a:pPr>
                      <a:r>
                        <a:rPr lang="en-US" sz="950" dirty="0">
                          <a:solidFill>
                            <a:srgbClr val="1C2833"/>
                          </a:solidFill>
                        </a:rPr>
                        <a:t>USA</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tc>
                  <a:txBody>
                    <a:bodyPr/>
                    <a:lstStyle/>
                    <a:p>
                      <a:pPr marL="0" indent="0" algn="ctr">
                        <a:buNone/>
                      </a:pPr>
                      <a:r>
                        <a:rPr lang="en-US" sz="950" dirty="0">
                          <a:solidFill>
                            <a:srgbClr val="1C2833"/>
                          </a:solidFill>
                        </a:rPr>
                        <a:t>₹84.5L</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tc>
                  <a:txBody>
                    <a:bodyPr/>
                    <a:lstStyle/>
                    <a:p>
                      <a:pPr marL="0" indent="0" algn="ctr">
                        <a:buNone/>
                      </a:pPr>
                      <a:r>
                        <a:rPr lang="en-US" sz="950" dirty="0">
                          <a:solidFill>
                            <a:srgbClr val="1C2833"/>
                          </a:solidFill>
                        </a:rPr>
                        <a:t>8,469</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tc>
                  <a:txBody>
                    <a:bodyPr/>
                    <a:lstStyle/>
                    <a:p>
                      <a:pPr marL="0" indent="0" algn="ctr">
                        <a:buNone/>
                      </a:pPr>
                      <a:r>
                        <a:rPr lang="en-US" sz="950" dirty="0">
                          <a:solidFill>
                            <a:srgbClr val="1C2833"/>
                          </a:solidFill>
                        </a:rPr>
                        <a:t>3.00</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EBF5FB"/>
                    </a:solidFill>
                  </a:tcPr>
                </a:tc>
                <a:extLst>
                  <a:ext uri="{0D108BD9-81ED-4DB2-BD59-A6C34878D82A}">
                    <a16:rowId xmlns:a16="http://schemas.microsoft.com/office/drawing/2014/main" val="10006"/>
                  </a:ext>
                </a:extLst>
              </a:tr>
              <a:tr h="218005">
                <a:tc>
                  <a:txBody>
                    <a:bodyPr/>
                    <a:lstStyle/>
                    <a:p>
                      <a:pPr marL="0" indent="0" algn="ctr">
                        <a:buNone/>
                      </a:pPr>
                      <a:r>
                        <a:rPr lang="en-US" sz="950" dirty="0">
                          <a:solidFill>
                            <a:srgbClr val="1C2833"/>
                          </a:solidFill>
                        </a:rPr>
                        <a:t>UK</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₹83.7L</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8,472</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C2833"/>
                          </a:solidFill>
                        </a:rPr>
                        <a:t>2.99</a:t>
                      </a:r>
                      <a:endParaRPr lang="en-US" sz="950" dirty="0"/>
                    </a:p>
                  </a:txBody>
                  <a:tcPr>
                    <a:lnL w="6350" cap="flat" cmpd="sng" algn="ctr">
                      <a:solidFill>
                        <a:srgbClr val="CFD8DC"/>
                      </a:solidFill>
                      <a:prstDash val="solid"/>
                      <a:round/>
                      <a:headEnd type="none" w="med" len="med"/>
                      <a:tailEnd type="none" w="med" len="med"/>
                    </a:lnL>
                    <a:lnR w="6350" cap="flat" cmpd="sng" algn="ctr">
                      <a:solidFill>
                        <a:srgbClr val="CFD8DC"/>
                      </a:solidFill>
                      <a:prstDash val="solid"/>
                      <a:round/>
                      <a:headEnd type="none" w="med" len="med"/>
                      <a:tailEnd type="none" w="med" len="med"/>
                    </a:lnR>
                    <a:lnT w="6350" cap="flat" cmpd="sng" algn="ctr">
                      <a:solidFill>
                        <a:srgbClr val="CFD8DC"/>
                      </a:solidFill>
                      <a:prstDash val="solid"/>
                      <a:round/>
                      <a:headEnd type="none" w="med" len="med"/>
                      <a:tailEnd type="none" w="med" len="med"/>
                    </a:lnT>
                    <a:lnB w="6350" cap="flat" cmpd="sng" algn="ctr">
                      <a:solidFill>
                        <a:srgbClr val="CFD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Shape 4"/>
          <p:cNvSpPr/>
          <p:nvPr/>
        </p:nvSpPr>
        <p:spPr>
          <a:xfrm>
            <a:off x="5715000" y="1078992"/>
            <a:ext cx="3108960" cy="80467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9" name="Shape 5"/>
          <p:cNvSpPr/>
          <p:nvPr/>
        </p:nvSpPr>
        <p:spPr>
          <a:xfrm>
            <a:off x="5715000" y="1078992"/>
            <a:ext cx="64008" cy="804672"/>
          </a:xfrm>
          <a:prstGeom prst="rect">
            <a:avLst/>
          </a:prstGeom>
          <a:solidFill>
            <a:srgbClr val="2E7D32"/>
          </a:solidFill>
          <a:ln w="12700">
            <a:solidFill>
              <a:srgbClr val="2E7D32"/>
            </a:solidFill>
            <a:prstDash val="solid"/>
          </a:ln>
        </p:spPr>
      </p:sp>
      <p:sp>
        <p:nvSpPr>
          <p:cNvPr id="10" name="Text 6"/>
          <p:cNvSpPr/>
          <p:nvPr/>
        </p:nvSpPr>
        <p:spPr>
          <a:xfrm>
            <a:off x="5870448" y="1152144"/>
            <a:ext cx="2834640" cy="256032"/>
          </a:xfrm>
          <a:prstGeom prst="rect">
            <a:avLst/>
          </a:prstGeom>
          <a:noFill/>
          <a:ln/>
        </p:spPr>
        <p:txBody>
          <a:bodyPr wrap="square" lIns="0" tIns="0" rIns="0" bIns="0" rtlCol="0" anchor="ctr"/>
          <a:lstStyle/>
          <a:p>
            <a:pPr marL="0" indent="0">
              <a:buNone/>
            </a:pPr>
            <a:r>
              <a:rPr lang="en-US" sz="1150" b="1" dirty="0">
                <a:solidFill>
                  <a:srgbClr val="0D1B2A"/>
                </a:solidFill>
              </a:rPr>
              <a:t>Australia</a:t>
            </a:r>
            <a:endParaRPr lang="en-US" sz="1150" dirty="0"/>
          </a:p>
        </p:txBody>
      </p:sp>
      <p:sp>
        <p:nvSpPr>
          <p:cNvPr id="11" name="Text 7"/>
          <p:cNvSpPr/>
          <p:nvPr/>
        </p:nvSpPr>
        <p:spPr>
          <a:xfrm>
            <a:off x="5870448" y="1444752"/>
            <a:ext cx="2834640" cy="384048"/>
          </a:xfrm>
          <a:prstGeom prst="rect">
            <a:avLst/>
          </a:prstGeom>
          <a:noFill/>
          <a:ln/>
        </p:spPr>
        <p:txBody>
          <a:bodyPr wrap="square" lIns="0" tIns="0" rIns="0" bIns="0" rtlCol="0" anchor="ctr"/>
          <a:lstStyle/>
          <a:p>
            <a:pPr marL="0" indent="0">
              <a:buNone/>
            </a:pPr>
            <a:r>
              <a:rPr lang="en-US" sz="950" dirty="0">
                <a:solidFill>
                  <a:srgbClr val="78909C"/>
                </a:solidFill>
              </a:rPr>
              <a:t>Top country: ₹87.0L revenue; 8,714 orders — best performer globally.</a:t>
            </a:r>
            <a:endParaRPr lang="en-US" sz="950" dirty="0"/>
          </a:p>
        </p:txBody>
      </p:sp>
      <p:sp>
        <p:nvSpPr>
          <p:cNvPr id="12" name="Shape 8"/>
          <p:cNvSpPr/>
          <p:nvPr/>
        </p:nvSpPr>
        <p:spPr>
          <a:xfrm>
            <a:off x="5715000" y="1975104"/>
            <a:ext cx="3108960" cy="80467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3" name="Shape 9"/>
          <p:cNvSpPr/>
          <p:nvPr/>
        </p:nvSpPr>
        <p:spPr>
          <a:xfrm>
            <a:off x="5715000" y="1975104"/>
            <a:ext cx="64008" cy="804672"/>
          </a:xfrm>
          <a:prstGeom prst="rect">
            <a:avLst/>
          </a:prstGeom>
          <a:solidFill>
            <a:srgbClr val="FFB300"/>
          </a:solidFill>
          <a:ln w="12700">
            <a:solidFill>
              <a:srgbClr val="FFB300"/>
            </a:solidFill>
            <a:prstDash val="solid"/>
          </a:ln>
        </p:spPr>
      </p:sp>
      <p:sp>
        <p:nvSpPr>
          <p:cNvPr id="14" name="Text 10"/>
          <p:cNvSpPr/>
          <p:nvPr/>
        </p:nvSpPr>
        <p:spPr>
          <a:xfrm>
            <a:off x="5870448" y="2048256"/>
            <a:ext cx="2834640" cy="256032"/>
          </a:xfrm>
          <a:prstGeom prst="rect">
            <a:avLst/>
          </a:prstGeom>
          <a:noFill/>
          <a:ln/>
        </p:spPr>
        <p:txBody>
          <a:bodyPr wrap="square" lIns="0" tIns="0" rIns="0" bIns="0" rtlCol="0" anchor="ctr"/>
          <a:lstStyle/>
          <a:p>
            <a:pPr marL="0" indent="0">
              <a:buNone/>
            </a:pPr>
            <a:r>
              <a:rPr lang="en-US" sz="1150" b="1" dirty="0">
                <a:solidFill>
                  <a:srgbClr val="0D1B2A"/>
                </a:solidFill>
              </a:rPr>
              <a:t> Germany</a:t>
            </a:r>
            <a:endParaRPr lang="en-US" sz="1150" dirty="0"/>
          </a:p>
        </p:txBody>
      </p:sp>
      <p:sp>
        <p:nvSpPr>
          <p:cNvPr id="15" name="Text 11"/>
          <p:cNvSpPr/>
          <p:nvPr/>
        </p:nvSpPr>
        <p:spPr>
          <a:xfrm>
            <a:off x="5870448" y="2340864"/>
            <a:ext cx="2834640" cy="384048"/>
          </a:xfrm>
          <a:prstGeom prst="rect">
            <a:avLst/>
          </a:prstGeom>
          <a:noFill/>
          <a:ln/>
        </p:spPr>
        <p:txBody>
          <a:bodyPr wrap="square" lIns="0" tIns="0" rIns="0" bIns="0" rtlCol="0" anchor="ctr"/>
          <a:lstStyle/>
          <a:p>
            <a:pPr marL="0" indent="0">
              <a:buNone/>
            </a:pPr>
            <a:r>
              <a:rPr lang="en-US" sz="950" dirty="0">
                <a:solidFill>
                  <a:srgbClr val="78909C"/>
                </a:solidFill>
              </a:rPr>
              <a:t>2nd highest — strong European market; also highest return rate (1,328).</a:t>
            </a:r>
            <a:endParaRPr lang="en-US" sz="950" dirty="0"/>
          </a:p>
        </p:txBody>
      </p:sp>
      <p:sp>
        <p:nvSpPr>
          <p:cNvPr id="7" name="Shape 12"/>
          <p:cNvSpPr/>
          <p:nvPr/>
        </p:nvSpPr>
        <p:spPr>
          <a:xfrm>
            <a:off x="5715000" y="2871216"/>
            <a:ext cx="3108960" cy="80467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7" name="Shape 13"/>
          <p:cNvSpPr/>
          <p:nvPr/>
        </p:nvSpPr>
        <p:spPr>
          <a:xfrm>
            <a:off x="5715000" y="2871216"/>
            <a:ext cx="64008" cy="804672"/>
          </a:xfrm>
          <a:prstGeom prst="rect">
            <a:avLst/>
          </a:prstGeom>
          <a:solidFill>
            <a:srgbClr val="00897B"/>
          </a:solidFill>
          <a:ln w="12700">
            <a:solidFill>
              <a:srgbClr val="00897B"/>
            </a:solidFill>
            <a:prstDash val="solid"/>
          </a:ln>
        </p:spPr>
      </p:sp>
      <p:sp>
        <p:nvSpPr>
          <p:cNvPr id="18" name="Text 14"/>
          <p:cNvSpPr/>
          <p:nvPr/>
        </p:nvSpPr>
        <p:spPr>
          <a:xfrm>
            <a:off x="5870448" y="2944368"/>
            <a:ext cx="2834640" cy="256032"/>
          </a:xfrm>
          <a:prstGeom prst="rect">
            <a:avLst/>
          </a:prstGeom>
          <a:noFill/>
          <a:ln/>
        </p:spPr>
        <p:txBody>
          <a:bodyPr wrap="square" lIns="0" tIns="0" rIns="0" bIns="0" rtlCol="0" anchor="ctr"/>
          <a:lstStyle/>
          <a:p>
            <a:pPr marL="0" indent="0">
              <a:buNone/>
            </a:pPr>
            <a:r>
              <a:rPr lang="en-US" sz="1150" b="1" dirty="0">
                <a:solidFill>
                  <a:srgbClr val="0D1B2A"/>
                </a:solidFill>
              </a:rPr>
              <a:t>India</a:t>
            </a:r>
            <a:endParaRPr lang="en-US" sz="1150" dirty="0"/>
          </a:p>
        </p:txBody>
      </p:sp>
      <p:sp>
        <p:nvSpPr>
          <p:cNvPr id="19" name="Text 15"/>
          <p:cNvSpPr/>
          <p:nvPr/>
        </p:nvSpPr>
        <p:spPr>
          <a:xfrm>
            <a:off x="5870448" y="3236976"/>
            <a:ext cx="2834640" cy="384048"/>
          </a:xfrm>
          <a:prstGeom prst="rect">
            <a:avLst/>
          </a:prstGeom>
          <a:noFill/>
          <a:ln/>
        </p:spPr>
        <p:txBody>
          <a:bodyPr wrap="square" lIns="0" tIns="0" rIns="0" bIns="0" rtlCol="0" anchor="ctr"/>
          <a:lstStyle/>
          <a:p>
            <a:pPr marL="0" indent="0">
              <a:buNone/>
            </a:pPr>
            <a:r>
              <a:rPr lang="en-US" sz="950" dirty="0">
                <a:solidFill>
                  <a:srgbClr val="78909C"/>
                </a:solidFill>
              </a:rPr>
              <a:t>Top rating (3.04) — most satisfied customers; growth market potential.</a:t>
            </a:r>
            <a:endParaRPr lang="en-US" sz="950" dirty="0"/>
          </a:p>
        </p:txBody>
      </p:sp>
      <p:sp>
        <p:nvSpPr>
          <p:cNvPr id="20" name="Shape 16"/>
          <p:cNvSpPr/>
          <p:nvPr/>
        </p:nvSpPr>
        <p:spPr>
          <a:xfrm>
            <a:off x="5715000" y="3767328"/>
            <a:ext cx="3108960" cy="80467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21" name="Shape 17"/>
          <p:cNvSpPr/>
          <p:nvPr/>
        </p:nvSpPr>
        <p:spPr>
          <a:xfrm>
            <a:off x="5715000" y="3767328"/>
            <a:ext cx="64008" cy="804672"/>
          </a:xfrm>
          <a:prstGeom prst="rect">
            <a:avLst/>
          </a:prstGeom>
          <a:solidFill>
            <a:srgbClr val="E53935"/>
          </a:solidFill>
          <a:ln w="12700">
            <a:solidFill>
              <a:srgbClr val="E53935"/>
            </a:solidFill>
            <a:prstDash val="solid"/>
          </a:ln>
        </p:spPr>
      </p:sp>
      <p:sp>
        <p:nvSpPr>
          <p:cNvPr id="22" name="Text 18"/>
          <p:cNvSpPr/>
          <p:nvPr/>
        </p:nvSpPr>
        <p:spPr>
          <a:xfrm>
            <a:off x="5870448" y="3840480"/>
            <a:ext cx="2834640" cy="256032"/>
          </a:xfrm>
          <a:prstGeom prst="rect">
            <a:avLst/>
          </a:prstGeom>
          <a:noFill/>
          <a:ln/>
        </p:spPr>
        <p:txBody>
          <a:bodyPr wrap="square" lIns="0" tIns="0" rIns="0" bIns="0" rtlCol="0" anchor="ctr"/>
          <a:lstStyle/>
          <a:p>
            <a:pPr marL="0" indent="0">
              <a:buNone/>
            </a:pPr>
            <a:r>
              <a:rPr lang="en-US" sz="1150" b="1" dirty="0">
                <a:solidFill>
                  <a:srgbClr val="0D1B2A"/>
                </a:solidFill>
              </a:rPr>
              <a:t>UK</a:t>
            </a:r>
            <a:endParaRPr lang="en-US" sz="1150" dirty="0"/>
          </a:p>
        </p:txBody>
      </p:sp>
      <p:sp>
        <p:nvSpPr>
          <p:cNvPr id="23" name="Text 19"/>
          <p:cNvSpPr/>
          <p:nvPr/>
        </p:nvSpPr>
        <p:spPr>
          <a:xfrm>
            <a:off x="5870448" y="4133088"/>
            <a:ext cx="2834640" cy="384048"/>
          </a:xfrm>
          <a:prstGeom prst="rect">
            <a:avLst/>
          </a:prstGeom>
          <a:noFill/>
          <a:ln/>
        </p:spPr>
        <p:txBody>
          <a:bodyPr wrap="square" lIns="0" tIns="0" rIns="0" bIns="0" rtlCol="0" anchor="ctr"/>
          <a:lstStyle/>
          <a:p>
            <a:pPr marL="0" indent="0">
              <a:buNone/>
            </a:pPr>
            <a:r>
              <a:rPr lang="en-US" sz="950" dirty="0">
                <a:solidFill>
                  <a:srgbClr val="78909C"/>
                </a:solidFill>
              </a:rPr>
              <a:t>Lowest revenue ₹83.7L — needs market penetration strategy.</a:t>
            </a:r>
            <a:endParaRPr lang="en-US" sz="9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07  Payment Method Distribution</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How do customers prefer to pay?</a:t>
            </a:r>
            <a:endParaRPr lang="en-US" sz="1100" dirty="0"/>
          </a:p>
        </p:txBody>
      </p:sp>
      <p:graphicFrame>
        <p:nvGraphicFramePr>
          <p:cNvPr id="6" name="Chart 0"/>
          <p:cNvGraphicFramePr/>
          <p:nvPr>
            <p:extLst>
              <p:ext uri="{D42A27DB-BD31-4B8C-83A1-F6EECF244321}">
                <p14:modId xmlns:p14="http://schemas.microsoft.com/office/powerpoint/2010/main" val="3921277301"/>
              </p:ext>
            </p:extLst>
          </p:nvPr>
        </p:nvGraphicFramePr>
        <p:xfrm>
          <a:off x="457200" y="1078992"/>
          <a:ext cx="4114800" cy="38176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4937760" y="1078992"/>
            <a:ext cx="3886200" cy="3817620"/>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8" name="Shape 5"/>
          <p:cNvSpPr/>
          <p:nvPr/>
        </p:nvSpPr>
        <p:spPr>
          <a:xfrm>
            <a:off x="4937760" y="1078992"/>
            <a:ext cx="3886200" cy="384048"/>
          </a:xfrm>
          <a:prstGeom prst="rect">
            <a:avLst/>
          </a:prstGeom>
          <a:solidFill>
            <a:srgbClr val="0D1B2A"/>
          </a:solidFill>
          <a:ln w="12700">
            <a:solidFill>
              <a:srgbClr val="0D1B2A"/>
            </a:solidFill>
            <a:prstDash val="solid"/>
          </a:ln>
        </p:spPr>
      </p:sp>
      <p:sp>
        <p:nvSpPr>
          <p:cNvPr id="9" name="Text 6"/>
          <p:cNvSpPr/>
          <p:nvPr/>
        </p:nvSpPr>
        <p:spPr>
          <a:xfrm>
            <a:off x="5029200" y="1115568"/>
            <a:ext cx="3703320" cy="292608"/>
          </a:xfrm>
          <a:prstGeom prst="rect">
            <a:avLst/>
          </a:prstGeom>
          <a:noFill/>
          <a:ln/>
        </p:spPr>
        <p:txBody>
          <a:bodyPr wrap="square" lIns="0" tIns="0" rIns="0" bIns="0" rtlCol="0" anchor="ctr"/>
          <a:lstStyle/>
          <a:p>
            <a:pPr marL="0" indent="0">
              <a:buNone/>
            </a:pPr>
            <a:r>
              <a:rPr lang="en-US" sz="1300" b="1" dirty="0">
                <a:solidFill>
                  <a:srgbClr val="FFFFFF"/>
                </a:solidFill>
              </a:rPr>
              <a:t>Payment Insights</a:t>
            </a:r>
            <a:endParaRPr lang="en-US" sz="1300" dirty="0"/>
          </a:p>
        </p:txBody>
      </p:sp>
      <p:sp>
        <p:nvSpPr>
          <p:cNvPr id="10" name="Text 7"/>
          <p:cNvSpPr/>
          <p:nvPr/>
        </p:nvSpPr>
        <p:spPr>
          <a:xfrm>
            <a:off x="5074920" y="1536192"/>
            <a:ext cx="3657600" cy="256032"/>
          </a:xfrm>
          <a:prstGeom prst="rect">
            <a:avLst/>
          </a:prstGeom>
          <a:noFill/>
          <a:ln/>
        </p:spPr>
        <p:txBody>
          <a:bodyPr wrap="square" lIns="0" tIns="0" rIns="0" bIns="0" rtlCol="0" anchor="ctr"/>
          <a:lstStyle/>
          <a:p>
            <a:pPr marL="0" indent="0">
              <a:buNone/>
            </a:pPr>
            <a:r>
              <a:rPr lang="en-US" sz="1100" b="1" dirty="0">
                <a:solidFill>
                  <a:srgbClr val="0D1B2A"/>
                </a:solidFill>
              </a:rPr>
              <a:t>📱 Apple Pay leads</a:t>
            </a:r>
            <a:endParaRPr lang="en-US" sz="1100" dirty="0"/>
          </a:p>
        </p:txBody>
      </p:sp>
      <p:sp>
        <p:nvSpPr>
          <p:cNvPr id="11" name="Text 8"/>
          <p:cNvSpPr/>
          <p:nvPr/>
        </p:nvSpPr>
        <p:spPr>
          <a:xfrm>
            <a:off x="5074920" y="1792224"/>
            <a:ext cx="3657600" cy="347472"/>
          </a:xfrm>
          <a:prstGeom prst="rect">
            <a:avLst/>
          </a:prstGeom>
          <a:noFill/>
          <a:ln/>
        </p:spPr>
        <p:txBody>
          <a:bodyPr wrap="square" lIns="0" tIns="0" rIns="0" bIns="0" rtlCol="0" anchor="ctr"/>
          <a:lstStyle/>
          <a:p>
            <a:pPr marL="0" indent="0">
              <a:buNone/>
            </a:pPr>
            <a:r>
              <a:rPr lang="en-US" sz="980" dirty="0">
                <a:solidFill>
                  <a:srgbClr val="78909C"/>
                </a:solidFill>
              </a:rPr>
              <a:t>12,116 orders (20.2%) — mobile-first customers dominate; ensure seamless Apple Pay checkout.</a:t>
            </a:r>
            <a:endParaRPr lang="en-US" sz="980" dirty="0"/>
          </a:p>
        </p:txBody>
      </p:sp>
      <p:sp>
        <p:nvSpPr>
          <p:cNvPr id="12" name="Text 9"/>
          <p:cNvSpPr/>
          <p:nvPr/>
        </p:nvSpPr>
        <p:spPr>
          <a:xfrm>
            <a:off x="5074920" y="2194560"/>
            <a:ext cx="3657600" cy="256032"/>
          </a:xfrm>
          <a:prstGeom prst="rect">
            <a:avLst/>
          </a:prstGeom>
          <a:noFill/>
          <a:ln/>
        </p:spPr>
        <p:txBody>
          <a:bodyPr wrap="square" lIns="0" tIns="0" rIns="0" bIns="0" rtlCol="0" anchor="ctr"/>
          <a:lstStyle/>
          <a:p>
            <a:pPr marL="0" indent="0">
              <a:buNone/>
            </a:pPr>
            <a:r>
              <a:rPr lang="en-US" sz="1100" b="1" dirty="0">
                <a:solidFill>
                  <a:srgbClr val="0D1B2A"/>
                </a:solidFill>
              </a:rPr>
              <a:t>💵 COD still strong</a:t>
            </a:r>
            <a:endParaRPr lang="en-US" sz="1100" dirty="0"/>
          </a:p>
        </p:txBody>
      </p:sp>
      <p:sp>
        <p:nvSpPr>
          <p:cNvPr id="13" name="Text 10"/>
          <p:cNvSpPr/>
          <p:nvPr/>
        </p:nvSpPr>
        <p:spPr>
          <a:xfrm>
            <a:off x="5074920" y="2450592"/>
            <a:ext cx="3657600" cy="347472"/>
          </a:xfrm>
          <a:prstGeom prst="rect">
            <a:avLst/>
          </a:prstGeom>
          <a:noFill/>
          <a:ln/>
        </p:spPr>
        <p:txBody>
          <a:bodyPr wrap="square" lIns="0" tIns="0" rIns="0" bIns="0" rtlCol="0" anchor="ctr"/>
          <a:lstStyle/>
          <a:p>
            <a:pPr marL="0" indent="0">
              <a:buNone/>
            </a:pPr>
            <a:r>
              <a:rPr lang="en-US" sz="980" dirty="0">
                <a:solidFill>
                  <a:srgbClr val="78909C"/>
                </a:solidFill>
              </a:rPr>
              <a:t>12,032 orders (20.1%) — high in India/UAE markets; requires operational support for returns.</a:t>
            </a:r>
            <a:endParaRPr lang="en-US" sz="980" dirty="0"/>
          </a:p>
        </p:txBody>
      </p:sp>
      <p:sp>
        <p:nvSpPr>
          <p:cNvPr id="14" name="Text 11"/>
          <p:cNvSpPr/>
          <p:nvPr/>
        </p:nvSpPr>
        <p:spPr>
          <a:xfrm>
            <a:off x="5074920" y="2852928"/>
            <a:ext cx="3657600" cy="256032"/>
          </a:xfrm>
          <a:prstGeom prst="rect">
            <a:avLst/>
          </a:prstGeom>
          <a:noFill/>
          <a:ln/>
        </p:spPr>
        <p:txBody>
          <a:bodyPr wrap="square" lIns="0" tIns="0" rIns="0" bIns="0" rtlCol="0" anchor="ctr"/>
          <a:lstStyle/>
          <a:p>
            <a:pPr marL="0" indent="0">
              <a:buNone/>
            </a:pPr>
            <a:r>
              <a:rPr lang="en-US" sz="1100" b="1" dirty="0">
                <a:solidFill>
                  <a:srgbClr val="0D1B2A"/>
                </a:solidFill>
              </a:rPr>
              <a:t>💳 Cards close behind</a:t>
            </a:r>
            <a:endParaRPr lang="en-US" sz="1100" dirty="0"/>
          </a:p>
        </p:txBody>
      </p:sp>
      <p:sp>
        <p:nvSpPr>
          <p:cNvPr id="15" name="Text 12"/>
          <p:cNvSpPr/>
          <p:nvPr/>
        </p:nvSpPr>
        <p:spPr>
          <a:xfrm>
            <a:off x="5074920" y="3108960"/>
            <a:ext cx="3657600" cy="347472"/>
          </a:xfrm>
          <a:prstGeom prst="rect">
            <a:avLst/>
          </a:prstGeom>
          <a:noFill/>
          <a:ln/>
        </p:spPr>
        <p:txBody>
          <a:bodyPr wrap="square" lIns="0" tIns="0" rIns="0" bIns="0" rtlCol="0" anchor="ctr"/>
          <a:lstStyle/>
          <a:p>
            <a:pPr marL="0" indent="0">
              <a:buNone/>
            </a:pPr>
            <a:r>
              <a:rPr lang="en-US" sz="980" dirty="0">
                <a:solidFill>
                  <a:srgbClr val="78909C"/>
                </a:solidFill>
              </a:rPr>
              <a:t>Credit (12K) + Debit (11.9K) = 40% combined — digital payments are the backbone.</a:t>
            </a:r>
            <a:endParaRPr lang="en-US" sz="980" dirty="0"/>
          </a:p>
        </p:txBody>
      </p:sp>
      <p:sp>
        <p:nvSpPr>
          <p:cNvPr id="16" name="Text 13"/>
          <p:cNvSpPr/>
          <p:nvPr/>
        </p:nvSpPr>
        <p:spPr>
          <a:xfrm>
            <a:off x="5074920" y="3511296"/>
            <a:ext cx="3657600" cy="256032"/>
          </a:xfrm>
          <a:prstGeom prst="rect">
            <a:avLst/>
          </a:prstGeom>
          <a:noFill/>
          <a:ln/>
        </p:spPr>
        <p:txBody>
          <a:bodyPr wrap="square" lIns="0" tIns="0" rIns="0" bIns="0" rtlCol="0" anchor="ctr"/>
          <a:lstStyle/>
          <a:p>
            <a:pPr marL="0" indent="0">
              <a:buNone/>
            </a:pPr>
            <a:r>
              <a:rPr lang="en-US" sz="1100" b="1" dirty="0">
                <a:solidFill>
                  <a:srgbClr val="0D1B2A"/>
                </a:solidFill>
              </a:rPr>
              <a:t>🅿️ PayPal last</a:t>
            </a:r>
            <a:endParaRPr lang="en-US" sz="1100" dirty="0"/>
          </a:p>
        </p:txBody>
      </p:sp>
      <p:sp>
        <p:nvSpPr>
          <p:cNvPr id="17" name="Text 14"/>
          <p:cNvSpPr/>
          <p:nvPr/>
        </p:nvSpPr>
        <p:spPr>
          <a:xfrm>
            <a:off x="5074920" y="3767328"/>
            <a:ext cx="3657600" cy="347472"/>
          </a:xfrm>
          <a:prstGeom prst="rect">
            <a:avLst/>
          </a:prstGeom>
          <a:noFill/>
          <a:ln/>
        </p:spPr>
        <p:txBody>
          <a:bodyPr wrap="square" lIns="0" tIns="0" rIns="0" bIns="0" rtlCol="0" anchor="ctr"/>
          <a:lstStyle/>
          <a:p>
            <a:pPr marL="0" indent="0">
              <a:buNone/>
            </a:pPr>
            <a:r>
              <a:rPr lang="en-US" sz="980" dirty="0">
                <a:solidFill>
                  <a:srgbClr val="78909C"/>
                </a:solidFill>
              </a:rPr>
              <a:t>11,918 orders (19.9%) — globally popular but trailing in this dataset; investigate conversion friction.</a:t>
            </a:r>
            <a:endParaRPr lang="en-US" sz="980" dirty="0"/>
          </a:p>
        </p:txBody>
      </p:sp>
      <p:sp>
        <p:nvSpPr>
          <p:cNvPr id="18" name="Text 15"/>
          <p:cNvSpPr/>
          <p:nvPr/>
        </p:nvSpPr>
        <p:spPr>
          <a:xfrm>
            <a:off x="5074920" y="4169664"/>
            <a:ext cx="3657600" cy="256032"/>
          </a:xfrm>
          <a:prstGeom prst="rect">
            <a:avLst/>
          </a:prstGeom>
          <a:noFill/>
          <a:ln/>
        </p:spPr>
        <p:txBody>
          <a:bodyPr wrap="square" lIns="0" tIns="0" rIns="0" bIns="0" rtlCol="0" anchor="ctr"/>
          <a:lstStyle/>
          <a:p>
            <a:pPr marL="0" indent="0">
              <a:buNone/>
            </a:pPr>
            <a:r>
              <a:rPr lang="en-US" sz="1100" b="1" dirty="0">
                <a:solidFill>
                  <a:srgbClr val="0D1B2A"/>
                </a:solidFill>
              </a:rPr>
              <a:t>⚖️ Near-equal split</a:t>
            </a:r>
            <a:endParaRPr lang="en-US" sz="1100" dirty="0"/>
          </a:p>
        </p:txBody>
      </p:sp>
      <p:sp>
        <p:nvSpPr>
          <p:cNvPr id="19" name="Text 16"/>
          <p:cNvSpPr/>
          <p:nvPr/>
        </p:nvSpPr>
        <p:spPr>
          <a:xfrm>
            <a:off x="5074920" y="4425696"/>
            <a:ext cx="3657600" cy="347472"/>
          </a:xfrm>
          <a:prstGeom prst="rect">
            <a:avLst/>
          </a:prstGeom>
          <a:noFill/>
          <a:ln/>
        </p:spPr>
        <p:txBody>
          <a:bodyPr wrap="square" lIns="0" tIns="0" rIns="0" bIns="0" rtlCol="0" anchor="ctr"/>
          <a:lstStyle/>
          <a:p>
            <a:pPr marL="0" indent="0">
              <a:buNone/>
            </a:pPr>
            <a:r>
              <a:rPr lang="en-US" sz="980" dirty="0">
                <a:solidFill>
                  <a:srgbClr val="78909C"/>
                </a:solidFill>
              </a:rPr>
              <a:t>All 5 methods within a 200-order range — indicates a well-balanced payment gateway strategy.</a:t>
            </a:r>
            <a:endParaRPr lang="en-US" sz="98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90056"/>
            <a:ext cx="9144000" cy="960120"/>
          </a:xfrm>
          <a:prstGeom prst="rect">
            <a:avLst/>
          </a:prstGeom>
          <a:solidFill>
            <a:srgbClr val="0D1B2A"/>
          </a:solidFill>
          <a:ln w="12700">
            <a:solidFill>
              <a:srgbClr val="0D1B2A"/>
            </a:solidFill>
            <a:prstDash val="solid"/>
          </a:ln>
        </p:spPr>
      </p:sp>
      <p:sp>
        <p:nvSpPr>
          <p:cNvPr id="3" name="Shape 1"/>
          <p:cNvSpPr/>
          <p:nvPr/>
        </p:nvSpPr>
        <p:spPr>
          <a:xfrm>
            <a:off x="0" y="870064"/>
            <a:ext cx="9144000" cy="64008"/>
          </a:xfrm>
          <a:prstGeom prst="rect">
            <a:avLst/>
          </a:prstGeom>
          <a:solidFill>
            <a:srgbClr val="00897B"/>
          </a:solidFill>
          <a:ln w="12700">
            <a:solidFill>
              <a:srgbClr val="00897B"/>
            </a:solidFill>
            <a:prstDash val="solid"/>
          </a:ln>
        </p:spPr>
      </p:sp>
      <p:sp>
        <p:nvSpPr>
          <p:cNvPr id="4" name="Text 2"/>
          <p:cNvSpPr/>
          <p:nvPr/>
        </p:nvSpPr>
        <p:spPr>
          <a:xfrm>
            <a:off x="411480" y="28816"/>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08  Correlation Analysis</a:t>
            </a:r>
            <a:endParaRPr lang="en-US" sz="2100" dirty="0"/>
          </a:p>
        </p:txBody>
      </p:sp>
      <p:sp>
        <p:nvSpPr>
          <p:cNvPr id="5" name="Text 3"/>
          <p:cNvSpPr/>
          <p:nvPr/>
        </p:nvSpPr>
        <p:spPr>
          <a:xfrm>
            <a:off x="411480" y="568312"/>
            <a:ext cx="8321040" cy="274320"/>
          </a:xfrm>
          <a:prstGeom prst="rect">
            <a:avLst/>
          </a:prstGeom>
          <a:noFill/>
          <a:ln/>
        </p:spPr>
        <p:txBody>
          <a:bodyPr wrap="square" lIns="0" tIns="0" rIns="0" bIns="0" rtlCol="0" anchor="ctr"/>
          <a:lstStyle/>
          <a:p>
            <a:pPr marL="0" indent="0">
              <a:buNone/>
            </a:pPr>
            <a:r>
              <a:rPr lang="en-US" sz="1100" dirty="0">
                <a:solidFill>
                  <a:srgbClr val="26A69A"/>
                </a:solidFill>
              </a:rPr>
              <a:t>How do key numerical variables relate to each other?</a:t>
            </a:r>
            <a:endParaRPr lang="en-US" sz="1100" dirty="0"/>
          </a:p>
        </p:txBody>
      </p:sp>
      <p:sp>
        <p:nvSpPr>
          <p:cNvPr id="6" name="Shape 4"/>
          <p:cNvSpPr/>
          <p:nvPr/>
        </p:nvSpPr>
        <p:spPr>
          <a:xfrm>
            <a:off x="522315" y="946264"/>
            <a:ext cx="1234440" cy="384048"/>
          </a:xfrm>
          <a:prstGeom prst="rect">
            <a:avLst/>
          </a:prstGeom>
          <a:solidFill>
            <a:schemeClr val="bg1">
              <a:lumMod val="85000"/>
            </a:schemeClr>
          </a:solidFill>
          <a:ln w="12700">
            <a:solidFill>
              <a:srgbClr val="0D1B2A"/>
            </a:solidFill>
            <a:prstDash val="solid"/>
          </a:ln>
        </p:spPr>
      </p:sp>
      <p:sp>
        <p:nvSpPr>
          <p:cNvPr id="7" name="Shape 5"/>
          <p:cNvSpPr/>
          <p:nvPr/>
        </p:nvSpPr>
        <p:spPr>
          <a:xfrm>
            <a:off x="1756755" y="946264"/>
            <a:ext cx="1115568" cy="384048"/>
          </a:xfrm>
          <a:prstGeom prst="rect">
            <a:avLst/>
          </a:prstGeom>
          <a:solidFill>
            <a:srgbClr val="0D1B2A"/>
          </a:solidFill>
          <a:ln w="12700">
            <a:solidFill>
              <a:srgbClr val="0D1B2A"/>
            </a:solidFill>
            <a:prstDash val="solid"/>
          </a:ln>
        </p:spPr>
      </p:sp>
      <p:sp>
        <p:nvSpPr>
          <p:cNvPr id="8" name="Text 6"/>
          <p:cNvSpPr/>
          <p:nvPr/>
        </p:nvSpPr>
        <p:spPr>
          <a:xfrm>
            <a:off x="1756755" y="946264"/>
            <a:ext cx="1115568" cy="384048"/>
          </a:xfrm>
          <a:prstGeom prst="rect">
            <a:avLst/>
          </a:prstGeom>
          <a:noFill/>
          <a:ln/>
        </p:spPr>
        <p:txBody>
          <a:bodyPr wrap="square" lIns="0" tIns="0" rIns="0" bIns="0" rtlCol="0" anchor="ctr"/>
          <a:lstStyle/>
          <a:p>
            <a:pPr marL="0" indent="0" algn="ctr">
              <a:buNone/>
            </a:pPr>
            <a:r>
              <a:rPr lang="en-US" sz="950" b="1" dirty="0">
                <a:solidFill>
                  <a:srgbClr val="FFFFFF"/>
                </a:solidFill>
              </a:rPr>
              <a:t>Revenue</a:t>
            </a:r>
            <a:endParaRPr lang="en-US" sz="950" dirty="0"/>
          </a:p>
        </p:txBody>
      </p:sp>
      <p:sp>
        <p:nvSpPr>
          <p:cNvPr id="9" name="Shape 7"/>
          <p:cNvSpPr/>
          <p:nvPr/>
        </p:nvSpPr>
        <p:spPr>
          <a:xfrm>
            <a:off x="2872323" y="946264"/>
            <a:ext cx="1115568" cy="384048"/>
          </a:xfrm>
          <a:prstGeom prst="rect">
            <a:avLst/>
          </a:prstGeom>
          <a:solidFill>
            <a:srgbClr val="0D1B2A"/>
          </a:solidFill>
          <a:ln w="12700">
            <a:solidFill>
              <a:srgbClr val="0D1B2A"/>
            </a:solidFill>
            <a:prstDash val="solid"/>
          </a:ln>
        </p:spPr>
      </p:sp>
      <p:sp>
        <p:nvSpPr>
          <p:cNvPr id="10" name="Text 8"/>
          <p:cNvSpPr/>
          <p:nvPr/>
        </p:nvSpPr>
        <p:spPr>
          <a:xfrm>
            <a:off x="2872323" y="946264"/>
            <a:ext cx="1115568" cy="384048"/>
          </a:xfrm>
          <a:prstGeom prst="rect">
            <a:avLst/>
          </a:prstGeom>
          <a:noFill/>
          <a:ln/>
        </p:spPr>
        <p:txBody>
          <a:bodyPr wrap="square" lIns="0" tIns="0" rIns="0" bIns="0" rtlCol="0" anchor="ctr"/>
          <a:lstStyle/>
          <a:p>
            <a:pPr marL="0" indent="0" algn="ctr">
              <a:buNone/>
            </a:pPr>
            <a:r>
              <a:rPr lang="en-US" sz="950" b="1" dirty="0">
                <a:solidFill>
                  <a:srgbClr val="FFFFFF"/>
                </a:solidFill>
              </a:rPr>
              <a:t>Profit</a:t>
            </a:r>
            <a:endParaRPr lang="en-US" sz="950" dirty="0"/>
          </a:p>
        </p:txBody>
      </p:sp>
      <p:sp>
        <p:nvSpPr>
          <p:cNvPr id="11" name="Shape 9"/>
          <p:cNvSpPr/>
          <p:nvPr/>
        </p:nvSpPr>
        <p:spPr>
          <a:xfrm>
            <a:off x="3987891" y="946264"/>
            <a:ext cx="1115568" cy="384048"/>
          </a:xfrm>
          <a:prstGeom prst="rect">
            <a:avLst/>
          </a:prstGeom>
          <a:solidFill>
            <a:srgbClr val="0D1B2A"/>
          </a:solidFill>
          <a:ln w="12700">
            <a:solidFill>
              <a:srgbClr val="0D1B2A"/>
            </a:solidFill>
            <a:prstDash val="solid"/>
          </a:ln>
        </p:spPr>
      </p:sp>
      <p:sp>
        <p:nvSpPr>
          <p:cNvPr id="12" name="Text 10"/>
          <p:cNvSpPr/>
          <p:nvPr/>
        </p:nvSpPr>
        <p:spPr>
          <a:xfrm>
            <a:off x="3987891" y="946264"/>
            <a:ext cx="1115568" cy="384048"/>
          </a:xfrm>
          <a:prstGeom prst="rect">
            <a:avLst/>
          </a:prstGeom>
          <a:noFill/>
          <a:ln/>
        </p:spPr>
        <p:txBody>
          <a:bodyPr wrap="square" lIns="0" tIns="0" rIns="0" bIns="0" rtlCol="0" anchor="ctr"/>
          <a:lstStyle/>
          <a:p>
            <a:pPr marL="0" indent="0" algn="ctr">
              <a:buNone/>
            </a:pPr>
            <a:r>
              <a:rPr lang="en-US" sz="950" b="1" dirty="0">
                <a:solidFill>
                  <a:srgbClr val="FFFFFF"/>
                </a:solidFill>
              </a:rPr>
              <a:t>Discount%</a:t>
            </a:r>
            <a:endParaRPr lang="en-US" sz="950" dirty="0"/>
          </a:p>
        </p:txBody>
      </p:sp>
      <p:sp>
        <p:nvSpPr>
          <p:cNvPr id="13" name="Shape 11"/>
          <p:cNvSpPr/>
          <p:nvPr/>
        </p:nvSpPr>
        <p:spPr>
          <a:xfrm>
            <a:off x="5103459" y="946264"/>
            <a:ext cx="1115568" cy="384048"/>
          </a:xfrm>
          <a:prstGeom prst="rect">
            <a:avLst/>
          </a:prstGeom>
          <a:solidFill>
            <a:srgbClr val="0D1B2A"/>
          </a:solidFill>
          <a:ln w="12700">
            <a:solidFill>
              <a:srgbClr val="0D1B2A"/>
            </a:solidFill>
            <a:prstDash val="solid"/>
          </a:ln>
        </p:spPr>
      </p:sp>
      <p:sp>
        <p:nvSpPr>
          <p:cNvPr id="14" name="Text 12"/>
          <p:cNvSpPr/>
          <p:nvPr/>
        </p:nvSpPr>
        <p:spPr>
          <a:xfrm>
            <a:off x="5103459" y="946264"/>
            <a:ext cx="1115568" cy="384048"/>
          </a:xfrm>
          <a:prstGeom prst="rect">
            <a:avLst/>
          </a:prstGeom>
          <a:noFill/>
          <a:ln/>
        </p:spPr>
        <p:txBody>
          <a:bodyPr wrap="square" lIns="0" tIns="0" rIns="0" bIns="0" rtlCol="0" anchor="ctr"/>
          <a:lstStyle/>
          <a:p>
            <a:pPr marL="0" indent="0" algn="ctr">
              <a:buNone/>
            </a:pPr>
            <a:r>
              <a:rPr lang="en-US" sz="950" b="1" dirty="0">
                <a:solidFill>
                  <a:srgbClr val="FFFFFF"/>
                </a:solidFill>
              </a:rPr>
              <a:t>Quantity</a:t>
            </a:r>
            <a:endParaRPr lang="en-US" sz="950" dirty="0"/>
          </a:p>
        </p:txBody>
      </p:sp>
      <p:sp>
        <p:nvSpPr>
          <p:cNvPr id="15" name="Shape 13"/>
          <p:cNvSpPr/>
          <p:nvPr/>
        </p:nvSpPr>
        <p:spPr>
          <a:xfrm>
            <a:off x="6219027" y="946264"/>
            <a:ext cx="1115568" cy="384048"/>
          </a:xfrm>
          <a:prstGeom prst="rect">
            <a:avLst/>
          </a:prstGeom>
          <a:solidFill>
            <a:srgbClr val="0D1B2A"/>
          </a:solidFill>
          <a:ln w="12700">
            <a:solidFill>
              <a:srgbClr val="0D1B2A"/>
            </a:solidFill>
            <a:prstDash val="solid"/>
          </a:ln>
        </p:spPr>
      </p:sp>
      <p:sp>
        <p:nvSpPr>
          <p:cNvPr id="16" name="Text 14"/>
          <p:cNvSpPr/>
          <p:nvPr/>
        </p:nvSpPr>
        <p:spPr>
          <a:xfrm>
            <a:off x="6219027" y="946264"/>
            <a:ext cx="1115568" cy="384048"/>
          </a:xfrm>
          <a:prstGeom prst="rect">
            <a:avLst/>
          </a:prstGeom>
          <a:noFill/>
          <a:ln/>
        </p:spPr>
        <p:txBody>
          <a:bodyPr wrap="square" lIns="0" tIns="0" rIns="0" bIns="0" rtlCol="0" anchor="ctr"/>
          <a:lstStyle/>
          <a:p>
            <a:pPr marL="0" indent="0" algn="ctr">
              <a:buNone/>
            </a:pPr>
            <a:r>
              <a:rPr lang="en-US" sz="950" b="1" dirty="0">
                <a:solidFill>
                  <a:srgbClr val="FFFFFF"/>
                </a:solidFill>
              </a:rPr>
              <a:t>Shipping</a:t>
            </a:r>
            <a:endParaRPr lang="en-US" sz="950" dirty="0"/>
          </a:p>
        </p:txBody>
      </p:sp>
      <p:sp>
        <p:nvSpPr>
          <p:cNvPr id="17" name="Shape 15"/>
          <p:cNvSpPr/>
          <p:nvPr/>
        </p:nvSpPr>
        <p:spPr>
          <a:xfrm>
            <a:off x="7334595" y="946264"/>
            <a:ext cx="1115568" cy="384048"/>
          </a:xfrm>
          <a:prstGeom prst="rect">
            <a:avLst/>
          </a:prstGeom>
          <a:solidFill>
            <a:srgbClr val="0D1B2A"/>
          </a:solidFill>
          <a:ln w="12700">
            <a:solidFill>
              <a:srgbClr val="0D1B2A"/>
            </a:solidFill>
            <a:prstDash val="solid"/>
          </a:ln>
        </p:spPr>
      </p:sp>
      <p:sp>
        <p:nvSpPr>
          <p:cNvPr id="18" name="Text 16"/>
          <p:cNvSpPr/>
          <p:nvPr/>
        </p:nvSpPr>
        <p:spPr>
          <a:xfrm>
            <a:off x="7334595" y="946264"/>
            <a:ext cx="1115568" cy="384048"/>
          </a:xfrm>
          <a:prstGeom prst="rect">
            <a:avLst/>
          </a:prstGeom>
          <a:noFill/>
          <a:ln/>
        </p:spPr>
        <p:txBody>
          <a:bodyPr wrap="square" lIns="0" tIns="0" rIns="0" bIns="0" rtlCol="0" anchor="ctr"/>
          <a:lstStyle/>
          <a:p>
            <a:pPr marL="0" indent="0" algn="ctr">
              <a:buNone/>
            </a:pPr>
            <a:r>
              <a:rPr lang="en-US" sz="950" b="1" dirty="0">
                <a:solidFill>
                  <a:srgbClr val="FFFFFF"/>
                </a:solidFill>
              </a:rPr>
              <a:t>Rating</a:t>
            </a:r>
            <a:endParaRPr lang="en-US" sz="950" dirty="0"/>
          </a:p>
        </p:txBody>
      </p:sp>
      <p:sp>
        <p:nvSpPr>
          <p:cNvPr id="19" name="Shape 17"/>
          <p:cNvSpPr/>
          <p:nvPr/>
        </p:nvSpPr>
        <p:spPr>
          <a:xfrm>
            <a:off x="522315" y="1330312"/>
            <a:ext cx="1216152" cy="502920"/>
          </a:xfrm>
          <a:prstGeom prst="rect">
            <a:avLst/>
          </a:prstGeom>
          <a:solidFill>
            <a:srgbClr val="0D1B2A"/>
          </a:solidFill>
          <a:ln w="12700">
            <a:solidFill>
              <a:srgbClr val="0D1B2A"/>
            </a:solidFill>
            <a:prstDash val="solid"/>
          </a:ln>
        </p:spPr>
      </p:sp>
      <p:sp>
        <p:nvSpPr>
          <p:cNvPr id="20" name="Text 18"/>
          <p:cNvSpPr/>
          <p:nvPr/>
        </p:nvSpPr>
        <p:spPr>
          <a:xfrm>
            <a:off x="522315" y="1440040"/>
            <a:ext cx="1216152" cy="274320"/>
          </a:xfrm>
          <a:prstGeom prst="rect">
            <a:avLst/>
          </a:prstGeom>
          <a:noFill/>
          <a:ln/>
        </p:spPr>
        <p:txBody>
          <a:bodyPr wrap="square" lIns="0" tIns="0" rIns="0" bIns="0" rtlCol="0" anchor="ctr"/>
          <a:lstStyle/>
          <a:p>
            <a:pPr marL="0" indent="0" algn="ctr">
              <a:buNone/>
            </a:pPr>
            <a:r>
              <a:rPr lang="en-US" sz="950" b="1" dirty="0">
                <a:solidFill>
                  <a:srgbClr val="FFFFFF"/>
                </a:solidFill>
              </a:rPr>
              <a:t>Revenue</a:t>
            </a:r>
            <a:endParaRPr lang="en-US" sz="950" dirty="0"/>
          </a:p>
        </p:txBody>
      </p:sp>
      <p:sp>
        <p:nvSpPr>
          <p:cNvPr id="21" name="Shape 19"/>
          <p:cNvSpPr/>
          <p:nvPr/>
        </p:nvSpPr>
        <p:spPr>
          <a:xfrm>
            <a:off x="1756755" y="1330312"/>
            <a:ext cx="1115568" cy="502920"/>
          </a:xfrm>
          <a:prstGeom prst="rect">
            <a:avLst/>
          </a:prstGeom>
          <a:solidFill>
            <a:srgbClr val="00897B"/>
          </a:solidFill>
          <a:ln w="12700">
            <a:solidFill>
              <a:srgbClr val="B0BEC5"/>
            </a:solidFill>
            <a:prstDash val="solid"/>
          </a:ln>
        </p:spPr>
      </p:sp>
      <p:sp>
        <p:nvSpPr>
          <p:cNvPr id="22" name="Text 20"/>
          <p:cNvSpPr/>
          <p:nvPr/>
        </p:nvSpPr>
        <p:spPr>
          <a:xfrm>
            <a:off x="1756755" y="144004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1.00</a:t>
            </a:r>
            <a:endParaRPr lang="en-US" sz="1100" dirty="0"/>
          </a:p>
        </p:txBody>
      </p:sp>
      <p:sp>
        <p:nvSpPr>
          <p:cNvPr id="23" name="Shape 21"/>
          <p:cNvSpPr/>
          <p:nvPr/>
        </p:nvSpPr>
        <p:spPr>
          <a:xfrm>
            <a:off x="2872323" y="1330312"/>
            <a:ext cx="1115568" cy="502920"/>
          </a:xfrm>
          <a:prstGeom prst="rect">
            <a:avLst/>
          </a:prstGeom>
          <a:solidFill>
            <a:srgbClr val="00897B"/>
          </a:solidFill>
          <a:ln w="12700">
            <a:solidFill>
              <a:srgbClr val="B0BEC5"/>
            </a:solidFill>
            <a:prstDash val="solid"/>
          </a:ln>
        </p:spPr>
      </p:sp>
      <p:sp>
        <p:nvSpPr>
          <p:cNvPr id="24" name="Text 22"/>
          <p:cNvSpPr/>
          <p:nvPr/>
        </p:nvSpPr>
        <p:spPr>
          <a:xfrm>
            <a:off x="2872323" y="144004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1.00</a:t>
            </a:r>
            <a:endParaRPr lang="en-US" sz="1100" dirty="0"/>
          </a:p>
        </p:txBody>
      </p:sp>
      <p:sp>
        <p:nvSpPr>
          <p:cNvPr id="25" name="Shape 23"/>
          <p:cNvSpPr/>
          <p:nvPr/>
        </p:nvSpPr>
        <p:spPr>
          <a:xfrm>
            <a:off x="3987891" y="1330312"/>
            <a:ext cx="1115568" cy="502920"/>
          </a:xfrm>
          <a:prstGeom prst="rect">
            <a:avLst/>
          </a:prstGeom>
          <a:solidFill>
            <a:srgbClr val="FFCDD2"/>
          </a:solidFill>
          <a:ln w="12700">
            <a:solidFill>
              <a:srgbClr val="B0BEC5"/>
            </a:solidFill>
            <a:prstDash val="solid"/>
          </a:ln>
        </p:spPr>
      </p:sp>
      <p:sp>
        <p:nvSpPr>
          <p:cNvPr id="26" name="Text 24"/>
          <p:cNvSpPr/>
          <p:nvPr/>
        </p:nvSpPr>
        <p:spPr>
          <a:xfrm>
            <a:off x="3987891" y="1440040"/>
            <a:ext cx="1115568" cy="274320"/>
          </a:xfrm>
          <a:prstGeom prst="rect">
            <a:avLst/>
          </a:prstGeom>
          <a:noFill/>
          <a:ln/>
        </p:spPr>
        <p:txBody>
          <a:bodyPr wrap="square" lIns="0" tIns="0" rIns="0" bIns="0" rtlCol="0" anchor="ctr"/>
          <a:lstStyle/>
          <a:p>
            <a:pPr marL="0" indent="0" algn="ctr">
              <a:buNone/>
            </a:pPr>
            <a:r>
              <a:rPr lang="en-US" sz="1100" dirty="0">
                <a:solidFill>
                  <a:srgbClr val="FFFFFF"/>
                </a:solidFill>
              </a:rPr>
              <a:t>-0.19</a:t>
            </a:r>
            <a:endParaRPr lang="en-US" sz="1100" dirty="0"/>
          </a:p>
        </p:txBody>
      </p:sp>
      <p:sp>
        <p:nvSpPr>
          <p:cNvPr id="27" name="Shape 25"/>
          <p:cNvSpPr/>
          <p:nvPr/>
        </p:nvSpPr>
        <p:spPr>
          <a:xfrm>
            <a:off x="5103459" y="1330312"/>
            <a:ext cx="1115568" cy="502920"/>
          </a:xfrm>
          <a:prstGeom prst="rect">
            <a:avLst/>
          </a:prstGeom>
          <a:solidFill>
            <a:srgbClr val="26C6DA"/>
          </a:solidFill>
          <a:ln w="12700">
            <a:solidFill>
              <a:srgbClr val="B0BEC5"/>
            </a:solidFill>
            <a:prstDash val="solid"/>
          </a:ln>
        </p:spPr>
      </p:sp>
      <p:sp>
        <p:nvSpPr>
          <p:cNvPr id="28" name="Text 26"/>
          <p:cNvSpPr/>
          <p:nvPr/>
        </p:nvSpPr>
        <p:spPr>
          <a:xfrm>
            <a:off x="5103459" y="144004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0.58</a:t>
            </a:r>
            <a:endParaRPr lang="en-US" sz="1100" dirty="0"/>
          </a:p>
        </p:txBody>
      </p:sp>
      <p:sp>
        <p:nvSpPr>
          <p:cNvPr id="29" name="Shape 27"/>
          <p:cNvSpPr/>
          <p:nvPr/>
        </p:nvSpPr>
        <p:spPr>
          <a:xfrm>
            <a:off x="6219027" y="1330312"/>
            <a:ext cx="1115568" cy="502920"/>
          </a:xfrm>
          <a:prstGeom prst="rect">
            <a:avLst/>
          </a:prstGeom>
          <a:solidFill>
            <a:srgbClr val="ECEFF1"/>
          </a:solidFill>
          <a:ln w="12700">
            <a:solidFill>
              <a:srgbClr val="B0BEC5"/>
            </a:solidFill>
            <a:prstDash val="solid"/>
          </a:ln>
        </p:spPr>
      </p:sp>
      <p:sp>
        <p:nvSpPr>
          <p:cNvPr id="30" name="Text 28"/>
          <p:cNvSpPr/>
          <p:nvPr/>
        </p:nvSpPr>
        <p:spPr>
          <a:xfrm>
            <a:off x="6219027" y="144004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-0.01</a:t>
            </a:r>
            <a:endParaRPr lang="en-US" sz="1100" dirty="0"/>
          </a:p>
        </p:txBody>
      </p:sp>
      <p:sp>
        <p:nvSpPr>
          <p:cNvPr id="31" name="Shape 29"/>
          <p:cNvSpPr/>
          <p:nvPr/>
        </p:nvSpPr>
        <p:spPr>
          <a:xfrm>
            <a:off x="7334595" y="1330312"/>
            <a:ext cx="1115568" cy="502920"/>
          </a:xfrm>
          <a:prstGeom prst="rect">
            <a:avLst/>
          </a:prstGeom>
          <a:solidFill>
            <a:srgbClr val="ECEFF1"/>
          </a:solidFill>
          <a:ln w="12700">
            <a:solidFill>
              <a:srgbClr val="B0BEC5"/>
            </a:solidFill>
            <a:prstDash val="solid"/>
          </a:ln>
        </p:spPr>
      </p:sp>
      <p:sp>
        <p:nvSpPr>
          <p:cNvPr id="32" name="Text 30"/>
          <p:cNvSpPr/>
          <p:nvPr/>
        </p:nvSpPr>
        <p:spPr>
          <a:xfrm>
            <a:off x="7334595" y="144004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33" name="Shape 31"/>
          <p:cNvSpPr/>
          <p:nvPr/>
        </p:nvSpPr>
        <p:spPr>
          <a:xfrm>
            <a:off x="522315" y="1833232"/>
            <a:ext cx="1216152" cy="502920"/>
          </a:xfrm>
          <a:prstGeom prst="rect">
            <a:avLst/>
          </a:prstGeom>
          <a:solidFill>
            <a:srgbClr val="0D1B2A"/>
          </a:solidFill>
          <a:ln w="12700">
            <a:solidFill>
              <a:srgbClr val="0D1B2A"/>
            </a:solidFill>
            <a:prstDash val="solid"/>
          </a:ln>
        </p:spPr>
      </p:sp>
      <p:sp>
        <p:nvSpPr>
          <p:cNvPr id="34" name="Text 32"/>
          <p:cNvSpPr/>
          <p:nvPr/>
        </p:nvSpPr>
        <p:spPr>
          <a:xfrm>
            <a:off x="522315" y="1942960"/>
            <a:ext cx="1216152" cy="274320"/>
          </a:xfrm>
          <a:prstGeom prst="rect">
            <a:avLst/>
          </a:prstGeom>
          <a:noFill/>
          <a:ln/>
        </p:spPr>
        <p:txBody>
          <a:bodyPr wrap="square" lIns="0" tIns="0" rIns="0" bIns="0" rtlCol="0" anchor="ctr"/>
          <a:lstStyle/>
          <a:p>
            <a:pPr marL="0" indent="0" algn="ctr">
              <a:buNone/>
            </a:pPr>
            <a:r>
              <a:rPr lang="en-US" sz="950" b="1" dirty="0">
                <a:solidFill>
                  <a:srgbClr val="FFFFFF"/>
                </a:solidFill>
              </a:rPr>
              <a:t>Profit</a:t>
            </a:r>
            <a:endParaRPr lang="en-US" sz="950" dirty="0"/>
          </a:p>
        </p:txBody>
      </p:sp>
      <p:sp>
        <p:nvSpPr>
          <p:cNvPr id="35" name="Shape 33"/>
          <p:cNvSpPr/>
          <p:nvPr/>
        </p:nvSpPr>
        <p:spPr>
          <a:xfrm>
            <a:off x="1756755" y="1833232"/>
            <a:ext cx="1115568" cy="502920"/>
          </a:xfrm>
          <a:prstGeom prst="rect">
            <a:avLst/>
          </a:prstGeom>
          <a:solidFill>
            <a:srgbClr val="00897B"/>
          </a:solidFill>
          <a:ln w="12700">
            <a:solidFill>
              <a:srgbClr val="B0BEC5"/>
            </a:solidFill>
            <a:prstDash val="solid"/>
          </a:ln>
        </p:spPr>
      </p:sp>
      <p:sp>
        <p:nvSpPr>
          <p:cNvPr id="36" name="Text 34"/>
          <p:cNvSpPr/>
          <p:nvPr/>
        </p:nvSpPr>
        <p:spPr>
          <a:xfrm>
            <a:off x="1756755" y="194296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1.00</a:t>
            </a:r>
            <a:endParaRPr lang="en-US" sz="1100" dirty="0"/>
          </a:p>
        </p:txBody>
      </p:sp>
      <p:sp>
        <p:nvSpPr>
          <p:cNvPr id="37" name="Shape 35"/>
          <p:cNvSpPr/>
          <p:nvPr/>
        </p:nvSpPr>
        <p:spPr>
          <a:xfrm>
            <a:off x="2872323" y="1833232"/>
            <a:ext cx="1115568" cy="502920"/>
          </a:xfrm>
          <a:prstGeom prst="rect">
            <a:avLst/>
          </a:prstGeom>
          <a:solidFill>
            <a:srgbClr val="00897B"/>
          </a:solidFill>
          <a:ln w="12700">
            <a:solidFill>
              <a:srgbClr val="B0BEC5"/>
            </a:solidFill>
            <a:prstDash val="solid"/>
          </a:ln>
        </p:spPr>
      </p:sp>
      <p:sp>
        <p:nvSpPr>
          <p:cNvPr id="38" name="Text 36"/>
          <p:cNvSpPr/>
          <p:nvPr/>
        </p:nvSpPr>
        <p:spPr>
          <a:xfrm>
            <a:off x="2872323" y="194296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1.00</a:t>
            </a:r>
            <a:endParaRPr lang="en-US" sz="1100" dirty="0"/>
          </a:p>
        </p:txBody>
      </p:sp>
      <p:sp>
        <p:nvSpPr>
          <p:cNvPr id="39" name="Shape 37"/>
          <p:cNvSpPr/>
          <p:nvPr/>
        </p:nvSpPr>
        <p:spPr>
          <a:xfrm>
            <a:off x="3987891" y="1833232"/>
            <a:ext cx="1115568" cy="502920"/>
          </a:xfrm>
          <a:prstGeom prst="rect">
            <a:avLst/>
          </a:prstGeom>
          <a:solidFill>
            <a:srgbClr val="FFCDD2"/>
          </a:solidFill>
          <a:ln w="12700">
            <a:solidFill>
              <a:srgbClr val="B0BEC5"/>
            </a:solidFill>
            <a:prstDash val="solid"/>
          </a:ln>
        </p:spPr>
      </p:sp>
      <p:sp>
        <p:nvSpPr>
          <p:cNvPr id="40" name="Text 38"/>
          <p:cNvSpPr/>
          <p:nvPr/>
        </p:nvSpPr>
        <p:spPr>
          <a:xfrm>
            <a:off x="3987891" y="1942960"/>
            <a:ext cx="1115568" cy="274320"/>
          </a:xfrm>
          <a:prstGeom prst="rect">
            <a:avLst/>
          </a:prstGeom>
          <a:noFill/>
          <a:ln/>
        </p:spPr>
        <p:txBody>
          <a:bodyPr wrap="square" lIns="0" tIns="0" rIns="0" bIns="0" rtlCol="0" anchor="ctr"/>
          <a:lstStyle/>
          <a:p>
            <a:pPr marL="0" indent="0" algn="ctr">
              <a:buNone/>
            </a:pPr>
            <a:r>
              <a:rPr lang="en-US" sz="1100" dirty="0">
                <a:solidFill>
                  <a:srgbClr val="FFFFFF"/>
                </a:solidFill>
              </a:rPr>
              <a:t>-0.19</a:t>
            </a:r>
            <a:endParaRPr lang="en-US" sz="1100" dirty="0"/>
          </a:p>
        </p:txBody>
      </p:sp>
      <p:sp>
        <p:nvSpPr>
          <p:cNvPr id="41" name="Shape 39"/>
          <p:cNvSpPr/>
          <p:nvPr/>
        </p:nvSpPr>
        <p:spPr>
          <a:xfrm>
            <a:off x="5103459" y="1833232"/>
            <a:ext cx="1115568" cy="502920"/>
          </a:xfrm>
          <a:prstGeom prst="rect">
            <a:avLst/>
          </a:prstGeom>
          <a:solidFill>
            <a:srgbClr val="26C6DA"/>
          </a:solidFill>
          <a:ln w="12700">
            <a:solidFill>
              <a:srgbClr val="B0BEC5"/>
            </a:solidFill>
            <a:prstDash val="solid"/>
          </a:ln>
        </p:spPr>
      </p:sp>
      <p:sp>
        <p:nvSpPr>
          <p:cNvPr id="42" name="Text 40"/>
          <p:cNvSpPr/>
          <p:nvPr/>
        </p:nvSpPr>
        <p:spPr>
          <a:xfrm>
            <a:off x="5103459" y="194296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0.58</a:t>
            </a:r>
            <a:endParaRPr lang="en-US" sz="1100" dirty="0"/>
          </a:p>
        </p:txBody>
      </p:sp>
      <p:sp>
        <p:nvSpPr>
          <p:cNvPr id="43" name="Shape 41"/>
          <p:cNvSpPr/>
          <p:nvPr/>
        </p:nvSpPr>
        <p:spPr>
          <a:xfrm>
            <a:off x="6219027" y="1833232"/>
            <a:ext cx="1115568" cy="502920"/>
          </a:xfrm>
          <a:prstGeom prst="rect">
            <a:avLst/>
          </a:prstGeom>
          <a:solidFill>
            <a:srgbClr val="ECEFF1"/>
          </a:solidFill>
          <a:ln w="12700">
            <a:solidFill>
              <a:srgbClr val="B0BEC5"/>
            </a:solidFill>
            <a:prstDash val="solid"/>
          </a:ln>
        </p:spPr>
      </p:sp>
      <p:sp>
        <p:nvSpPr>
          <p:cNvPr id="44" name="Text 42"/>
          <p:cNvSpPr/>
          <p:nvPr/>
        </p:nvSpPr>
        <p:spPr>
          <a:xfrm>
            <a:off x="6219027" y="194296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-0.01</a:t>
            </a:r>
            <a:endParaRPr lang="en-US" sz="1100" dirty="0"/>
          </a:p>
        </p:txBody>
      </p:sp>
      <p:sp>
        <p:nvSpPr>
          <p:cNvPr id="45" name="Shape 43"/>
          <p:cNvSpPr/>
          <p:nvPr/>
        </p:nvSpPr>
        <p:spPr>
          <a:xfrm>
            <a:off x="7334595" y="1833232"/>
            <a:ext cx="1115568" cy="502920"/>
          </a:xfrm>
          <a:prstGeom prst="rect">
            <a:avLst/>
          </a:prstGeom>
          <a:solidFill>
            <a:srgbClr val="ECEFF1"/>
          </a:solidFill>
          <a:ln w="12700">
            <a:solidFill>
              <a:srgbClr val="B0BEC5"/>
            </a:solidFill>
            <a:prstDash val="solid"/>
          </a:ln>
        </p:spPr>
      </p:sp>
      <p:sp>
        <p:nvSpPr>
          <p:cNvPr id="46" name="Text 44"/>
          <p:cNvSpPr/>
          <p:nvPr/>
        </p:nvSpPr>
        <p:spPr>
          <a:xfrm>
            <a:off x="7334595" y="194296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47" name="Shape 45"/>
          <p:cNvSpPr/>
          <p:nvPr/>
        </p:nvSpPr>
        <p:spPr>
          <a:xfrm>
            <a:off x="522315" y="2336152"/>
            <a:ext cx="1216152" cy="502920"/>
          </a:xfrm>
          <a:prstGeom prst="rect">
            <a:avLst/>
          </a:prstGeom>
          <a:solidFill>
            <a:srgbClr val="0D1B2A"/>
          </a:solidFill>
          <a:ln w="12700">
            <a:solidFill>
              <a:srgbClr val="0D1B2A"/>
            </a:solidFill>
            <a:prstDash val="solid"/>
          </a:ln>
        </p:spPr>
      </p:sp>
      <p:sp>
        <p:nvSpPr>
          <p:cNvPr id="48" name="Text 46"/>
          <p:cNvSpPr/>
          <p:nvPr/>
        </p:nvSpPr>
        <p:spPr>
          <a:xfrm>
            <a:off x="522315" y="2445880"/>
            <a:ext cx="1216152" cy="274320"/>
          </a:xfrm>
          <a:prstGeom prst="rect">
            <a:avLst/>
          </a:prstGeom>
          <a:noFill/>
          <a:ln/>
        </p:spPr>
        <p:txBody>
          <a:bodyPr wrap="square" lIns="0" tIns="0" rIns="0" bIns="0" rtlCol="0" anchor="ctr"/>
          <a:lstStyle/>
          <a:p>
            <a:pPr marL="0" indent="0" algn="ctr">
              <a:buNone/>
            </a:pPr>
            <a:r>
              <a:rPr lang="en-US" sz="950" b="1" dirty="0">
                <a:solidFill>
                  <a:srgbClr val="FFFFFF"/>
                </a:solidFill>
              </a:rPr>
              <a:t>Discount%</a:t>
            </a:r>
            <a:endParaRPr lang="en-US" sz="950" dirty="0"/>
          </a:p>
        </p:txBody>
      </p:sp>
      <p:sp>
        <p:nvSpPr>
          <p:cNvPr id="49" name="Shape 47"/>
          <p:cNvSpPr/>
          <p:nvPr/>
        </p:nvSpPr>
        <p:spPr>
          <a:xfrm>
            <a:off x="1756755" y="2336152"/>
            <a:ext cx="1115568" cy="502920"/>
          </a:xfrm>
          <a:prstGeom prst="rect">
            <a:avLst/>
          </a:prstGeom>
          <a:solidFill>
            <a:srgbClr val="FFCDD2"/>
          </a:solidFill>
          <a:ln w="12700">
            <a:solidFill>
              <a:srgbClr val="B0BEC5"/>
            </a:solidFill>
            <a:prstDash val="solid"/>
          </a:ln>
        </p:spPr>
      </p:sp>
      <p:sp>
        <p:nvSpPr>
          <p:cNvPr id="50" name="Text 48"/>
          <p:cNvSpPr/>
          <p:nvPr/>
        </p:nvSpPr>
        <p:spPr>
          <a:xfrm>
            <a:off x="1756755" y="2445880"/>
            <a:ext cx="1115568" cy="274320"/>
          </a:xfrm>
          <a:prstGeom prst="rect">
            <a:avLst/>
          </a:prstGeom>
          <a:noFill/>
          <a:ln/>
        </p:spPr>
        <p:txBody>
          <a:bodyPr wrap="square" lIns="0" tIns="0" rIns="0" bIns="0" rtlCol="0" anchor="ctr"/>
          <a:lstStyle/>
          <a:p>
            <a:pPr marL="0" indent="0" algn="ctr">
              <a:buNone/>
            </a:pPr>
            <a:r>
              <a:rPr lang="en-US" sz="1100" dirty="0">
                <a:solidFill>
                  <a:srgbClr val="FFFFFF"/>
                </a:solidFill>
              </a:rPr>
              <a:t>-0.19</a:t>
            </a:r>
            <a:endParaRPr lang="en-US" sz="1100" dirty="0"/>
          </a:p>
        </p:txBody>
      </p:sp>
      <p:sp>
        <p:nvSpPr>
          <p:cNvPr id="51" name="Shape 49"/>
          <p:cNvSpPr/>
          <p:nvPr/>
        </p:nvSpPr>
        <p:spPr>
          <a:xfrm>
            <a:off x="2872323" y="2336152"/>
            <a:ext cx="1115568" cy="502920"/>
          </a:xfrm>
          <a:prstGeom prst="rect">
            <a:avLst/>
          </a:prstGeom>
          <a:solidFill>
            <a:srgbClr val="FFCDD2"/>
          </a:solidFill>
          <a:ln w="12700">
            <a:solidFill>
              <a:srgbClr val="B0BEC5"/>
            </a:solidFill>
            <a:prstDash val="solid"/>
          </a:ln>
        </p:spPr>
      </p:sp>
      <p:sp>
        <p:nvSpPr>
          <p:cNvPr id="52" name="Text 50"/>
          <p:cNvSpPr/>
          <p:nvPr/>
        </p:nvSpPr>
        <p:spPr>
          <a:xfrm>
            <a:off x="2872323" y="2445880"/>
            <a:ext cx="1115568" cy="274320"/>
          </a:xfrm>
          <a:prstGeom prst="rect">
            <a:avLst/>
          </a:prstGeom>
          <a:noFill/>
          <a:ln/>
        </p:spPr>
        <p:txBody>
          <a:bodyPr wrap="square" lIns="0" tIns="0" rIns="0" bIns="0" rtlCol="0" anchor="ctr"/>
          <a:lstStyle/>
          <a:p>
            <a:pPr marL="0" indent="0" algn="ctr">
              <a:buNone/>
            </a:pPr>
            <a:r>
              <a:rPr lang="en-US" sz="1100" dirty="0">
                <a:solidFill>
                  <a:srgbClr val="FFFFFF"/>
                </a:solidFill>
              </a:rPr>
              <a:t>-0.19</a:t>
            </a:r>
            <a:endParaRPr lang="en-US" sz="1100" dirty="0"/>
          </a:p>
        </p:txBody>
      </p:sp>
      <p:sp>
        <p:nvSpPr>
          <p:cNvPr id="53" name="Shape 51"/>
          <p:cNvSpPr/>
          <p:nvPr/>
        </p:nvSpPr>
        <p:spPr>
          <a:xfrm>
            <a:off x="3987891" y="2336152"/>
            <a:ext cx="1115568" cy="502920"/>
          </a:xfrm>
          <a:prstGeom prst="rect">
            <a:avLst/>
          </a:prstGeom>
          <a:solidFill>
            <a:srgbClr val="00897B"/>
          </a:solidFill>
          <a:ln w="12700">
            <a:solidFill>
              <a:srgbClr val="B0BEC5"/>
            </a:solidFill>
            <a:prstDash val="solid"/>
          </a:ln>
        </p:spPr>
      </p:sp>
      <p:sp>
        <p:nvSpPr>
          <p:cNvPr id="54" name="Text 52"/>
          <p:cNvSpPr/>
          <p:nvPr/>
        </p:nvSpPr>
        <p:spPr>
          <a:xfrm>
            <a:off x="3987891" y="244588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1.00</a:t>
            </a:r>
            <a:endParaRPr lang="en-US" sz="1100" dirty="0"/>
          </a:p>
        </p:txBody>
      </p:sp>
      <p:sp>
        <p:nvSpPr>
          <p:cNvPr id="55" name="Shape 53"/>
          <p:cNvSpPr/>
          <p:nvPr/>
        </p:nvSpPr>
        <p:spPr>
          <a:xfrm>
            <a:off x="5103459" y="2336152"/>
            <a:ext cx="1115568" cy="502920"/>
          </a:xfrm>
          <a:prstGeom prst="rect">
            <a:avLst/>
          </a:prstGeom>
          <a:solidFill>
            <a:srgbClr val="ECEFF1"/>
          </a:solidFill>
          <a:ln w="12700">
            <a:solidFill>
              <a:srgbClr val="B0BEC5"/>
            </a:solidFill>
            <a:prstDash val="solid"/>
          </a:ln>
        </p:spPr>
      </p:sp>
      <p:sp>
        <p:nvSpPr>
          <p:cNvPr id="56" name="Text 54"/>
          <p:cNvSpPr/>
          <p:nvPr/>
        </p:nvSpPr>
        <p:spPr>
          <a:xfrm>
            <a:off x="5103459" y="244588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57" name="Shape 55"/>
          <p:cNvSpPr/>
          <p:nvPr/>
        </p:nvSpPr>
        <p:spPr>
          <a:xfrm>
            <a:off x="6219027" y="2336152"/>
            <a:ext cx="1115568" cy="502920"/>
          </a:xfrm>
          <a:prstGeom prst="rect">
            <a:avLst/>
          </a:prstGeom>
          <a:solidFill>
            <a:srgbClr val="ECEFF1"/>
          </a:solidFill>
          <a:ln w="12700">
            <a:solidFill>
              <a:srgbClr val="B0BEC5"/>
            </a:solidFill>
            <a:prstDash val="solid"/>
          </a:ln>
        </p:spPr>
      </p:sp>
      <p:sp>
        <p:nvSpPr>
          <p:cNvPr id="58" name="Text 56"/>
          <p:cNvSpPr/>
          <p:nvPr/>
        </p:nvSpPr>
        <p:spPr>
          <a:xfrm>
            <a:off x="6219027" y="244588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59" name="Shape 57"/>
          <p:cNvSpPr/>
          <p:nvPr/>
        </p:nvSpPr>
        <p:spPr>
          <a:xfrm>
            <a:off x="7334595" y="2336152"/>
            <a:ext cx="1115568" cy="502920"/>
          </a:xfrm>
          <a:prstGeom prst="rect">
            <a:avLst/>
          </a:prstGeom>
          <a:solidFill>
            <a:srgbClr val="ECEFF1"/>
          </a:solidFill>
          <a:ln w="12700">
            <a:solidFill>
              <a:srgbClr val="B0BEC5"/>
            </a:solidFill>
            <a:prstDash val="solid"/>
          </a:ln>
        </p:spPr>
      </p:sp>
      <p:sp>
        <p:nvSpPr>
          <p:cNvPr id="60" name="Text 58"/>
          <p:cNvSpPr/>
          <p:nvPr/>
        </p:nvSpPr>
        <p:spPr>
          <a:xfrm>
            <a:off x="7334595" y="244588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61" name="Shape 59"/>
          <p:cNvSpPr/>
          <p:nvPr/>
        </p:nvSpPr>
        <p:spPr>
          <a:xfrm>
            <a:off x="522315" y="2839072"/>
            <a:ext cx="1216152" cy="502920"/>
          </a:xfrm>
          <a:prstGeom prst="rect">
            <a:avLst/>
          </a:prstGeom>
          <a:solidFill>
            <a:srgbClr val="0D1B2A"/>
          </a:solidFill>
          <a:ln w="12700">
            <a:solidFill>
              <a:srgbClr val="0D1B2A"/>
            </a:solidFill>
            <a:prstDash val="solid"/>
          </a:ln>
        </p:spPr>
      </p:sp>
      <p:sp>
        <p:nvSpPr>
          <p:cNvPr id="62" name="Text 60"/>
          <p:cNvSpPr/>
          <p:nvPr/>
        </p:nvSpPr>
        <p:spPr>
          <a:xfrm>
            <a:off x="522315" y="2948800"/>
            <a:ext cx="1216152" cy="274320"/>
          </a:xfrm>
          <a:prstGeom prst="rect">
            <a:avLst/>
          </a:prstGeom>
          <a:noFill/>
          <a:ln/>
        </p:spPr>
        <p:txBody>
          <a:bodyPr wrap="square" lIns="0" tIns="0" rIns="0" bIns="0" rtlCol="0" anchor="ctr"/>
          <a:lstStyle/>
          <a:p>
            <a:pPr marL="0" indent="0" algn="ctr">
              <a:buNone/>
            </a:pPr>
            <a:r>
              <a:rPr lang="en-US" sz="950" b="1" dirty="0">
                <a:solidFill>
                  <a:srgbClr val="FFFFFF"/>
                </a:solidFill>
              </a:rPr>
              <a:t>Quantity</a:t>
            </a:r>
            <a:endParaRPr lang="en-US" sz="950" dirty="0"/>
          </a:p>
        </p:txBody>
      </p:sp>
      <p:sp>
        <p:nvSpPr>
          <p:cNvPr id="63" name="Shape 61"/>
          <p:cNvSpPr/>
          <p:nvPr/>
        </p:nvSpPr>
        <p:spPr>
          <a:xfrm>
            <a:off x="1756755" y="2839072"/>
            <a:ext cx="1115568" cy="502920"/>
          </a:xfrm>
          <a:prstGeom prst="rect">
            <a:avLst/>
          </a:prstGeom>
          <a:solidFill>
            <a:srgbClr val="26C6DA"/>
          </a:solidFill>
          <a:ln w="12700">
            <a:solidFill>
              <a:srgbClr val="B0BEC5"/>
            </a:solidFill>
            <a:prstDash val="solid"/>
          </a:ln>
        </p:spPr>
      </p:sp>
      <p:sp>
        <p:nvSpPr>
          <p:cNvPr id="64" name="Text 62"/>
          <p:cNvSpPr/>
          <p:nvPr/>
        </p:nvSpPr>
        <p:spPr>
          <a:xfrm>
            <a:off x="1756755" y="294880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0.58</a:t>
            </a:r>
            <a:endParaRPr lang="en-US" sz="1100" dirty="0"/>
          </a:p>
        </p:txBody>
      </p:sp>
      <p:sp>
        <p:nvSpPr>
          <p:cNvPr id="65" name="Shape 63"/>
          <p:cNvSpPr/>
          <p:nvPr/>
        </p:nvSpPr>
        <p:spPr>
          <a:xfrm>
            <a:off x="2872323" y="2839072"/>
            <a:ext cx="1115568" cy="502920"/>
          </a:xfrm>
          <a:prstGeom prst="rect">
            <a:avLst/>
          </a:prstGeom>
          <a:solidFill>
            <a:srgbClr val="26C6DA"/>
          </a:solidFill>
          <a:ln w="12700">
            <a:solidFill>
              <a:srgbClr val="B0BEC5"/>
            </a:solidFill>
            <a:prstDash val="solid"/>
          </a:ln>
        </p:spPr>
      </p:sp>
      <p:sp>
        <p:nvSpPr>
          <p:cNvPr id="66" name="Text 64"/>
          <p:cNvSpPr/>
          <p:nvPr/>
        </p:nvSpPr>
        <p:spPr>
          <a:xfrm>
            <a:off x="2872323" y="294880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0.58</a:t>
            </a:r>
            <a:endParaRPr lang="en-US" sz="1100" dirty="0"/>
          </a:p>
        </p:txBody>
      </p:sp>
      <p:sp>
        <p:nvSpPr>
          <p:cNvPr id="67" name="Shape 65"/>
          <p:cNvSpPr/>
          <p:nvPr/>
        </p:nvSpPr>
        <p:spPr>
          <a:xfrm>
            <a:off x="3987891" y="2839072"/>
            <a:ext cx="1115568" cy="502920"/>
          </a:xfrm>
          <a:prstGeom prst="rect">
            <a:avLst/>
          </a:prstGeom>
          <a:solidFill>
            <a:srgbClr val="ECEFF1"/>
          </a:solidFill>
          <a:ln w="12700">
            <a:solidFill>
              <a:srgbClr val="B0BEC5"/>
            </a:solidFill>
            <a:prstDash val="solid"/>
          </a:ln>
        </p:spPr>
      </p:sp>
      <p:sp>
        <p:nvSpPr>
          <p:cNvPr id="68" name="Text 66"/>
          <p:cNvSpPr/>
          <p:nvPr/>
        </p:nvSpPr>
        <p:spPr>
          <a:xfrm>
            <a:off x="3987891" y="294880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69" name="Shape 67"/>
          <p:cNvSpPr/>
          <p:nvPr/>
        </p:nvSpPr>
        <p:spPr>
          <a:xfrm>
            <a:off x="5103459" y="2839072"/>
            <a:ext cx="1115568" cy="502920"/>
          </a:xfrm>
          <a:prstGeom prst="rect">
            <a:avLst/>
          </a:prstGeom>
          <a:solidFill>
            <a:srgbClr val="00897B"/>
          </a:solidFill>
          <a:ln w="12700">
            <a:solidFill>
              <a:srgbClr val="B0BEC5"/>
            </a:solidFill>
            <a:prstDash val="solid"/>
          </a:ln>
        </p:spPr>
      </p:sp>
      <p:sp>
        <p:nvSpPr>
          <p:cNvPr id="70" name="Text 68"/>
          <p:cNvSpPr/>
          <p:nvPr/>
        </p:nvSpPr>
        <p:spPr>
          <a:xfrm>
            <a:off x="5103459" y="294880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1.00</a:t>
            </a:r>
            <a:endParaRPr lang="en-US" sz="1100" dirty="0"/>
          </a:p>
        </p:txBody>
      </p:sp>
      <p:sp>
        <p:nvSpPr>
          <p:cNvPr id="71" name="Shape 69"/>
          <p:cNvSpPr/>
          <p:nvPr/>
        </p:nvSpPr>
        <p:spPr>
          <a:xfrm>
            <a:off x="6219027" y="2839072"/>
            <a:ext cx="1115568" cy="502920"/>
          </a:xfrm>
          <a:prstGeom prst="rect">
            <a:avLst/>
          </a:prstGeom>
          <a:solidFill>
            <a:srgbClr val="ECEFF1"/>
          </a:solidFill>
          <a:ln w="12700">
            <a:solidFill>
              <a:srgbClr val="B0BEC5"/>
            </a:solidFill>
            <a:prstDash val="solid"/>
          </a:ln>
        </p:spPr>
      </p:sp>
      <p:sp>
        <p:nvSpPr>
          <p:cNvPr id="72" name="Text 70"/>
          <p:cNvSpPr/>
          <p:nvPr/>
        </p:nvSpPr>
        <p:spPr>
          <a:xfrm>
            <a:off x="6219027" y="294880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73" name="Shape 71"/>
          <p:cNvSpPr/>
          <p:nvPr/>
        </p:nvSpPr>
        <p:spPr>
          <a:xfrm>
            <a:off x="7334595" y="2839072"/>
            <a:ext cx="1115568" cy="502920"/>
          </a:xfrm>
          <a:prstGeom prst="rect">
            <a:avLst/>
          </a:prstGeom>
          <a:solidFill>
            <a:srgbClr val="ECEFF1"/>
          </a:solidFill>
          <a:ln w="12700">
            <a:solidFill>
              <a:srgbClr val="B0BEC5"/>
            </a:solidFill>
            <a:prstDash val="solid"/>
          </a:ln>
        </p:spPr>
      </p:sp>
      <p:sp>
        <p:nvSpPr>
          <p:cNvPr id="74" name="Text 72"/>
          <p:cNvSpPr/>
          <p:nvPr/>
        </p:nvSpPr>
        <p:spPr>
          <a:xfrm>
            <a:off x="7334595" y="294880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75" name="Shape 73"/>
          <p:cNvSpPr/>
          <p:nvPr/>
        </p:nvSpPr>
        <p:spPr>
          <a:xfrm>
            <a:off x="522315" y="3341992"/>
            <a:ext cx="1216152" cy="502920"/>
          </a:xfrm>
          <a:prstGeom prst="rect">
            <a:avLst/>
          </a:prstGeom>
          <a:solidFill>
            <a:srgbClr val="0D1B2A"/>
          </a:solidFill>
          <a:ln w="12700">
            <a:solidFill>
              <a:srgbClr val="0D1B2A"/>
            </a:solidFill>
            <a:prstDash val="solid"/>
          </a:ln>
        </p:spPr>
      </p:sp>
      <p:sp>
        <p:nvSpPr>
          <p:cNvPr id="76" name="Text 74"/>
          <p:cNvSpPr/>
          <p:nvPr/>
        </p:nvSpPr>
        <p:spPr>
          <a:xfrm>
            <a:off x="522315" y="3451720"/>
            <a:ext cx="1216152" cy="274320"/>
          </a:xfrm>
          <a:prstGeom prst="rect">
            <a:avLst/>
          </a:prstGeom>
          <a:noFill/>
          <a:ln/>
        </p:spPr>
        <p:txBody>
          <a:bodyPr wrap="square" lIns="0" tIns="0" rIns="0" bIns="0" rtlCol="0" anchor="ctr"/>
          <a:lstStyle/>
          <a:p>
            <a:pPr marL="0" indent="0" algn="ctr">
              <a:buNone/>
            </a:pPr>
            <a:r>
              <a:rPr lang="en-US" sz="950" b="1" dirty="0">
                <a:solidFill>
                  <a:srgbClr val="FFFFFF"/>
                </a:solidFill>
              </a:rPr>
              <a:t>Shipping</a:t>
            </a:r>
            <a:endParaRPr lang="en-US" sz="950" dirty="0"/>
          </a:p>
        </p:txBody>
      </p:sp>
      <p:sp>
        <p:nvSpPr>
          <p:cNvPr id="77" name="Shape 75"/>
          <p:cNvSpPr/>
          <p:nvPr/>
        </p:nvSpPr>
        <p:spPr>
          <a:xfrm>
            <a:off x="1756755" y="3341992"/>
            <a:ext cx="1115568" cy="502920"/>
          </a:xfrm>
          <a:prstGeom prst="rect">
            <a:avLst/>
          </a:prstGeom>
          <a:solidFill>
            <a:srgbClr val="ECEFF1"/>
          </a:solidFill>
          <a:ln w="12700">
            <a:solidFill>
              <a:srgbClr val="B0BEC5"/>
            </a:solidFill>
            <a:prstDash val="solid"/>
          </a:ln>
        </p:spPr>
      </p:sp>
      <p:sp>
        <p:nvSpPr>
          <p:cNvPr id="78" name="Text 76"/>
          <p:cNvSpPr/>
          <p:nvPr/>
        </p:nvSpPr>
        <p:spPr>
          <a:xfrm>
            <a:off x="1756755" y="345172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-0.01</a:t>
            </a:r>
            <a:endParaRPr lang="en-US" sz="1100" dirty="0"/>
          </a:p>
        </p:txBody>
      </p:sp>
      <p:sp>
        <p:nvSpPr>
          <p:cNvPr id="79" name="Shape 77"/>
          <p:cNvSpPr/>
          <p:nvPr/>
        </p:nvSpPr>
        <p:spPr>
          <a:xfrm>
            <a:off x="2872323" y="3341992"/>
            <a:ext cx="1115568" cy="502920"/>
          </a:xfrm>
          <a:prstGeom prst="rect">
            <a:avLst/>
          </a:prstGeom>
          <a:solidFill>
            <a:srgbClr val="ECEFF1"/>
          </a:solidFill>
          <a:ln w="12700">
            <a:solidFill>
              <a:srgbClr val="B0BEC5"/>
            </a:solidFill>
            <a:prstDash val="solid"/>
          </a:ln>
        </p:spPr>
      </p:sp>
      <p:sp>
        <p:nvSpPr>
          <p:cNvPr id="80" name="Text 78"/>
          <p:cNvSpPr/>
          <p:nvPr/>
        </p:nvSpPr>
        <p:spPr>
          <a:xfrm>
            <a:off x="2872323" y="345172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-0.01</a:t>
            </a:r>
            <a:endParaRPr lang="en-US" sz="1100" dirty="0"/>
          </a:p>
        </p:txBody>
      </p:sp>
      <p:sp>
        <p:nvSpPr>
          <p:cNvPr id="81" name="Shape 79"/>
          <p:cNvSpPr/>
          <p:nvPr/>
        </p:nvSpPr>
        <p:spPr>
          <a:xfrm>
            <a:off x="3987891" y="3341992"/>
            <a:ext cx="1115568" cy="502920"/>
          </a:xfrm>
          <a:prstGeom prst="rect">
            <a:avLst/>
          </a:prstGeom>
          <a:solidFill>
            <a:srgbClr val="ECEFF1"/>
          </a:solidFill>
          <a:ln w="12700">
            <a:solidFill>
              <a:srgbClr val="B0BEC5"/>
            </a:solidFill>
            <a:prstDash val="solid"/>
          </a:ln>
        </p:spPr>
      </p:sp>
      <p:sp>
        <p:nvSpPr>
          <p:cNvPr id="82" name="Text 80"/>
          <p:cNvSpPr/>
          <p:nvPr/>
        </p:nvSpPr>
        <p:spPr>
          <a:xfrm>
            <a:off x="3987891" y="345172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83" name="Shape 81"/>
          <p:cNvSpPr/>
          <p:nvPr/>
        </p:nvSpPr>
        <p:spPr>
          <a:xfrm>
            <a:off x="5103459" y="3341992"/>
            <a:ext cx="1115568" cy="502920"/>
          </a:xfrm>
          <a:prstGeom prst="rect">
            <a:avLst/>
          </a:prstGeom>
          <a:solidFill>
            <a:srgbClr val="ECEFF1"/>
          </a:solidFill>
          <a:ln w="12700">
            <a:solidFill>
              <a:srgbClr val="B0BEC5"/>
            </a:solidFill>
            <a:prstDash val="solid"/>
          </a:ln>
        </p:spPr>
      </p:sp>
      <p:sp>
        <p:nvSpPr>
          <p:cNvPr id="84" name="Text 82"/>
          <p:cNvSpPr/>
          <p:nvPr/>
        </p:nvSpPr>
        <p:spPr>
          <a:xfrm>
            <a:off x="5103459" y="345172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85" name="Shape 83"/>
          <p:cNvSpPr/>
          <p:nvPr/>
        </p:nvSpPr>
        <p:spPr>
          <a:xfrm>
            <a:off x="6219027" y="3341992"/>
            <a:ext cx="1115568" cy="502920"/>
          </a:xfrm>
          <a:prstGeom prst="rect">
            <a:avLst/>
          </a:prstGeom>
          <a:solidFill>
            <a:srgbClr val="00897B"/>
          </a:solidFill>
          <a:ln w="12700">
            <a:solidFill>
              <a:srgbClr val="B0BEC5"/>
            </a:solidFill>
            <a:prstDash val="solid"/>
          </a:ln>
        </p:spPr>
      </p:sp>
      <p:sp>
        <p:nvSpPr>
          <p:cNvPr id="86" name="Text 84"/>
          <p:cNvSpPr/>
          <p:nvPr/>
        </p:nvSpPr>
        <p:spPr>
          <a:xfrm>
            <a:off x="6219027" y="345172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1.00</a:t>
            </a:r>
            <a:endParaRPr lang="en-US" sz="1100" dirty="0"/>
          </a:p>
        </p:txBody>
      </p:sp>
      <p:sp>
        <p:nvSpPr>
          <p:cNvPr id="87" name="Shape 85"/>
          <p:cNvSpPr/>
          <p:nvPr/>
        </p:nvSpPr>
        <p:spPr>
          <a:xfrm>
            <a:off x="7334595" y="3341992"/>
            <a:ext cx="1115568" cy="502920"/>
          </a:xfrm>
          <a:prstGeom prst="rect">
            <a:avLst/>
          </a:prstGeom>
          <a:solidFill>
            <a:srgbClr val="ECEFF1"/>
          </a:solidFill>
          <a:ln w="12700">
            <a:solidFill>
              <a:srgbClr val="B0BEC5"/>
            </a:solidFill>
            <a:prstDash val="solid"/>
          </a:ln>
        </p:spPr>
      </p:sp>
      <p:sp>
        <p:nvSpPr>
          <p:cNvPr id="88" name="Text 86"/>
          <p:cNvSpPr/>
          <p:nvPr/>
        </p:nvSpPr>
        <p:spPr>
          <a:xfrm>
            <a:off x="7334595" y="345172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89" name="Shape 87"/>
          <p:cNvSpPr/>
          <p:nvPr/>
        </p:nvSpPr>
        <p:spPr>
          <a:xfrm>
            <a:off x="522315" y="3844912"/>
            <a:ext cx="1216152" cy="502920"/>
          </a:xfrm>
          <a:prstGeom prst="rect">
            <a:avLst/>
          </a:prstGeom>
          <a:solidFill>
            <a:srgbClr val="0D1B2A"/>
          </a:solidFill>
          <a:ln w="12700">
            <a:solidFill>
              <a:srgbClr val="0D1B2A"/>
            </a:solidFill>
            <a:prstDash val="solid"/>
          </a:ln>
        </p:spPr>
      </p:sp>
      <p:sp>
        <p:nvSpPr>
          <p:cNvPr id="90" name="Text 88"/>
          <p:cNvSpPr/>
          <p:nvPr/>
        </p:nvSpPr>
        <p:spPr>
          <a:xfrm>
            <a:off x="522315" y="3954640"/>
            <a:ext cx="1216152" cy="274320"/>
          </a:xfrm>
          <a:prstGeom prst="rect">
            <a:avLst/>
          </a:prstGeom>
          <a:noFill/>
          <a:ln/>
        </p:spPr>
        <p:txBody>
          <a:bodyPr wrap="square" lIns="0" tIns="0" rIns="0" bIns="0" rtlCol="0" anchor="ctr"/>
          <a:lstStyle/>
          <a:p>
            <a:pPr marL="0" indent="0" algn="ctr">
              <a:buNone/>
            </a:pPr>
            <a:r>
              <a:rPr lang="en-US" sz="950" b="1" dirty="0">
                <a:solidFill>
                  <a:srgbClr val="FFFFFF"/>
                </a:solidFill>
              </a:rPr>
              <a:t>Rating</a:t>
            </a:r>
            <a:endParaRPr lang="en-US" sz="950" dirty="0"/>
          </a:p>
        </p:txBody>
      </p:sp>
      <p:sp>
        <p:nvSpPr>
          <p:cNvPr id="91" name="Shape 89"/>
          <p:cNvSpPr/>
          <p:nvPr/>
        </p:nvSpPr>
        <p:spPr>
          <a:xfrm>
            <a:off x="1756755" y="3844912"/>
            <a:ext cx="1115568" cy="502920"/>
          </a:xfrm>
          <a:prstGeom prst="rect">
            <a:avLst/>
          </a:prstGeom>
          <a:solidFill>
            <a:srgbClr val="ECEFF1"/>
          </a:solidFill>
          <a:ln w="12700">
            <a:solidFill>
              <a:srgbClr val="B0BEC5"/>
            </a:solidFill>
            <a:prstDash val="solid"/>
          </a:ln>
        </p:spPr>
      </p:sp>
      <p:sp>
        <p:nvSpPr>
          <p:cNvPr id="92" name="Text 90"/>
          <p:cNvSpPr/>
          <p:nvPr/>
        </p:nvSpPr>
        <p:spPr>
          <a:xfrm>
            <a:off x="1756755" y="395464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93" name="Shape 91"/>
          <p:cNvSpPr/>
          <p:nvPr/>
        </p:nvSpPr>
        <p:spPr>
          <a:xfrm>
            <a:off x="2872323" y="3844912"/>
            <a:ext cx="1115568" cy="502920"/>
          </a:xfrm>
          <a:prstGeom prst="rect">
            <a:avLst/>
          </a:prstGeom>
          <a:solidFill>
            <a:srgbClr val="ECEFF1"/>
          </a:solidFill>
          <a:ln w="12700">
            <a:solidFill>
              <a:srgbClr val="B0BEC5"/>
            </a:solidFill>
            <a:prstDash val="solid"/>
          </a:ln>
        </p:spPr>
      </p:sp>
      <p:sp>
        <p:nvSpPr>
          <p:cNvPr id="94" name="Text 92"/>
          <p:cNvSpPr/>
          <p:nvPr/>
        </p:nvSpPr>
        <p:spPr>
          <a:xfrm>
            <a:off x="2872323" y="395464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95" name="Shape 93"/>
          <p:cNvSpPr/>
          <p:nvPr/>
        </p:nvSpPr>
        <p:spPr>
          <a:xfrm>
            <a:off x="3987891" y="3844912"/>
            <a:ext cx="1115568" cy="502920"/>
          </a:xfrm>
          <a:prstGeom prst="rect">
            <a:avLst/>
          </a:prstGeom>
          <a:solidFill>
            <a:srgbClr val="ECEFF1"/>
          </a:solidFill>
          <a:ln w="12700">
            <a:solidFill>
              <a:srgbClr val="B0BEC5"/>
            </a:solidFill>
            <a:prstDash val="solid"/>
          </a:ln>
        </p:spPr>
      </p:sp>
      <p:sp>
        <p:nvSpPr>
          <p:cNvPr id="96" name="Text 94"/>
          <p:cNvSpPr/>
          <p:nvPr/>
        </p:nvSpPr>
        <p:spPr>
          <a:xfrm>
            <a:off x="3987891" y="395464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97" name="Shape 95"/>
          <p:cNvSpPr/>
          <p:nvPr/>
        </p:nvSpPr>
        <p:spPr>
          <a:xfrm>
            <a:off x="5103459" y="3844912"/>
            <a:ext cx="1115568" cy="502920"/>
          </a:xfrm>
          <a:prstGeom prst="rect">
            <a:avLst/>
          </a:prstGeom>
          <a:solidFill>
            <a:srgbClr val="ECEFF1"/>
          </a:solidFill>
          <a:ln w="12700">
            <a:solidFill>
              <a:srgbClr val="B0BEC5"/>
            </a:solidFill>
            <a:prstDash val="solid"/>
          </a:ln>
        </p:spPr>
      </p:sp>
      <p:sp>
        <p:nvSpPr>
          <p:cNvPr id="98" name="Text 96"/>
          <p:cNvSpPr/>
          <p:nvPr/>
        </p:nvSpPr>
        <p:spPr>
          <a:xfrm>
            <a:off x="5103459" y="395464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99" name="Shape 97"/>
          <p:cNvSpPr/>
          <p:nvPr/>
        </p:nvSpPr>
        <p:spPr>
          <a:xfrm>
            <a:off x="6219027" y="3844912"/>
            <a:ext cx="1115568" cy="502920"/>
          </a:xfrm>
          <a:prstGeom prst="rect">
            <a:avLst/>
          </a:prstGeom>
          <a:solidFill>
            <a:srgbClr val="ECEFF1"/>
          </a:solidFill>
          <a:ln w="12700">
            <a:solidFill>
              <a:srgbClr val="B0BEC5"/>
            </a:solidFill>
            <a:prstDash val="solid"/>
          </a:ln>
        </p:spPr>
      </p:sp>
      <p:sp>
        <p:nvSpPr>
          <p:cNvPr id="100" name="Text 98"/>
          <p:cNvSpPr/>
          <p:nvPr/>
        </p:nvSpPr>
        <p:spPr>
          <a:xfrm>
            <a:off x="6219027" y="3954640"/>
            <a:ext cx="1115568" cy="274320"/>
          </a:xfrm>
          <a:prstGeom prst="rect">
            <a:avLst/>
          </a:prstGeom>
          <a:noFill/>
          <a:ln/>
        </p:spPr>
        <p:txBody>
          <a:bodyPr wrap="square" lIns="0" tIns="0" rIns="0" bIns="0" rtlCol="0" anchor="ctr"/>
          <a:lstStyle/>
          <a:p>
            <a:pPr marL="0" indent="0" algn="ctr">
              <a:buNone/>
            </a:pPr>
            <a:r>
              <a:rPr lang="en-US" sz="1100" dirty="0">
                <a:solidFill>
                  <a:srgbClr val="1C2833"/>
                </a:solidFill>
              </a:rPr>
              <a:t>0.00</a:t>
            </a:r>
            <a:endParaRPr lang="en-US" sz="1100" dirty="0"/>
          </a:p>
        </p:txBody>
      </p:sp>
      <p:sp>
        <p:nvSpPr>
          <p:cNvPr id="101" name="Shape 99"/>
          <p:cNvSpPr/>
          <p:nvPr/>
        </p:nvSpPr>
        <p:spPr>
          <a:xfrm>
            <a:off x="7334595" y="3844912"/>
            <a:ext cx="1115568" cy="502920"/>
          </a:xfrm>
          <a:prstGeom prst="rect">
            <a:avLst/>
          </a:prstGeom>
          <a:solidFill>
            <a:srgbClr val="00897B"/>
          </a:solidFill>
          <a:ln w="12700">
            <a:solidFill>
              <a:srgbClr val="B0BEC5"/>
            </a:solidFill>
            <a:prstDash val="solid"/>
          </a:ln>
        </p:spPr>
      </p:sp>
      <p:sp>
        <p:nvSpPr>
          <p:cNvPr id="102" name="Text 100"/>
          <p:cNvSpPr/>
          <p:nvPr/>
        </p:nvSpPr>
        <p:spPr>
          <a:xfrm>
            <a:off x="7334595" y="3954640"/>
            <a:ext cx="1115568" cy="274320"/>
          </a:xfrm>
          <a:prstGeom prst="rect">
            <a:avLst/>
          </a:prstGeom>
          <a:noFill/>
          <a:ln/>
        </p:spPr>
        <p:txBody>
          <a:bodyPr wrap="square" lIns="0" tIns="0" rIns="0" bIns="0" rtlCol="0" anchor="ctr"/>
          <a:lstStyle/>
          <a:p>
            <a:pPr marL="0" indent="0" algn="ctr">
              <a:buNone/>
            </a:pPr>
            <a:r>
              <a:rPr lang="en-US" sz="1100" b="1" dirty="0">
                <a:solidFill>
                  <a:srgbClr val="FFFFFF"/>
                </a:solidFill>
              </a:rPr>
              <a:t>1.00</a:t>
            </a:r>
            <a:endParaRPr lang="en-US" sz="1100" dirty="0"/>
          </a:p>
        </p:txBody>
      </p:sp>
      <p:sp>
        <p:nvSpPr>
          <p:cNvPr id="103" name="Shape 101"/>
          <p:cNvSpPr/>
          <p:nvPr/>
        </p:nvSpPr>
        <p:spPr>
          <a:xfrm>
            <a:off x="250767" y="4378314"/>
            <a:ext cx="2103120" cy="71323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04" name="Shape 102"/>
          <p:cNvSpPr/>
          <p:nvPr/>
        </p:nvSpPr>
        <p:spPr>
          <a:xfrm>
            <a:off x="250767" y="4378314"/>
            <a:ext cx="2103120" cy="64008"/>
          </a:xfrm>
          <a:prstGeom prst="rect">
            <a:avLst/>
          </a:prstGeom>
          <a:solidFill>
            <a:srgbClr val="00897B"/>
          </a:solidFill>
          <a:ln w="12700">
            <a:solidFill>
              <a:srgbClr val="00897B"/>
            </a:solidFill>
            <a:prstDash val="solid"/>
          </a:ln>
        </p:spPr>
      </p:sp>
      <p:sp>
        <p:nvSpPr>
          <p:cNvPr id="105" name="Text 103"/>
          <p:cNvSpPr/>
          <p:nvPr/>
        </p:nvSpPr>
        <p:spPr>
          <a:xfrm>
            <a:off x="342207" y="4451466"/>
            <a:ext cx="1920240" cy="237744"/>
          </a:xfrm>
          <a:prstGeom prst="rect">
            <a:avLst/>
          </a:prstGeom>
          <a:noFill/>
          <a:ln/>
        </p:spPr>
        <p:txBody>
          <a:bodyPr wrap="square" lIns="0" tIns="0" rIns="0" bIns="0" rtlCol="0" anchor="ctr"/>
          <a:lstStyle/>
          <a:p>
            <a:pPr marL="0" indent="0">
              <a:buNone/>
            </a:pPr>
            <a:r>
              <a:rPr lang="en-US" sz="950" b="1" dirty="0">
                <a:solidFill>
                  <a:srgbClr val="00897B"/>
                </a:solidFill>
              </a:rPr>
              <a:t>r=1.00 | Revenue ↔ Profit</a:t>
            </a:r>
            <a:endParaRPr lang="en-US" sz="950" dirty="0"/>
          </a:p>
        </p:txBody>
      </p:sp>
      <p:sp>
        <p:nvSpPr>
          <p:cNvPr id="106" name="Text 104"/>
          <p:cNvSpPr/>
          <p:nvPr/>
        </p:nvSpPr>
        <p:spPr>
          <a:xfrm>
            <a:off x="342207" y="4698354"/>
            <a:ext cx="1920240" cy="347472"/>
          </a:xfrm>
          <a:prstGeom prst="rect">
            <a:avLst/>
          </a:prstGeom>
          <a:noFill/>
          <a:ln/>
        </p:spPr>
        <p:txBody>
          <a:bodyPr wrap="square" lIns="0" tIns="0" rIns="0" bIns="0" rtlCol="0" anchor="ctr"/>
          <a:lstStyle/>
          <a:p>
            <a:pPr marL="0" indent="0">
              <a:buNone/>
            </a:pPr>
            <a:r>
              <a:rPr lang="en-US" sz="880" dirty="0">
                <a:solidFill>
                  <a:srgbClr val="1C2833"/>
                </a:solidFill>
              </a:rPr>
              <a:t>Perfect correlation — every rupee of revenue translates directly to profit with minimal cost leakage.</a:t>
            </a:r>
            <a:endParaRPr lang="en-US" sz="880" dirty="0"/>
          </a:p>
        </p:txBody>
      </p:sp>
      <p:sp>
        <p:nvSpPr>
          <p:cNvPr id="107" name="Shape 105"/>
          <p:cNvSpPr/>
          <p:nvPr/>
        </p:nvSpPr>
        <p:spPr>
          <a:xfrm>
            <a:off x="2463615" y="4378314"/>
            <a:ext cx="2103120" cy="71323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08" name="Shape 106"/>
          <p:cNvSpPr/>
          <p:nvPr/>
        </p:nvSpPr>
        <p:spPr>
          <a:xfrm>
            <a:off x="2463615" y="4378314"/>
            <a:ext cx="2103120" cy="64008"/>
          </a:xfrm>
          <a:prstGeom prst="rect">
            <a:avLst/>
          </a:prstGeom>
          <a:solidFill>
            <a:srgbClr val="2E7D32"/>
          </a:solidFill>
          <a:ln w="12700">
            <a:solidFill>
              <a:srgbClr val="2E7D32"/>
            </a:solidFill>
            <a:prstDash val="solid"/>
          </a:ln>
        </p:spPr>
      </p:sp>
      <p:sp>
        <p:nvSpPr>
          <p:cNvPr id="109" name="Text 107"/>
          <p:cNvSpPr/>
          <p:nvPr/>
        </p:nvSpPr>
        <p:spPr>
          <a:xfrm>
            <a:off x="2555055" y="4451466"/>
            <a:ext cx="1920240" cy="237744"/>
          </a:xfrm>
          <a:prstGeom prst="rect">
            <a:avLst/>
          </a:prstGeom>
          <a:noFill/>
          <a:ln/>
        </p:spPr>
        <p:txBody>
          <a:bodyPr wrap="square" lIns="0" tIns="0" rIns="0" bIns="0" rtlCol="0" anchor="ctr"/>
          <a:lstStyle/>
          <a:p>
            <a:pPr marL="0" indent="0">
              <a:buNone/>
            </a:pPr>
            <a:r>
              <a:rPr lang="en-US" sz="950" b="1" dirty="0">
                <a:solidFill>
                  <a:srgbClr val="2E7D32"/>
                </a:solidFill>
              </a:rPr>
              <a:t>r=0.58 | Quantity → Revenue</a:t>
            </a:r>
            <a:endParaRPr lang="en-US" sz="950" dirty="0"/>
          </a:p>
        </p:txBody>
      </p:sp>
      <p:sp>
        <p:nvSpPr>
          <p:cNvPr id="110" name="Text 108"/>
          <p:cNvSpPr/>
          <p:nvPr/>
        </p:nvSpPr>
        <p:spPr>
          <a:xfrm>
            <a:off x="2555055" y="4698354"/>
            <a:ext cx="1920240" cy="347472"/>
          </a:xfrm>
          <a:prstGeom prst="rect">
            <a:avLst/>
          </a:prstGeom>
          <a:noFill/>
          <a:ln/>
        </p:spPr>
        <p:txBody>
          <a:bodyPr wrap="square" lIns="0" tIns="0" rIns="0" bIns="0" rtlCol="0" anchor="ctr"/>
          <a:lstStyle/>
          <a:p>
            <a:pPr marL="0" indent="0">
              <a:buNone/>
            </a:pPr>
            <a:r>
              <a:rPr lang="en-US" sz="880" dirty="0">
                <a:solidFill>
                  <a:srgbClr val="1C2833"/>
                </a:solidFill>
              </a:rPr>
              <a:t>Moderate positive link — pushing quantity is the most impactful revenue lever.</a:t>
            </a:r>
            <a:endParaRPr lang="en-US" sz="880" dirty="0"/>
          </a:p>
        </p:txBody>
      </p:sp>
      <p:sp>
        <p:nvSpPr>
          <p:cNvPr id="111" name="Shape 109"/>
          <p:cNvSpPr/>
          <p:nvPr/>
        </p:nvSpPr>
        <p:spPr>
          <a:xfrm>
            <a:off x="4676463" y="4378314"/>
            <a:ext cx="2103120" cy="71323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12" name="Shape 110"/>
          <p:cNvSpPr/>
          <p:nvPr/>
        </p:nvSpPr>
        <p:spPr>
          <a:xfrm>
            <a:off x="4676463" y="4378314"/>
            <a:ext cx="2103120" cy="64008"/>
          </a:xfrm>
          <a:prstGeom prst="rect">
            <a:avLst/>
          </a:prstGeom>
          <a:solidFill>
            <a:srgbClr val="E53935"/>
          </a:solidFill>
          <a:ln w="12700">
            <a:solidFill>
              <a:srgbClr val="E53935"/>
            </a:solidFill>
            <a:prstDash val="solid"/>
          </a:ln>
        </p:spPr>
      </p:sp>
      <p:sp>
        <p:nvSpPr>
          <p:cNvPr id="113" name="Text 111"/>
          <p:cNvSpPr/>
          <p:nvPr/>
        </p:nvSpPr>
        <p:spPr>
          <a:xfrm>
            <a:off x="4767903" y="4451466"/>
            <a:ext cx="1920240" cy="237744"/>
          </a:xfrm>
          <a:prstGeom prst="rect">
            <a:avLst/>
          </a:prstGeom>
          <a:noFill/>
          <a:ln/>
        </p:spPr>
        <p:txBody>
          <a:bodyPr wrap="square" lIns="0" tIns="0" rIns="0" bIns="0" rtlCol="0" anchor="ctr"/>
          <a:lstStyle/>
          <a:p>
            <a:pPr marL="0" indent="0">
              <a:buNone/>
            </a:pPr>
            <a:r>
              <a:rPr lang="en-US" sz="950" b="1" dirty="0">
                <a:solidFill>
                  <a:srgbClr val="E53935"/>
                </a:solidFill>
              </a:rPr>
              <a:t>r=−0.19 | Discount → Revenue</a:t>
            </a:r>
            <a:endParaRPr lang="en-US" sz="950" dirty="0"/>
          </a:p>
        </p:txBody>
      </p:sp>
      <p:sp>
        <p:nvSpPr>
          <p:cNvPr id="114" name="Text 112"/>
          <p:cNvSpPr/>
          <p:nvPr/>
        </p:nvSpPr>
        <p:spPr>
          <a:xfrm>
            <a:off x="4767903" y="4648346"/>
            <a:ext cx="1920240" cy="347472"/>
          </a:xfrm>
          <a:prstGeom prst="rect">
            <a:avLst/>
          </a:prstGeom>
          <a:noFill/>
          <a:ln/>
        </p:spPr>
        <p:txBody>
          <a:bodyPr wrap="square" lIns="0" tIns="0" rIns="0" bIns="0" rtlCol="0" anchor="ctr"/>
          <a:lstStyle/>
          <a:p>
            <a:pPr marL="0" indent="0">
              <a:buNone/>
            </a:pPr>
            <a:r>
              <a:rPr lang="en-US" sz="880" dirty="0">
                <a:solidFill>
                  <a:srgbClr val="1C2833"/>
                </a:solidFill>
              </a:rPr>
              <a:t>Slight negative — higher discounts reduce order revenue and profit.</a:t>
            </a:r>
            <a:endParaRPr lang="en-US" sz="880" dirty="0"/>
          </a:p>
        </p:txBody>
      </p:sp>
      <p:sp>
        <p:nvSpPr>
          <p:cNvPr id="115" name="Shape 113"/>
          <p:cNvSpPr/>
          <p:nvPr/>
        </p:nvSpPr>
        <p:spPr>
          <a:xfrm>
            <a:off x="6889311" y="4378314"/>
            <a:ext cx="2103120" cy="713232"/>
          </a:xfrm>
          <a:prstGeom prst="rect">
            <a:avLst/>
          </a:prstGeom>
          <a:solidFill>
            <a:srgbClr val="FFFFFF"/>
          </a:solidFill>
          <a:ln w="12700">
            <a:solidFill>
              <a:srgbClr val="CFD8DC"/>
            </a:solidFill>
            <a:prstDash val="solid"/>
          </a:ln>
          <a:effectLst>
            <a:outerShdw blurRad="88900" dist="38100" dir="8100000" algn="bl" rotWithShape="0">
              <a:srgbClr val="000000">
                <a:alpha val="13000"/>
              </a:srgbClr>
            </a:outerShdw>
          </a:effectLst>
        </p:spPr>
      </p:sp>
      <p:sp>
        <p:nvSpPr>
          <p:cNvPr id="116" name="Shape 114"/>
          <p:cNvSpPr/>
          <p:nvPr/>
        </p:nvSpPr>
        <p:spPr>
          <a:xfrm>
            <a:off x="6889311" y="4378314"/>
            <a:ext cx="2103120" cy="64008"/>
          </a:xfrm>
          <a:prstGeom prst="rect">
            <a:avLst/>
          </a:prstGeom>
          <a:solidFill>
            <a:srgbClr val="78909C"/>
          </a:solidFill>
          <a:ln w="12700">
            <a:solidFill>
              <a:srgbClr val="78909C"/>
            </a:solidFill>
            <a:prstDash val="solid"/>
          </a:ln>
        </p:spPr>
      </p:sp>
      <p:sp>
        <p:nvSpPr>
          <p:cNvPr id="117" name="Text 115"/>
          <p:cNvSpPr/>
          <p:nvPr/>
        </p:nvSpPr>
        <p:spPr>
          <a:xfrm>
            <a:off x="6980751" y="4451466"/>
            <a:ext cx="1920240" cy="237744"/>
          </a:xfrm>
          <a:prstGeom prst="rect">
            <a:avLst/>
          </a:prstGeom>
          <a:noFill/>
          <a:ln/>
        </p:spPr>
        <p:txBody>
          <a:bodyPr wrap="square" lIns="0" tIns="0" rIns="0" bIns="0" rtlCol="0" anchor="ctr"/>
          <a:lstStyle/>
          <a:p>
            <a:pPr marL="0" indent="0">
              <a:buNone/>
            </a:pPr>
            <a:r>
              <a:rPr lang="en-US" sz="950" b="1" dirty="0">
                <a:solidFill>
                  <a:srgbClr val="78909C"/>
                </a:solidFill>
              </a:rPr>
              <a:t>≈ 0 | Rating / Shipping</a:t>
            </a:r>
            <a:endParaRPr lang="en-US" sz="950" dirty="0"/>
          </a:p>
        </p:txBody>
      </p:sp>
      <p:sp>
        <p:nvSpPr>
          <p:cNvPr id="118" name="Text 116"/>
          <p:cNvSpPr/>
          <p:nvPr/>
        </p:nvSpPr>
        <p:spPr>
          <a:xfrm>
            <a:off x="6980751" y="4698354"/>
            <a:ext cx="1920240" cy="347472"/>
          </a:xfrm>
          <a:prstGeom prst="rect">
            <a:avLst/>
          </a:prstGeom>
          <a:noFill/>
          <a:ln/>
        </p:spPr>
        <p:txBody>
          <a:bodyPr wrap="square" lIns="0" tIns="0" rIns="0" bIns="0" rtlCol="0" anchor="ctr"/>
          <a:lstStyle/>
          <a:p>
            <a:pPr marL="0" indent="0">
              <a:buNone/>
            </a:pPr>
            <a:r>
              <a:rPr lang="en-US" sz="880" dirty="0">
                <a:solidFill>
                  <a:srgbClr val="1C2833"/>
                </a:solidFill>
              </a:rPr>
              <a:t>No meaningful correlation with revenue — satisfaction and shipping cost don't drive order value.</a:t>
            </a:r>
            <a:endParaRPr lang="en-US" sz="880" dirty="0"/>
          </a:p>
        </p:txBody>
      </p:sp>
      <p:sp>
        <p:nvSpPr>
          <p:cNvPr id="119" name="Text 18">
            <a:extLst>
              <a:ext uri="{FF2B5EF4-FFF2-40B4-BE49-F238E27FC236}">
                <a16:creationId xmlns:a16="http://schemas.microsoft.com/office/drawing/2014/main" id="{7E8A7515-8A69-2C3E-4ADB-207CF9E82635}"/>
              </a:ext>
            </a:extLst>
          </p:cNvPr>
          <p:cNvSpPr/>
          <p:nvPr/>
        </p:nvSpPr>
        <p:spPr>
          <a:xfrm>
            <a:off x="540603" y="996556"/>
            <a:ext cx="1216152" cy="274320"/>
          </a:xfrm>
          <a:prstGeom prst="rect">
            <a:avLst/>
          </a:prstGeom>
          <a:noFill/>
          <a:ln/>
        </p:spPr>
        <p:txBody>
          <a:bodyPr wrap="square" lIns="0" tIns="0" rIns="0" bIns="0" rtlCol="0" anchor="ctr"/>
          <a:lstStyle/>
          <a:p>
            <a:pPr marL="0" indent="0" algn="ctr">
              <a:buNone/>
            </a:pPr>
            <a:r>
              <a:rPr lang="en-US" sz="950" b="1" dirty="0">
                <a:solidFill>
                  <a:schemeClr val="tx1">
                    <a:lumMod val="95000"/>
                    <a:lumOff val="5000"/>
                  </a:schemeClr>
                </a:solidFill>
              </a:rPr>
              <a:t>Correlation</a:t>
            </a:r>
            <a:endParaRPr lang="en-US" sz="950" dirty="0">
              <a:solidFill>
                <a:schemeClr val="tx1">
                  <a:lumMod val="95000"/>
                  <a:lumOff val="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94360"/>
          </a:xfrm>
          <a:prstGeom prst="rect">
            <a:avLst/>
          </a:prstGeom>
          <a:noFill/>
          <a:ln/>
        </p:spPr>
        <p:txBody>
          <a:bodyPr wrap="square" lIns="0" tIns="0" rIns="0" bIns="0" rtlCol="0" anchor="ctr"/>
          <a:lstStyle/>
          <a:p>
            <a:pPr marL="0" indent="0">
              <a:buNone/>
            </a:pPr>
            <a:r>
              <a:rPr lang="en-US" sz="2800" b="1" dirty="0">
                <a:solidFill>
                  <a:srgbClr val="FFFFFF"/>
                </a:solidFill>
              </a:rPr>
              <a:t>Key Insights Summary</a:t>
            </a:r>
            <a:endParaRPr lang="en-US" sz="28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marL="0" indent="0">
              <a:buNone/>
            </a:pPr>
            <a:r>
              <a:rPr lang="en-US" sz="1300" dirty="0">
                <a:solidFill>
                  <a:srgbClr val="26A69A"/>
                </a:solidFill>
              </a:rPr>
              <a:t>What 60,000 orders reveal about this Shopify business</a:t>
            </a:r>
            <a:endParaRPr lang="en-US" sz="1300" dirty="0"/>
          </a:p>
        </p:txBody>
      </p:sp>
      <p:sp>
        <p:nvSpPr>
          <p:cNvPr id="4" name="Shape 2"/>
          <p:cNvSpPr/>
          <p:nvPr/>
        </p:nvSpPr>
        <p:spPr>
          <a:xfrm>
            <a:off x="320040" y="1115568"/>
            <a:ext cx="4160520" cy="841248"/>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5" name="Text 3"/>
          <p:cNvSpPr/>
          <p:nvPr/>
        </p:nvSpPr>
        <p:spPr>
          <a:xfrm>
            <a:off x="411480" y="1344168"/>
            <a:ext cx="411480" cy="411480"/>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6" name="Text 4"/>
          <p:cNvSpPr/>
          <p:nvPr/>
        </p:nvSpPr>
        <p:spPr>
          <a:xfrm>
            <a:off x="850392" y="1179576"/>
            <a:ext cx="3520440" cy="274320"/>
          </a:xfrm>
          <a:prstGeom prst="rect">
            <a:avLst/>
          </a:prstGeom>
          <a:noFill/>
          <a:ln/>
        </p:spPr>
        <p:txBody>
          <a:bodyPr wrap="square" lIns="0" tIns="0" rIns="0" bIns="0" rtlCol="0" anchor="ctr"/>
          <a:lstStyle/>
          <a:p>
            <a:pPr marL="0" indent="0">
              <a:buNone/>
            </a:pPr>
            <a:r>
              <a:rPr lang="en-US" sz="1100" b="1" dirty="0">
                <a:solidFill>
                  <a:srgbClr val="26A69A"/>
                </a:solidFill>
              </a:rPr>
              <a:t>01  Steady Growth</a:t>
            </a:r>
            <a:endParaRPr lang="en-US" sz="1100" dirty="0"/>
          </a:p>
        </p:txBody>
      </p:sp>
      <p:sp>
        <p:nvSpPr>
          <p:cNvPr id="7" name="Text 5"/>
          <p:cNvSpPr/>
          <p:nvPr/>
        </p:nvSpPr>
        <p:spPr>
          <a:xfrm>
            <a:off x="850392" y="1481328"/>
            <a:ext cx="3520440" cy="420624"/>
          </a:xfrm>
          <a:prstGeom prst="rect">
            <a:avLst/>
          </a:prstGeom>
          <a:noFill/>
          <a:ln/>
        </p:spPr>
        <p:txBody>
          <a:bodyPr wrap="square" lIns="0" tIns="0" rIns="0" bIns="0" rtlCol="0" anchor="ctr"/>
          <a:lstStyle/>
          <a:p>
            <a:pPr marL="0" indent="0">
              <a:buNone/>
            </a:pPr>
            <a:r>
              <a:rPr lang="en-US" sz="980" dirty="0">
                <a:solidFill>
                  <a:srgbClr val="CFD8DC"/>
                </a:solidFill>
              </a:rPr>
              <a:t>Revenue grew +0.46% YoY from 2023 to 2024 (₹2.41Cr → ₹2.42Cr); 2025 on pace to match.</a:t>
            </a:r>
            <a:endParaRPr lang="en-US" sz="980" dirty="0"/>
          </a:p>
        </p:txBody>
      </p:sp>
      <p:sp>
        <p:nvSpPr>
          <p:cNvPr id="8" name="Shape 6"/>
          <p:cNvSpPr/>
          <p:nvPr/>
        </p:nvSpPr>
        <p:spPr>
          <a:xfrm>
            <a:off x="4663440" y="1115568"/>
            <a:ext cx="4160520" cy="841248"/>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9" name="Text 7"/>
          <p:cNvSpPr/>
          <p:nvPr/>
        </p:nvSpPr>
        <p:spPr>
          <a:xfrm>
            <a:off x="4754880" y="1344168"/>
            <a:ext cx="411480" cy="411480"/>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10" name="Text 8"/>
          <p:cNvSpPr/>
          <p:nvPr/>
        </p:nvSpPr>
        <p:spPr>
          <a:xfrm>
            <a:off x="5193792" y="1179576"/>
            <a:ext cx="3520440" cy="274320"/>
          </a:xfrm>
          <a:prstGeom prst="rect">
            <a:avLst/>
          </a:prstGeom>
          <a:noFill/>
          <a:ln/>
        </p:spPr>
        <p:txBody>
          <a:bodyPr wrap="square" lIns="0" tIns="0" rIns="0" bIns="0" rtlCol="0" anchor="ctr"/>
          <a:lstStyle/>
          <a:p>
            <a:pPr marL="0" indent="0">
              <a:buNone/>
            </a:pPr>
            <a:r>
              <a:rPr lang="en-US" sz="1100" b="1" dirty="0">
                <a:solidFill>
                  <a:srgbClr val="26A69A"/>
                </a:solidFill>
              </a:rPr>
              <a:t>02  Electronics Dominates</a:t>
            </a:r>
            <a:endParaRPr lang="en-US" sz="1100" dirty="0"/>
          </a:p>
        </p:txBody>
      </p:sp>
      <p:sp>
        <p:nvSpPr>
          <p:cNvPr id="11" name="Text 9"/>
          <p:cNvSpPr/>
          <p:nvPr/>
        </p:nvSpPr>
        <p:spPr>
          <a:xfrm>
            <a:off x="5193792" y="1481328"/>
            <a:ext cx="3520440" cy="420624"/>
          </a:xfrm>
          <a:prstGeom prst="rect">
            <a:avLst/>
          </a:prstGeom>
          <a:noFill/>
          <a:ln/>
        </p:spPr>
        <p:txBody>
          <a:bodyPr wrap="square" lIns="0" tIns="0" rIns="0" bIns="0" rtlCol="0" anchor="ctr"/>
          <a:lstStyle/>
          <a:p>
            <a:pPr marL="0" indent="0">
              <a:buNone/>
            </a:pPr>
            <a:r>
              <a:rPr lang="en-US" sz="980" dirty="0">
                <a:solidFill>
                  <a:srgbClr val="CFD8DC"/>
                </a:solidFill>
              </a:rPr>
              <a:t>Highest revenue (₹87.2L) and highest margin (95.51%) — the star category.</a:t>
            </a:r>
            <a:endParaRPr lang="en-US" sz="980" dirty="0"/>
          </a:p>
        </p:txBody>
      </p:sp>
      <p:sp>
        <p:nvSpPr>
          <p:cNvPr id="12" name="Shape 10"/>
          <p:cNvSpPr/>
          <p:nvPr/>
        </p:nvSpPr>
        <p:spPr>
          <a:xfrm>
            <a:off x="320040" y="2075688"/>
            <a:ext cx="4160520" cy="841248"/>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13" name="Text 11"/>
          <p:cNvSpPr/>
          <p:nvPr/>
        </p:nvSpPr>
        <p:spPr>
          <a:xfrm>
            <a:off x="411480" y="2304288"/>
            <a:ext cx="411480" cy="411480"/>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14" name="Text 12"/>
          <p:cNvSpPr/>
          <p:nvPr/>
        </p:nvSpPr>
        <p:spPr>
          <a:xfrm>
            <a:off x="850392" y="2139696"/>
            <a:ext cx="3520440" cy="274320"/>
          </a:xfrm>
          <a:prstGeom prst="rect">
            <a:avLst/>
          </a:prstGeom>
          <a:noFill/>
          <a:ln/>
        </p:spPr>
        <p:txBody>
          <a:bodyPr wrap="square" lIns="0" tIns="0" rIns="0" bIns="0" rtlCol="0" anchor="ctr"/>
          <a:lstStyle/>
          <a:p>
            <a:pPr marL="0" indent="0">
              <a:buNone/>
            </a:pPr>
            <a:r>
              <a:rPr lang="en-US" sz="1100" b="1" dirty="0">
                <a:solidFill>
                  <a:srgbClr val="26A69A"/>
                </a:solidFill>
              </a:rPr>
              <a:t>03  Elite Profit Margins</a:t>
            </a:r>
            <a:endParaRPr lang="en-US" sz="1100" dirty="0"/>
          </a:p>
        </p:txBody>
      </p:sp>
      <p:sp>
        <p:nvSpPr>
          <p:cNvPr id="15" name="Text 13"/>
          <p:cNvSpPr/>
          <p:nvPr/>
        </p:nvSpPr>
        <p:spPr>
          <a:xfrm>
            <a:off x="850392" y="2441448"/>
            <a:ext cx="3520440" cy="420624"/>
          </a:xfrm>
          <a:prstGeom prst="rect">
            <a:avLst/>
          </a:prstGeom>
          <a:noFill/>
          <a:ln/>
        </p:spPr>
        <p:txBody>
          <a:bodyPr wrap="square" lIns="0" tIns="0" rIns="0" bIns="0" rtlCol="0" anchor="ctr"/>
          <a:lstStyle/>
          <a:p>
            <a:pPr marL="0" indent="0">
              <a:buNone/>
            </a:pPr>
            <a:r>
              <a:rPr lang="en-US" sz="980" dirty="0">
                <a:solidFill>
                  <a:srgbClr val="CFD8DC"/>
                </a:solidFill>
              </a:rPr>
              <a:t>All 7 categories maintain &gt;95% profit margin — signalling very low COGS.</a:t>
            </a:r>
            <a:endParaRPr lang="en-US" sz="980" dirty="0"/>
          </a:p>
        </p:txBody>
      </p:sp>
      <p:sp>
        <p:nvSpPr>
          <p:cNvPr id="16" name="Shape 14"/>
          <p:cNvSpPr/>
          <p:nvPr/>
        </p:nvSpPr>
        <p:spPr>
          <a:xfrm>
            <a:off x="4663440" y="2075688"/>
            <a:ext cx="4160520" cy="841248"/>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17" name="Text 15"/>
          <p:cNvSpPr/>
          <p:nvPr/>
        </p:nvSpPr>
        <p:spPr>
          <a:xfrm>
            <a:off x="4754880" y="2304288"/>
            <a:ext cx="411480" cy="411480"/>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18" name="Text 16"/>
          <p:cNvSpPr/>
          <p:nvPr/>
        </p:nvSpPr>
        <p:spPr>
          <a:xfrm>
            <a:off x="5193792" y="2139696"/>
            <a:ext cx="3520440" cy="274320"/>
          </a:xfrm>
          <a:prstGeom prst="rect">
            <a:avLst/>
          </a:prstGeom>
          <a:noFill/>
          <a:ln/>
        </p:spPr>
        <p:txBody>
          <a:bodyPr wrap="square" lIns="0" tIns="0" rIns="0" bIns="0" rtlCol="0" anchor="ctr"/>
          <a:lstStyle/>
          <a:p>
            <a:pPr marL="0" indent="0">
              <a:buNone/>
            </a:pPr>
            <a:r>
              <a:rPr lang="en-US" sz="1100" b="1" dirty="0">
                <a:solidFill>
                  <a:srgbClr val="26A69A"/>
                </a:solidFill>
              </a:rPr>
              <a:t>04  Seasonal Dip Q3/Q4</a:t>
            </a:r>
            <a:endParaRPr lang="en-US" sz="1100" dirty="0"/>
          </a:p>
        </p:txBody>
      </p:sp>
      <p:sp>
        <p:nvSpPr>
          <p:cNvPr id="19" name="Text 17"/>
          <p:cNvSpPr/>
          <p:nvPr/>
        </p:nvSpPr>
        <p:spPr>
          <a:xfrm>
            <a:off x="5193792" y="2441448"/>
            <a:ext cx="3520440" cy="420624"/>
          </a:xfrm>
          <a:prstGeom prst="rect">
            <a:avLst/>
          </a:prstGeom>
          <a:noFill/>
          <a:ln/>
        </p:spPr>
        <p:txBody>
          <a:bodyPr wrap="square" lIns="0" tIns="0" rIns="0" bIns="0" rtlCol="0" anchor="ctr"/>
          <a:lstStyle/>
          <a:p>
            <a:pPr marL="0" indent="0">
              <a:buNone/>
            </a:pPr>
            <a:r>
              <a:rPr lang="en-US" sz="980" dirty="0">
                <a:solidFill>
                  <a:srgbClr val="CFD8DC"/>
                </a:solidFill>
              </a:rPr>
              <a:t>Q1 (₹1.79Cr) and Q2 (₹1.75Cr) outperform Q3 (₹1.22Cr) and Q4 (₹1.20Cr) significantly.</a:t>
            </a:r>
            <a:endParaRPr lang="en-US" sz="980" dirty="0"/>
          </a:p>
        </p:txBody>
      </p:sp>
      <p:sp>
        <p:nvSpPr>
          <p:cNvPr id="20" name="Shape 18"/>
          <p:cNvSpPr/>
          <p:nvPr/>
        </p:nvSpPr>
        <p:spPr>
          <a:xfrm>
            <a:off x="320040" y="3035808"/>
            <a:ext cx="4160520" cy="841248"/>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21" name="Text 19"/>
          <p:cNvSpPr/>
          <p:nvPr/>
        </p:nvSpPr>
        <p:spPr>
          <a:xfrm>
            <a:off x="411480" y="3264408"/>
            <a:ext cx="411480" cy="411480"/>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22" name="Text 20"/>
          <p:cNvSpPr/>
          <p:nvPr/>
        </p:nvSpPr>
        <p:spPr>
          <a:xfrm>
            <a:off x="850392" y="3099816"/>
            <a:ext cx="3520440" cy="274320"/>
          </a:xfrm>
          <a:prstGeom prst="rect">
            <a:avLst/>
          </a:prstGeom>
          <a:noFill/>
          <a:ln/>
        </p:spPr>
        <p:txBody>
          <a:bodyPr wrap="square" lIns="0" tIns="0" rIns="0" bIns="0" rtlCol="0" anchor="ctr"/>
          <a:lstStyle/>
          <a:p>
            <a:pPr marL="0" indent="0">
              <a:buNone/>
            </a:pPr>
            <a:r>
              <a:rPr lang="en-US" sz="1100" b="1" dirty="0">
                <a:solidFill>
                  <a:srgbClr val="26A69A"/>
                </a:solidFill>
              </a:rPr>
              <a:t>05  Discount Mildly Hurts</a:t>
            </a:r>
            <a:endParaRPr lang="en-US" sz="1100" dirty="0"/>
          </a:p>
        </p:txBody>
      </p:sp>
      <p:sp>
        <p:nvSpPr>
          <p:cNvPr id="23" name="Text 21"/>
          <p:cNvSpPr/>
          <p:nvPr/>
        </p:nvSpPr>
        <p:spPr>
          <a:xfrm>
            <a:off x="850392" y="3401568"/>
            <a:ext cx="3520440" cy="420624"/>
          </a:xfrm>
          <a:prstGeom prst="rect">
            <a:avLst/>
          </a:prstGeom>
          <a:noFill/>
          <a:ln/>
        </p:spPr>
        <p:txBody>
          <a:bodyPr wrap="square" lIns="0" tIns="0" rIns="0" bIns="0" rtlCol="0" anchor="ctr"/>
          <a:lstStyle/>
          <a:p>
            <a:pPr marL="0" indent="0">
              <a:buNone/>
            </a:pPr>
            <a:r>
              <a:rPr lang="en-US" sz="980" dirty="0">
                <a:solidFill>
                  <a:srgbClr val="CFD8DC"/>
                </a:solidFill>
              </a:rPr>
              <a:t>r=−0.19 between discount% and revenue; quantity (r=0.58) is a far stronger revenue driver.</a:t>
            </a:r>
            <a:endParaRPr lang="en-US" sz="980" dirty="0"/>
          </a:p>
        </p:txBody>
      </p:sp>
      <p:sp>
        <p:nvSpPr>
          <p:cNvPr id="24" name="Shape 22"/>
          <p:cNvSpPr/>
          <p:nvPr/>
        </p:nvSpPr>
        <p:spPr>
          <a:xfrm>
            <a:off x="4663440" y="3035808"/>
            <a:ext cx="4160520" cy="841248"/>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25" name="Text 23"/>
          <p:cNvSpPr/>
          <p:nvPr/>
        </p:nvSpPr>
        <p:spPr>
          <a:xfrm>
            <a:off x="4754880" y="3264408"/>
            <a:ext cx="411480" cy="411480"/>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26" name="Text 24"/>
          <p:cNvSpPr/>
          <p:nvPr/>
        </p:nvSpPr>
        <p:spPr>
          <a:xfrm>
            <a:off x="5193792" y="3099816"/>
            <a:ext cx="3520440" cy="274320"/>
          </a:xfrm>
          <a:prstGeom prst="rect">
            <a:avLst/>
          </a:prstGeom>
          <a:noFill/>
          <a:ln/>
        </p:spPr>
        <p:txBody>
          <a:bodyPr wrap="square" lIns="0" tIns="0" rIns="0" bIns="0" rtlCol="0" anchor="ctr"/>
          <a:lstStyle/>
          <a:p>
            <a:pPr marL="0" indent="0">
              <a:buNone/>
            </a:pPr>
            <a:r>
              <a:rPr lang="en-US" sz="1100" b="1" dirty="0">
                <a:solidFill>
                  <a:srgbClr val="26A69A"/>
                </a:solidFill>
              </a:rPr>
              <a:t>06  High Return Rate</a:t>
            </a:r>
            <a:endParaRPr lang="en-US" sz="1100" dirty="0"/>
          </a:p>
        </p:txBody>
      </p:sp>
      <p:sp>
        <p:nvSpPr>
          <p:cNvPr id="27" name="Text 25"/>
          <p:cNvSpPr/>
          <p:nvPr/>
        </p:nvSpPr>
        <p:spPr>
          <a:xfrm>
            <a:off x="5193792" y="3401568"/>
            <a:ext cx="3520440" cy="420624"/>
          </a:xfrm>
          <a:prstGeom prst="rect">
            <a:avLst/>
          </a:prstGeom>
          <a:noFill/>
          <a:ln/>
        </p:spPr>
        <p:txBody>
          <a:bodyPr wrap="square" lIns="0" tIns="0" rIns="0" bIns="0" rtlCol="0" anchor="ctr"/>
          <a:lstStyle/>
          <a:p>
            <a:pPr marL="0" indent="0">
              <a:buNone/>
            </a:pPr>
            <a:r>
              <a:rPr lang="en-US" sz="980" dirty="0">
                <a:solidFill>
                  <a:srgbClr val="CFD8DC"/>
                </a:solidFill>
              </a:rPr>
              <a:t>14.81% returns exceed 8–12% industry norm. Sports &amp; Fashion worst categories; Germany worst country.</a:t>
            </a:r>
            <a:endParaRPr lang="en-US" sz="980" dirty="0"/>
          </a:p>
        </p:txBody>
      </p:sp>
      <p:sp>
        <p:nvSpPr>
          <p:cNvPr id="28" name="Shape 26"/>
          <p:cNvSpPr/>
          <p:nvPr/>
        </p:nvSpPr>
        <p:spPr>
          <a:xfrm>
            <a:off x="320040" y="3995928"/>
            <a:ext cx="4160520" cy="841248"/>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29" name="Text 27"/>
          <p:cNvSpPr/>
          <p:nvPr/>
        </p:nvSpPr>
        <p:spPr>
          <a:xfrm>
            <a:off x="411480" y="4224528"/>
            <a:ext cx="411480" cy="411480"/>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30" name="Text 28"/>
          <p:cNvSpPr/>
          <p:nvPr/>
        </p:nvSpPr>
        <p:spPr>
          <a:xfrm>
            <a:off x="850392" y="4059936"/>
            <a:ext cx="3520440" cy="274320"/>
          </a:xfrm>
          <a:prstGeom prst="rect">
            <a:avLst/>
          </a:prstGeom>
          <a:noFill/>
          <a:ln/>
        </p:spPr>
        <p:txBody>
          <a:bodyPr wrap="square" lIns="0" tIns="0" rIns="0" bIns="0" rtlCol="0" anchor="ctr"/>
          <a:lstStyle/>
          <a:p>
            <a:pPr marL="0" indent="0">
              <a:buNone/>
            </a:pPr>
            <a:r>
              <a:rPr lang="en-US" sz="1100" b="1" dirty="0">
                <a:solidFill>
                  <a:srgbClr val="26A69A"/>
                </a:solidFill>
              </a:rPr>
              <a:t>07  Channels Nearly Equal</a:t>
            </a:r>
            <a:endParaRPr lang="en-US" sz="1100" dirty="0"/>
          </a:p>
        </p:txBody>
      </p:sp>
      <p:sp>
        <p:nvSpPr>
          <p:cNvPr id="31" name="Text 29"/>
          <p:cNvSpPr/>
          <p:nvPr/>
        </p:nvSpPr>
        <p:spPr>
          <a:xfrm>
            <a:off x="850392" y="4361688"/>
            <a:ext cx="3520440" cy="420624"/>
          </a:xfrm>
          <a:prstGeom prst="rect">
            <a:avLst/>
          </a:prstGeom>
          <a:noFill/>
          <a:ln/>
        </p:spPr>
        <p:txBody>
          <a:bodyPr wrap="square" lIns="0" tIns="0" rIns="0" bIns="0" rtlCol="0" anchor="ctr"/>
          <a:lstStyle/>
          <a:p>
            <a:pPr marL="0" indent="0">
              <a:buNone/>
            </a:pPr>
            <a:r>
              <a:rPr lang="en-US" sz="980" dirty="0">
                <a:solidFill>
                  <a:srgbClr val="CFD8DC"/>
                </a:solidFill>
              </a:rPr>
              <a:t>Social Media tops at ₹1.20Cr but all 5 channels are within ₹2L of each other.</a:t>
            </a:r>
            <a:endParaRPr lang="en-US" sz="980" dirty="0"/>
          </a:p>
        </p:txBody>
      </p:sp>
      <p:sp>
        <p:nvSpPr>
          <p:cNvPr id="32" name="Shape 30"/>
          <p:cNvSpPr/>
          <p:nvPr/>
        </p:nvSpPr>
        <p:spPr>
          <a:xfrm>
            <a:off x="4663440" y="3995928"/>
            <a:ext cx="4160520" cy="841248"/>
          </a:xfrm>
          <a:prstGeom prst="rect">
            <a:avLst/>
          </a:prstGeom>
          <a:solidFill>
            <a:srgbClr val="1B2A3B"/>
          </a:solidFill>
          <a:ln w="12700">
            <a:solidFill>
              <a:srgbClr val="00897B"/>
            </a:solidFill>
            <a:prstDash val="solid"/>
          </a:ln>
          <a:effectLst>
            <a:outerShdw blurRad="88900" dist="38100" dir="8100000" algn="bl" rotWithShape="0">
              <a:srgbClr val="000000">
                <a:alpha val="13000"/>
              </a:srgbClr>
            </a:outerShdw>
          </a:effectLst>
        </p:spPr>
      </p:sp>
      <p:sp>
        <p:nvSpPr>
          <p:cNvPr id="33" name="Text 31"/>
          <p:cNvSpPr/>
          <p:nvPr/>
        </p:nvSpPr>
        <p:spPr>
          <a:xfrm>
            <a:off x="4754880" y="4224528"/>
            <a:ext cx="411480" cy="411480"/>
          </a:xfrm>
          <a:prstGeom prst="rect">
            <a:avLst/>
          </a:prstGeom>
          <a:noFill/>
          <a:ln/>
        </p:spPr>
        <p:txBody>
          <a:bodyPr wrap="square" lIns="0" tIns="0" rIns="0" bIns="0" rtlCol="0" anchor="ctr"/>
          <a:lstStyle/>
          <a:p>
            <a:pPr marL="0" indent="0">
              <a:buNone/>
            </a:pPr>
            <a:r>
              <a:rPr lang="en-US" sz="1700" dirty="0">
                <a:solidFill>
                  <a:srgbClr val="000000"/>
                </a:solidFill>
              </a:rPr>
              <a:t>🌏</a:t>
            </a:r>
            <a:endParaRPr lang="en-US" sz="1700" dirty="0"/>
          </a:p>
        </p:txBody>
      </p:sp>
      <p:sp>
        <p:nvSpPr>
          <p:cNvPr id="34" name="Text 32"/>
          <p:cNvSpPr/>
          <p:nvPr/>
        </p:nvSpPr>
        <p:spPr>
          <a:xfrm>
            <a:off x="5193792" y="4059936"/>
            <a:ext cx="3520440" cy="274320"/>
          </a:xfrm>
          <a:prstGeom prst="rect">
            <a:avLst/>
          </a:prstGeom>
          <a:noFill/>
          <a:ln/>
        </p:spPr>
        <p:txBody>
          <a:bodyPr wrap="square" lIns="0" tIns="0" rIns="0" bIns="0" rtlCol="0" anchor="ctr"/>
          <a:lstStyle/>
          <a:p>
            <a:pPr marL="0" indent="0">
              <a:buNone/>
            </a:pPr>
            <a:r>
              <a:rPr lang="en-US" sz="1100" b="1" dirty="0">
                <a:solidFill>
                  <a:srgbClr val="26A69A"/>
                </a:solidFill>
              </a:rPr>
              <a:t>08  Australia Leads</a:t>
            </a:r>
            <a:endParaRPr lang="en-US" sz="1100" dirty="0"/>
          </a:p>
        </p:txBody>
      </p:sp>
      <p:sp>
        <p:nvSpPr>
          <p:cNvPr id="35" name="Text 33"/>
          <p:cNvSpPr/>
          <p:nvPr/>
        </p:nvSpPr>
        <p:spPr>
          <a:xfrm>
            <a:off x="5193792" y="4361688"/>
            <a:ext cx="3520440" cy="420624"/>
          </a:xfrm>
          <a:prstGeom prst="rect">
            <a:avLst/>
          </a:prstGeom>
          <a:noFill/>
          <a:ln/>
        </p:spPr>
        <p:txBody>
          <a:bodyPr wrap="square" lIns="0" tIns="0" rIns="0" bIns="0" rtlCol="0" anchor="ctr"/>
          <a:lstStyle/>
          <a:p>
            <a:pPr marL="0" indent="0">
              <a:buNone/>
            </a:pPr>
            <a:r>
              <a:rPr lang="en-US" sz="980" dirty="0">
                <a:solidFill>
                  <a:srgbClr val="CFD8DC"/>
                </a:solidFill>
              </a:rPr>
              <a:t>Top country by revenue (₹87.0L) and orders (8,714); India has highest customer satisfaction (3.04★).</a:t>
            </a:r>
            <a:endParaRPr lang="en-US" sz="98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1B2A"/>
          </a:solidFill>
          <a:ln w="12700">
            <a:solidFill>
              <a:srgbClr val="0D1B2A"/>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11480" y="118872"/>
            <a:ext cx="8321040" cy="530352"/>
          </a:xfrm>
          <a:prstGeom prst="rect">
            <a:avLst/>
          </a:prstGeom>
          <a:noFill/>
          <a:ln/>
        </p:spPr>
        <p:txBody>
          <a:bodyPr wrap="square" lIns="0" tIns="0" rIns="0" bIns="0" rtlCol="0" anchor="ctr"/>
          <a:lstStyle/>
          <a:p>
            <a:pPr marL="0" indent="0">
              <a:buNone/>
            </a:pPr>
            <a:r>
              <a:rPr lang="en-US" sz="2100" b="1" dirty="0">
                <a:solidFill>
                  <a:srgbClr val="FFFFFF"/>
                </a:solidFill>
              </a:rPr>
              <a:t>09  Strategic Recommendations</a:t>
            </a:r>
            <a:endParaRPr lang="en-US" sz="2100" dirty="0"/>
          </a:p>
        </p:txBody>
      </p:sp>
      <p:sp>
        <p:nvSpPr>
          <p:cNvPr id="5" name="Text 3"/>
          <p:cNvSpPr/>
          <p:nvPr/>
        </p:nvSpPr>
        <p:spPr>
          <a:xfrm>
            <a:off x="411480" y="658368"/>
            <a:ext cx="8321040" cy="274320"/>
          </a:xfrm>
          <a:prstGeom prst="rect">
            <a:avLst/>
          </a:prstGeom>
          <a:noFill/>
          <a:ln/>
        </p:spPr>
        <p:txBody>
          <a:bodyPr wrap="square" lIns="0" tIns="0" rIns="0" bIns="0" rtlCol="0" anchor="ctr"/>
          <a:lstStyle/>
          <a:p>
            <a:pPr marL="0" indent="0">
              <a:buNone/>
            </a:pPr>
            <a:r>
              <a:rPr lang="en-US" sz="1100" dirty="0">
                <a:solidFill>
                  <a:srgbClr val="26A69A"/>
                </a:solidFill>
              </a:rPr>
              <a:t>Action plan to grow revenue, margins and customer satisfaction</a:t>
            </a:r>
            <a:endParaRPr lang="en-US" sz="1100" dirty="0"/>
          </a:p>
        </p:txBody>
      </p:sp>
      <p:sp>
        <p:nvSpPr>
          <p:cNvPr id="48" name="Shape 2">
            <a:extLst>
              <a:ext uri="{FF2B5EF4-FFF2-40B4-BE49-F238E27FC236}">
                <a16:creationId xmlns:a16="http://schemas.microsoft.com/office/drawing/2014/main" id="{0DEAB142-33B9-5662-B5C7-1D891D11A57E}"/>
              </a:ext>
            </a:extLst>
          </p:cNvPr>
          <p:cNvSpPr/>
          <p:nvPr/>
        </p:nvSpPr>
        <p:spPr>
          <a:xfrm>
            <a:off x="129396" y="1097280"/>
            <a:ext cx="4251524" cy="127115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49" name="Shape 3">
            <a:extLst>
              <a:ext uri="{FF2B5EF4-FFF2-40B4-BE49-F238E27FC236}">
                <a16:creationId xmlns:a16="http://schemas.microsoft.com/office/drawing/2014/main" id="{64DC66AE-3319-3C59-AA7E-70C2EACC12C1}"/>
              </a:ext>
            </a:extLst>
          </p:cNvPr>
          <p:cNvSpPr/>
          <p:nvPr/>
        </p:nvSpPr>
        <p:spPr>
          <a:xfrm>
            <a:off x="129396" y="1097280"/>
            <a:ext cx="477699" cy="1271158"/>
          </a:xfrm>
          <a:prstGeom prst="rect">
            <a:avLst/>
          </a:prstGeom>
          <a:solidFill>
            <a:srgbClr val="0D9488"/>
          </a:solidFill>
          <a:ln w="12700">
            <a:solidFill>
              <a:srgbClr val="0D9488"/>
            </a:solidFill>
            <a:prstDash val="solid"/>
          </a:ln>
        </p:spPr>
      </p:sp>
      <p:sp>
        <p:nvSpPr>
          <p:cNvPr id="50" name="Text 4">
            <a:extLst>
              <a:ext uri="{FF2B5EF4-FFF2-40B4-BE49-F238E27FC236}">
                <a16:creationId xmlns:a16="http://schemas.microsoft.com/office/drawing/2014/main" id="{F50B7C6F-D7B6-C68C-71E1-F2B1B5DCCE60}"/>
              </a:ext>
            </a:extLst>
          </p:cNvPr>
          <p:cNvSpPr/>
          <p:nvPr/>
        </p:nvSpPr>
        <p:spPr>
          <a:xfrm>
            <a:off x="148504" y="1562774"/>
            <a:ext cx="439483" cy="340169"/>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R1</a:t>
            </a:r>
            <a:endParaRPr lang="en-US" sz="1100" dirty="0"/>
          </a:p>
        </p:txBody>
      </p:sp>
      <p:sp>
        <p:nvSpPr>
          <p:cNvPr id="51" name="Text 5">
            <a:extLst>
              <a:ext uri="{FF2B5EF4-FFF2-40B4-BE49-F238E27FC236}">
                <a16:creationId xmlns:a16="http://schemas.microsoft.com/office/drawing/2014/main" id="{3DA034C1-CEAB-55A9-FCFA-D73540414086}"/>
              </a:ext>
            </a:extLst>
          </p:cNvPr>
          <p:cNvSpPr/>
          <p:nvPr/>
        </p:nvSpPr>
        <p:spPr>
          <a:xfrm>
            <a:off x="683527" y="1150991"/>
            <a:ext cx="3534975" cy="340169"/>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Implement </a:t>
            </a:r>
            <a:r>
              <a:rPr lang="en-IN" sz="1100" b="1" dirty="0">
                <a:solidFill>
                  <a:srgbClr val="1E293B"/>
                </a:solidFill>
                <a:latin typeface="Calibri" pitchFamily="34" charset="0"/>
                <a:cs typeface="Calibri" pitchFamily="34" charset="-120"/>
              </a:rPr>
              <a:t>Layered</a:t>
            </a:r>
            <a:r>
              <a:rPr lang="en-US" sz="1100" b="1" dirty="0">
                <a:solidFill>
                  <a:srgbClr val="1E293B"/>
                </a:solidFill>
                <a:latin typeface="Calibri" pitchFamily="34" charset="0"/>
                <a:ea typeface="Calibri" pitchFamily="34" charset="-122"/>
                <a:cs typeface="Calibri" pitchFamily="34" charset="-120"/>
              </a:rPr>
              <a:t> Discount Strategy</a:t>
            </a:r>
            <a:endParaRPr lang="en-US" sz="1100" dirty="0"/>
          </a:p>
        </p:txBody>
      </p:sp>
      <p:sp>
        <p:nvSpPr>
          <p:cNvPr id="52" name="Shape 6">
            <a:extLst>
              <a:ext uri="{FF2B5EF4-FFF2-40B4-BE49-F238E27FC236}">
                <a16:creationId xmlns:a16="http://schemas.microsoft.com/office/drawing/2014/main" id="{AA498C41-B5D8-F7B9-0542-5DB5DE2F62D6}"/>
              </a:ext>
            </a:extLst>
          </p:cNvPr>
          <p:cNvSpPr/>
          <p:nvPr/>
        </p:nvSpPr>
        <p:spPr>
          <a:xfrm>
            <a:off x="3454184" y="1150991"/>
            <a:ext cx="764319" cy="232747"/>
          </a:xfrm>
          <a:prstGeom prst="rect">
            <a:avLst/>
          </a:prstGeom>
          <a:solidFill>
            <a:srgbClr val="EF4444"/>
          </a:solidFill>
          <a:ln w="12700">
            <a:solidFill>
              <a:srgbClr val="EF4444"/>
            </a:solidFill>
            <a:prstDash val="solid"/>
          </a:ln>
        </p:spPr>
      </p:sp>
      <p:sp>
        <p:nvSpPr>
          <p:cNvPr id="53" name="Text 7">
            <a:extLst>
              <a:ext uri="{FF2B5EF4-FFF2-40B4-BE49-F238E27FC236}">
                <a16:creationId xmlns:a16="http://schemas.microsoft.com/office/drawing/2014/main" id="{DD91D6A8-1054-8943-F544-E8AEE6DCA964}"/>
              </a:ext>
            </a:extLst>
          </p:cNvPr>
          <p:cNvSpPr/>
          <p:nvPr/>
        </p:nvSpPr>
        <p:spPr>
          <a:xfrm>
            <a:off x="3454184" y="1150991"/>
            <a:ext cx="764319" cy="232747"/>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54" name="Text 8">
            <a:extLst>
              <a:ext uri="{FF2B5EF4-FFF2-40B4-BE49-F238E27FC236}">
                <a16:creationId xmlns:a16="http://schemas.microsoft.com/office/drawing/2014/main" id="{D26B8CF1-67B7-0960-2C7C-7C702B39F4EC}"/>
              </a:ext>
            </a:extLst>
          </p:cNvPr>
          <p:cNvSpPr/>
          <p:nvPr/>
        </p:nvSpPr>
        <p:spPr>
          <a:xfrm>
            <a:off x="683527" y="1500112"/>
            <a:ext cx="3630515" cy="805663"/>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Replace uniform ~18% discounts with category-specific rates. Increase discounts on slow-moving Footwear; reduce for high-margin Electronics to protect profitability.</a:t>
            </a:r>
            <a:endParaRPr lang="en-US" sz="950" dirty="0"/>
          </a:p>
        </p:txBody>
      </p:sp>
      <p:sp>
        <p:nvSpPr>
          <p:cNvPr id="55" name="Shape 9">
            <a:extLst>
              <a:ext uri="{FF2B5EF4-FFF2-40B4-BE49-F238E27FC236}">
                <a16:creationId xmlns:a16="http://schemas.microsoft.com/office/drawing/2014/main" id="{C4AF7E73-E3CA-3688-4C5C-D6BB793528FC}"/>
              </a:ext>
            </a:extLst>
          </p:cNvPr>
          <p:cNvSpPr/>
          <p:nvPr/>
        </p:nvSpPr>
        <p:spPr>
          <a:xfrm>
            <a:off x="4763080" y="1097280"/>
            <a:ext cx="4251524" cy="127115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56" name="Shape 10">
            <a:extLst>
              <a:ext uri="{FF2B5EF4-FFF2-40B4-BE49-F238E27FC236}">
                <a16:creationId xmlns:a16="http://schemas.microsoft.com/office/drawing/2014/main" id="{DA066EB8-C92B-857F-529A-DE6460ED330F}"/>
              </a:ext>
            </a:extLst>
          </p:cNvPr>
          <p:cNvSpPr/>
          <p:nvPr/>
        </p:nvSpPr>
        <p:spPr>
          <a:xfrm>
            <a:off x="4763080" y="1097280"/>
            <a:ext cx="477699" cy="1271158"/>
          </a:xfrm>
          <a:prstGeom prst="rect">
            <a:avLst/>
          </a:prstGeom>
          <a:solidFill>
            <a:srgbClr val="EF4444"/>
          </a:solidFill>
          <a:ln w="12700">
            <a:solidFill>
              <a:srgbClr val="EF4444"/>
            </a:solidFill>
            <a:prstDash val="solid"/>
          </a:ln>
        </p:spPr>
      </p:sp>
      <p:sp>
        <p:nvSpPr>
          <p:cNvPr id="57" name="Text 11">
            <a:extLst>
              <a:ext uri="{FF2B5EF4-FFF2-40B4-BE49-F238E27FC236}">
                <a16:creationId xmlns:a16="http://schemas.microsoft.com/office/drawing/2014/main" id="{7E94F6E5-2ADE-2C52-7678-32A89D7E81C3}"/>
              </a:ext>
            </a:extLst>
          </p:cNvPr>
          <p:cNvSpPr/>
          <p:nvPr/>
        </p:nvSpPr>
        <p:spPr>
          <a:xfrm>
            <a:off x="4782188" y="1562774"/>
            <a:ext cx="439483" cy="340169"/>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R2</a:t>
            </a:r>
            <a:endParaRPr lang="en-US" sz="1100" dirty="0"/>
          </a:p>
        </p:txBody>
      </p:sp>
      <p:sp>
        <p:nvSpPr>
          <p:cNvPr id="58" name="Text 12">
            <a:extLst>
              <a:ext uri="{FF2B5EF4-FFF2-40B4-BE49-F238E27FC236}">
                <a16:creationId xmlns:a16="http://schemas.microsoft.com/office/drawing/2014/main" id="{AE4D4CBB-1807-D463-FE4C-BACC1C594FC8}"/>
              </a:ext>
            </a:extLst>
          </p:cNvPr>
          <p:cNvSpPr/>
          <p:nvPr/>
        </p:nvSpPr>
        <p:spPr>
          <a:xfrm>
            <a:off x="5317211" y="1150991"/>
            <a:ext cx="3534975" cy="340169"/>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Reduce Return Rates (Sports &amp; Fashion)</a:t>
            </a:r>
            <a:endParaRPr lang="en-US" sz="1100" dirty="0"/>
          </a:p>
        </p:txBody>
      </p:sp>
      <p:sp>
        <p:nvSpPr>
          <p:cNvPr id="59" name="Shape 13">
            <a:extLst>
              <a:ext uri="{FF2B5EF4-FFF2-40B4-BE49-F238E27FC236}">
                <a16:creationId xmlns:a16="http://schemas.microsoft.com/office/drawing/2014/main" id="{16781534-DE68-A0D6-3303-DFF0EF91EEF4}"/>
              </a:ext>
            </a:extLst>
          </p:cNvPr>
          <p:cNvSpPr/>
          <p:nvPr/>
        </p:nvSpPr>
        <p:spPr>
          <a:xfrm>
            <a:off x="8087867" y="1150991"/>
            <a:ext cx="764319" cy="232747"/>
          </a:xfrm>
          <a:prstGeom prst="rect">
            <a:avLst/>
          </a:prstGeom>
          <a:solidFill>
            <a:srgbClr val="EF4444"/>
          </a:solidFill>
          <a:ln w="12700">
            <a:solidFill>
              <a:srgbClr val="EF4444"/>
            </a:solidFill>
            <a:prstDash val="solid"/>
          </a:ln>
        </p:spPr>
      </p:sp>
      <p:sp>
        <p:nvSpPr>
          <p:cNvPr id="60" name="Text 14">
            <a:extLst>
              <a:ext uri="{FF2B5EF4-FFF2-40B4-BE49-F238E27FC236}">
                <a16:creationId xmlns:a16="http://schemas.microsoft.com/office/drawing/2014/main" id="{B5893875-3F86-B2B7-7637-1FEF165FB08F}"/>
              </a:ext>
            </a:extLst>
          </p:cNvPr>
          <p:cNvSpPr/>
          <p:nvPr/>
        </p:nvSpPr>
        <p:spPr>
          <a:xfrm>
            <a:off x="8087867" y="1150991"/>
            <a:ext cx="764319" cy="232747"/>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61" name="Text 15">
            <a:extLst>
              <a:ext uri="{FF2B5EF4-FFF2-40B4-BE49-F238E27FC236}">
                <a16:creationId xmlns:a16="http://schemas.microsoft.com/office/drawing/2014/main" id="{983133DC-5C77-A189-5096-C8425B941FD8}"/>
              </a:ext>
            </a:extLst>
          </p:cNvPr>
          <p:cNvSpPr/>
          <p:nvPr/>
        </p:nvSpPr>
        <p:spPr>
          <a:xfrm>
            <a:off x="5317211" y="1500112"/>
            <a:ext cx="3630515" cy="805663"/>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Improve size guides, product descriptions, and reviews for Fashion &amp; Sports categories which show 1,292–1,297 returns. Better pre-purchase information = fewer returns.</a:t>
            </a:r>
            <a:endParaRPr lang="en-US" sz="950" dirty="0"/>
          </a:p>
        </p:txBody>
      </p:sp>
      <p:sp>
        <p:nvSpPr>
          <p:cNvPr id="62" name="Shape 16">
            <a:extLst>
              <a:ext uri="{FF2B5EF4-FFF2-40B4-BE49-F238E27FC236}">
                <a16:creationId xmlns:a16="http://schemas.microsoft.com/office/drawing/2014/main" id="{BC417674-2265-48CF-1CF3-7B71949821F6}"/>
              </a:ext>
            </a:extLst>
          </p:cNvPr>
          <p:cNvSpPr/>
          <p:nvPr/>
        </p:nvSpPr>
        <p:spPr>
          <a:xfrm>
            <a:off x="129396" y="2484811"/>
            <a:ext cx="4251524" cy="127115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63" name="Shape 17">
            <a:extLst>
              <a:ext uri="{FF2B5EF4-FFF2-40B4-BE49-F238E27FC236}">
                <a16:creationId xmlns:a16="http://schemas.microsoft.com/office/drawing/2014/main" id="{0CB07F78-A475-E04A-D10D-E61725430C24}"/>
              </a:ext>
            </a:extLst>
          </p:cNvPr>
          <p:cNvSpPr/>
          <p:nvPr/>
        </p:nvSpPr>
        <p:spPr>
          <a:xfrm>
            <a:off x="129396" y="2484811"/>
            <a:ext cx="477699" cy="1271158"/>
          </a:xfrm>
          <a:prstGeom prst="rect">
            <a:avLst/>
          </a:prstGeom>
          <a:solidFill>
            <a:srgbClr val="3B82F6"/>
          </a:solidFill>
          <a:ln w="12700">
            <a:solidFill>
              <a:srgbClr val="3B82F6"/>
            </a:solidFill>
            <a:prstDash val="solid"/>
          </a:ln>
        </p:spPr>
      </p:sp>
      <p:sp>
        <p:nvSpPr>
          <p:cNvPr id="64" name="Text 18">
            <a:extLst>
              <a:ext uri="{FF2B5EF4-FFF2-40B4-BE49-F238E27FC236}">
                <a16:creationId xmlns:a16="http://schemas.microsoft.com/office/drawing/2014/main" id="{D4508B06-1CBC-B3EF-7549-58A8F36DA64C}"/>
              </a:ext>
            </a:extLst>
          </p:cNvPr>
          <p:cNvSpPr/>
          <p:nvPr/>
        </p:nvSpPr>
        <p:spPr>
          <a:xfrm>
            <a:off x="148504" y="2950306"/>
            <a:ext cx="439483" cy="340169"/>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R3</a:t>
            </a:r>
            <a:endParaRPr lang="en-US" sz="1100" dirty="0"/>
          </a:p>
        </p:txBody>
      </p:sp>
      <p:sp>
        <p:nvSpPr>
          <p:cNvPr id="69" name="Shape 23">
            <a:extLst>
              <a:ext uri="{FF2B5EF4-FFF2-40B4-BE49-F238E27FC236}">
                <a16:creationId xmlns:a16="http://schemas.microsoft.com/office/drawing/2014/main" id="{79B08751-5BC6-C217-E217-6DB757935EDD}"/>
              </a:ext>
            </a:extLst>
          </p:cNvPr>
          <p:cNvSpPr/>
          <p:nvPr/>
        </p:nvSpPr>
        <p:spPr>
          <a:xfrm>
            <a:off x="4763080" y="2484811"/>
            <a:ext cx="4251524" cy="127115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70" name="Shape 24">
            <a:extLst>
              <a:ext uri="{FF2B5EF4-FFF2-40B4-BE49-F238E27FC236}">
                <a16:creationId xmlns:a16="http://schemas.microsoft.com/office/drawing/2014/main" id="{D69F8A25-E39B-E011-56F2-9749F9BC5652}"/>
              </a:ext>
            </a:extLst>
          </p:cNvPr>
          <p:cNvSpPr/>
          <p:nvPr/>
        </p:nvSpPr>
        <p:spPr>
          <a:xfrm>
            <a:off x="4763080" y="2484811"/>
            <a:ext cx="477699" cy="1271158"/>
          </a:xfrm>
          <a:prstGeom prst="rect">
            <a:avLst/>
          </a:prstGeom>
          <a:solidFill>
            <a:srgbClr val="F59E0B"/>
          </a:solidFill>
          <a:ln w="12700">
            <a:solidFill>
              <a:srgbClr val="F59E0B"/>
            </a:solidFill>
            <a:prstDash val="solid"/>
          </a:ln>
        </p:spPr>
      </p:sp>
      <p:sp>
        <p:nvSpPr>
          <p:cNvPr id="71" name="Text 25">
            <a:extLst>
              <a:ext uri="{FF2B5EF4-FFF2-40B4-BE49-F238E27FC236}">
                <a16:creationId xmlns:a16="http://schemas.microsoft.com/office/drawing/2014/main" id="{20C83167-2357-F857-CC1A-878CF0EB410C}"/>
              </a:ext>
            </a:extLst>
          </p:cNvPr>
          <p:cNvSpPr/>
          <p:nvPr/>
        </p:nvSpPr>
        <p:spPr>
          <a:xfrm>
            <a:off x="4782188" y="2950306"/>
            <a:ext cx="439483" cy="340169"/>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R4</a:t>
            </a:r>
            <a:endParaRPr lang="en-US" sz="1100" dirty="0"/>
          </a:p>
        </p:txBody>
      </p:sp>
      <p:grpSp>
        <p:nvGrpSpPr>
          <p:cNvPr id="91" name="Group 90">
            <a:extLst>
              <a:ext uri="{FF2B5EF4-FFF2-40B4-BE49-F238E27FC236}">
                <a16:creationId xmlns:a16="http://schemas.microsoft.com/office/drawing/2014/main" id="{684F336F-F35E-56C3-0A7F-C208E8E2D256}"/>
              </a:ext>
            </a:extLst>
          </p:cNvPr>
          <p:cNvGrpSpPr/>
          <p:nvPr/>
        </p:nvGrpSpPr>
        <p:grpSpPr>
          <a:xfrm>
            <a:off x="680877" y="2545666"/>
            <a:ext cx="3630515" cy="1154784"/>
            <a:chOff x="5317211" y="2538522"/>
            <a:chExt cx="3630515" cy="1154784"/>
          </a:xfrm>
        </p:grpSpPr>
        <p:sp>
          <p:nvSpPr>
            <p:cNvPr id="72" name="Text 26">
              <a:extLst>
                <a:ext uri="{FF2B5EF4-FFF2-40B4-BE49-F238E27FC236}">
                  <a16:creationId xmlns:a16="http://schemas.microsoft.com/office/drawing/2014/main" id="{02B8D9EC-9A45-EC90-D307-F3AF782C1373}"/>
                </a:ext>
              </a:extLst>
            </p:cNvPr>
            <p:cNvSpPr/>
            <p:nvPr/>
          </p:nvSpPr>
          <p:spPr>
            <a:xfrm>
              <a:off x="5317211" y="2538522"/>
              <a:ext cx="3534975" cy="340169"/>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Improve Customer Satisfaction (Rating 3.0)</a:t>
              </a:r>
              <a:endParaRPr lang="en-US" sz="1100" dirty="0"/>
            </a:p>
          </p:txBody>
        </p:sp>
        <p:sp>
          <p:nvSpPr>
            <p:cNvPr id="73" name="Shape 27">
              <a:extLst>
                <a:ext uri="{FF2B5EF4-FFF2-40B4-BE49-F238E27FC236}">
                  <a16:creationId xmlns:a16="http://schemas.microsoft.com/office/drawing/2014/main" id="{A9DD1213-4AE1-F348-0585-776860FC23D2}"/>
                </a:ext>
              </a:extLst>
            </p:cNvPr>
            <p:cNvSpPr/>
            <p:nvPr/>
          </p:nvSpPr>
          <p:spPr>
            <a:xfrm>
              <a:off x="8087867" y="2538522"/>
              <a:ext cx="764319" cy="232747"/>
            </a:xfrm>
            <a:prstGeom prst="rect">
              <a:avLst/>
            </a:prstGeom>
            <a:solidFill>
              <a:srgbClr val="EF4444"/>
            </a:solidFill>
            <a:ln w="12700">
              <a:solidFill>
                <a:srgbClr val="EF4444"/>
              </a:solidFill>
              <a:prstDash val="solid"/>
            </a:ln>
          </p:spPr>
        </p:sp>
        <p:sp>
          <p:nvSpPr>
            <p:cNvPr id="74" name="Text 28">
              <a:extLst>
                <a:ext uri="{FF2B5EF4-FFF2-40B4-BE49-F238E27FC236}">
                  <a16:creationId xmlns:a16="http://schemas.microsoft.com/office/drawing/2014/main" id="{F7736B84-B5EC-F851-0449-A3353FF9A670}"/>
                </a:ext>
              </a:extLst>
            </p:cNvPr>
            <p:cNvSpPr/>
            <p:nvPr/>
          </p:nvSpPr>
          <p:spPr>
            <a:xfrm>
              <a:off x="8087867" y="2538522"/>
              <a:ext cx="764319" cy="232747"/>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75" name="Text 29">
              <a:extLst>
                <a:ext uri="{FF2B5EF4-FFF2-40B4-BE49-F238E27FC236}">
                  <a16:creationId xmlns:a16="http://schemas.microsoft.com/office/drawing/2014/main" id="{3CC8CA1C-96FB-5EC4-5FE1-B89AE7269DBF}"/>
                </a:ext>
              </a:extLst>
            </p:cNvPr>
            <p:cNvSpPr/>
            <p:nvPr/>
          </p:nvSpPr>
          <p:spPr>
            <a:xfrm>
              <a:off x="5317211" y="2887643"/>
              <a:ext cx="3630515" cy="805663"/>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Average rating of 3.0/5 is mediocre. Implement post-purchase surveys, improve delivery SLAs, and offer loyalty incentives to push ratings above 4.0.</a:t>
              </a:r>
              <a:endParaRPr lang="en-US" sz="950" dirty="0"/>
            </a:p>
          </p:txBody>
        </p:sp>
      </p:grpSp>
      <p:grpSp>
        <p:nvGrpSpPr>
          <p:cNvPr id="93" name="Group 92">
            <a:extLst>
              <a:ext uri="{FF2B5EF4-FFF2-40B4-BE49-F238E27FC236}">
                <a16:creationId xmlns:a16="http://schemas.microsoft.com/office/drawing/2014/main" id="{7DB25A16-83CC-D25A-E028-42694A39FEAF}"/>
              </a:ext>
            </a:extLst>
          </p:cNvPr>
          <p:cNvGrpSpPr/>
          <p:nvPr/>
        </p:nvGrpSpPr>
        <p:grpSpPr>
          <a:xfrm>
            <a:off x="5305564" y="2552805"/>
            <a:ext cx="3630515" cy="1154784"/>
            <a:chOff x="683527" y="2538522"/>
            <a:chExt cx="3630515" cy="1154784"/>
          </a:xfrm>
        </p:grpSpPr>
        <p:sp>
          <p:nvSpPr>
            <p:cNvPr id="65" name="Text 19">
              <a:extLst>
                <a:ext uri="{FF2B5EF4-FFF2-40B4-BE49-F238E27FC236}">
                  <a16:creationId xmlns:a16="http://schemas.microsoft.com/office/drawing/2014/main" id="{83209272-26AC-378D-BD61-427EBC3BB944}"/>
                </a:ext>
              </a:extLst>
            </p:cNvPr>
            <p:cNvSpPr/>
            <p:nvPr/>
          </p:nvSpPr>
          <p:spPr>
            <a:xfrm>
              <a:off x="683527" y="2538522"/>
              <a:ext cx="3534975" cy="340169"/>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Seasonal Campaign Planning</a:t>
              </a:r>
              <a:endParaRPr lang="en-US" sz="1100" dirty="0"/>
            </a:p>
          </p:txBody>
        </p:sp>
        <p:sp>
          <p:nvSpPr>
            <p:cNvPr id="66" name="Shape 20">
              <a:extLst>
                <a:ext uri="{FF2B5EF4-FFF2-40B4-BE49-F238E27FC236}">
                  <a16:creationId xmlns:a16="http://schemas.microsoft.com/office/drawing/2014/main" id="{BEE98F41-49B3-8D2F-D021-F0598F19BDED}"/>
                </a:ext>
              </a:extLst>
            </p:cNvPr>
            <p:cNvSpPr/>
            <p:nvPr/>
          </p:nvSpPr>
          <p:spPr>
            <a:xfrm>
              <a:off x="3454184" y="2538522"/>
              <a:ext cx="764319" cy="232747"/>
            </a:xfrm>
            <a:prstGeom prst="rect">
              <a:avLst/>
            </a:prstGeom>
            <a:solidFill>
              <a:srgbClr val="F59E0B"/>
            </a:solidFill>
            <a:ln w="12700">
              <a:solidFill>
                <a:srgbClr val="F59E0B"/>
              </a:solidFill>
              <a:prstDash val="solid"/>
            </a:ln>
          </p:spPr>
        </p:sp>
        <p:sp>
          <p:nvSpPr>
            <p:cNvPr id="67" name="Text 21">
              <a:extLst>
                <a:ext uri="{FF2B5EF4-FFF2-40B4-BE49-F238E27FC236}">
                  <a16:creationId xmlns:a16="http://schemas.microsoft.com/office/drawing/2014/main" id="{B9694086-5A3B-0B32-D554-1F27EDCB6DDB}"/>
                </a:ext>
              </a:extLst>
            </p:cNvPr>
            <p:cNvSpPr/>
            <p:nvPr/>
          </p:nvSpPr>
          <p:spPr>
            <a:xfrm>
              <a:off x="3454184" y="2538522"/>
              <a:ext cx="764319" cy="232747"/>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Medium</a:t>
              </a:r>
              <a:endParaRPr lang="en-US" sz="800" dirty="0"/>
            </a:p>
          </p:txBody>
        </p:sp>
        <p:sp>
          <p:nvSpPr>
            <p:cNvPr id="68" name="Text 22">
              <a:extLst>
                <a:ext uri="{FF2B5EF4-FFF2-40B4-BE49-F238E27FC236}">
                  <a16:creationId xmlns:a16="http://schemas.microsoft.com/office/drawing/2014/main" id="{99202B33-9802-1700-DB9B-80B3AA3D28D9}"/>
                </a:ext>
              </a:extLst>
            </p:cNvPr>
            <p:cNvSpPr/>
            <p:nvPr/>
          </p:nvSpPr>
          <p:spPr>
            <a:xfrm>
              <a:off x="683527" y="2887643"/>
              <a:ext cx="3630515" cy="805663"/>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Launch targeted campaigns in Jun–Oct to counter revenue dips. Use Q1 momentum (Jan–May peaks) to build inventory and marketing budgets.</a:t>
              </a:r>
              <a:endParaRPr lang="en-US" sz="950" dirty="0"/>
            </a:p>
          </p:txBody>
        </p:sp>
      </p:grpSp>
      <p:sp>
        <p:nvSpPr>
          <p:cNvPr id="76" name="Shape 30">
            <a:extLst>
              <a:ext uri="{FF2B5EF4-FFF2-40B4-BE49-F238E27FC236}">
                <a16:creationId xmlns:a16="http://schemas.microsoft.com/office/drawing/2014/main" id="{9F83F533-437C-935B-EFE6-8B1F09425C99}"/>
              </a:ext>
            </a:extLst>
          </p:cNvPr>
          <p:cNvSpPr/>
          <p:nvPr/>
        </p:nvSpPr>
        <p:spPr>
          <a:xfrm>
            <a:off x="129396" y="3872342"/>
            <a:ext cx="4251524" cy="127115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77" name="Shape 31">
            <a:extLst>
              <a:ext uri="{FF2B5EF4-FFF2-40B4-BE49-F238E27FC236}">
                <a16:creationId xmlns:a16="http://schemas.microsoft.com/office/drawing/2014/main" id="{A2884E14-BE87-FAA1-37B8-F488FF75A377}"/>
              </a:ext>
            </a:extLst>
          </p:cNvPr>
          <p:cNvSpPr/>
          <p:nvPr/>
        </p:nvSpPr>
        <p:spPr>
          <a:xfrm>
            <a:off x="129396" y="3872342"/>
            <a:ext cx="477699" cy="1271158"/>
          </a:xfrm>
          <a:prstGeom prst="rect">
            <a:avLst/>
          </a:prstGeom>
          <a:solidFill>
            <a:srgbClr val="8B5CF6"/>
          </a:solidFill>
          <a:ln w="12700">
            <a:solidFill>
              <a:srgbClr val="8B5CF6"/>
            </a:solidFill>
            <a:prstDash val="solid"/>
          </a:ln>
        </p:spPr>
      </p:sp>
      <p:sp>
        <p:nvSpPr>
          <p:cNvPr id="78" name="Text 32">
            <a:extLst>
              <a:ext uri="{FF2B5EF4-FFF2-40B4-BE49-F238E27FC236}">
                <a16:creationId xmlns:a16="http://schemas.microsoft.com/office/drawing/2014/main" id="{A69FF57A-CC4D-E7D0-74B9-EB11C545F2B9}"/>
              </a:ext>
            </a:extLst>
          </p:cNvPr>
          <p:cNvSpPr/>
          <p:nvPr/>
        </p:nvSpPr>
        <p:spPr>
          <a:xfrm>
            <a:off x="148504" y="4337837"/>
            <a:ext cx="439483" cy="340169"/>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R5</a:t>
            </a:r>
            <a:endParaRPr lang="en-US" sz="1100" dirty="0"/>
          </a:p>
        </p:txBody>
      </p:sp>
      <p:sp>
        <p:nvSpPr>
          <p:cNvPr id="79" name="Text 33">
            <a:extLst>
              <a:ext uri="{FF2B5EF4-FFF2-40B4-BE49-F238E27FC236}">
                <a16:creationId xmlns:a16="http://schemas.microsoft.com/office/drawing/2014/main" id="{6D6DAE3C-52B3-079F-BD13-A747E8CD98B7}"/>
              </a:ext>
            </a:extLst>
          </p:cNvPr>
          <p:cNvSpPr/>
          <p:nvPr/>
        </p:nvSpPr>
        <p:spPr>
          <a:xfrm>
            <a:off x="683527" y="3926053"/>
            <a:ext cx="3534975" cy="340169"/>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Capitalize on Social Media Channel</a:t>
            </a:r>
            <a:endParaRPr lang="en-US" sz="1100" dirty="0"/>
          </a:p>
        </p:txBody>
      </p:sp>
      <p:sp>
        <p:nvSpPr>
          <p:cNvPr id="80" name="Shape 34">
            <a:extLst>
              <a:ext uri="{FF2B5EF4-FFF2-40B4-BE49-F238E27FC236}">
                <a16:creationId xmlns:a16="http://schemas.microsoft.com/office/drawing/2014/main" id="{9FE648F6-81F4-FABA-3DF9-AF6793F7AF84}"/>
              </a:ext>
            </a:extLst>
          </p:cNvPr>
          <p:cNvSpPr/>
          <p:nvPr/>
        </p:nvSpPr>
        <p:spPr>
          <a:xfrm>
            <a:off x="3454184" y="3926053"/>
            <a:ext cx="764319" cy="232747"/>
          </a:xfrm>
          <a:prstGeom prst="rect">
            <a:avLst/>
          </a:prstGeom>
          <a:solidFill>
            <a:srgbClr val="F59E0B"/>
          </a:solidFill>
          <a:ln w="12700">
            <a:solidFill>
              <a:srgbClr val="F59E0B"/>
            </a:solidFill>
            <a:prstDash val="solid"/>
          </a:ln>
        </p:spPr>
      </p:sp>
      <p:sp>
        <p:nvSpPr>
          <p:cNvPr id="81" name="Text 35">
            <a:extLst>
              <a:ext uri="{FF2B5EF4-FFF2-40B4-BE49-F238E27FC236}">
                <a16:creationId xmlns:a16="http://schemas.microsoft.com/office/drawing/2014/main" id="{99011EC9-D070-80BA-ECDB-8CC7D106A490}"/>
              </a:ext>
            </a:extLst>
          </p:cNvPr>
          <p:cNvSpPr/>
          <p:nvPr/>
        </p:nvSpPr>
        <p:spPr>
          <a:xfrm>
            <a:off x="3454184" y="3926053"/>
            <a:ext cx="764319" cy="232747"/>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Medium</a:t>
            </a:r>
            <a:endParaRPr lang="en-US" sz="800" dirty="0"/>
          </a:p>
        </p:txBody>
      </p:sp>
      <p:sp>
        <p:nvSpPr>
          <p:cNvPr id="82" name="Text 36">
            <a:extLst>
              <a:ext uri="{FF2B5EF4-FFF2-40B4-BE49-F238E27FC236}">
                <a16:creationId xmlns:a16="http://schemas.microsoft.com/office/drawing/2014/main" id="{13AC833A-2983-49E5-4E02-0FCB9501B530}"/>
              </a:ext>
            </a:extLst>
          </p:cNvPr>
          <p:cNvSpPr/>
          <p:nvPr/>
        </p:nvSpPr>
        <p:spPr>
          <a:xfrm>
            <a:off x="683527" y="4275174"/>
            <a:ext cx="3630515" cy="805663"/>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Social Media leads traffic generation (20.2%). Increase investment in influencer marketing, shoppable posts, and retargeting ads to expand this advantage.</a:t>
            </a:r>
            <a:endParaRPr lang="en-US" sz="950" dirty="0"/>
          </a:p>
        </p:txBody>
      </p:sp>
      <p:sp>
        <p:nvSpPr>
          <p:cNvPr id="83" name="Shape 37">
            <a:extLst>
              <a:ext uri="{FF2B5EF4-FFF2-40B4-BE49-F238E27FC236}">
                <a16:creationId xmlns:a16="http://schemas.microsoft.com/office/drawing/2014/main" id="{8B81DB64-F1D6-E84B-6942-E30F2C1AE878}"/>
              </a:ext>
            </a:extLst>
          </p:cNvPr>
          <p:cNvSpPr/>
          <p:nvPr/>
        </p:nvSpPr>
        <p:spPr>
          <a:xfrm>
            <a:off x="4763080" y="3872342"/>
            <a:ext cx="4251524" cy="1271158"/>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sp>
      <p:sp>
        <p:nvSpPr>
          <p:cNvPr id="84" name="Shape 38">
            <a:extLst>
              <a:ext uri="{FF2B5EF4-FFF2-40B4-BE49-F238E27FC236}">
                <a16:creationId xmlns:a16="http://schemas.microsoft.com/office/drawing/2014/main" id="{2EF3061A-40C8-E460-49A8-9467ADD5DFF0}"/>
              </a:ext>
            </a:extLst>
          </p:cNvPr>
          <p:cNvSpPr/>
          <p:nvPr/>
        </p:nvSpPr>
        <p:spPr>
          <a:xfrm>
            <a:off x="4763080" y="3872342"/>
            <a:ext cx="477699" cy="1271158"/>
          </a:xfrm>
          <a:prstGeom prst="rect">
            <a:avLst/>
          </a:prstGeom>
          <a:solidFill>
            <a:srgbClr val="10B981"/>
          </a:solidFill>
          <a:ln w="12700">
            <a:solidFill>
              <a:srgbClr val="10B981"/>
            </a:solidFill>
            <a:prstDash val="solid"/>
          </a:ln>
        </p:spPr>
      </p:sp>
      <p:sp>
        <p:nvSpPr>
          <p:cNvPr id="85" name="Text 39">
            <a:extLst>
              <a:ext uri="{FF2B5EF4-FFF2-40B4-BE49-F238E27FC236}">
                <a16:creationId xmlns:a16="http://schemas.microsoft.com/office/drawing/2014/main" id="{065C95D5-E2E7-AB47-989E-A5F124CF08C4}"/>
              </a:ext>
            </a:extLst>
          </p:cNvPr>
          <p:cNvSpPr/>
          <p:nvPr/>
        </p:nvSpPr>
        <p:spPr>
          <a:xfrm>
            <a:off x="4782188" y="4337837"/>
            <a:ext cx="439483" cy="340169"/>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R6</a:t>
            </a:r>
            <a:endParaRPr lang="en-US" sz="1100" dirty="0"/>
          </a:p>
        </p:txBody>
      </p:sp>
      <p:sp>
        <p:nvSpPr>
          <p:cNvPr id="86" name="Text 40">
            <a:extLst>
              <a:ext uri="{FF2B5EF4-FFF2-40B4-BE49-F238E27FC236}">
                <a16:creationId xmlns:a16="http://schemas.microsoft.com/office/drawing/2014/main" id="{9D6AACAE-3B93-A467-70D6-F4450FC3B663}"/>
              </a:ext>
            </a:extLst>
          </p:cNvPr>
          <p:cNvSpPr/>
          <p:nvPr/>
        </p:nvSpPr>
        <p:spPr>
          <a:xfrm>
            <a:off x="5317211" y="3926053"/>
            <a:ext cx="3534975" cy="340169"/>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Expand in UK &amp; USA Markets</a:t>
            </a:r>
            <a:endParaRPr lang="en-US" sz="1100" dirty="0"/>
          </a:p>
        </p:txBody>
      </p:sp>
      <p:sp>
        <p:nvSpPr>
          <p:cNvPr id="87" name="Shape 41">
            <a:extLst>
              <a:ext uri="{FF2B5EF4-FFF2-40B4-BE49-F238E27FC236}">
                <a16:creationId xmlns:a16="http://schemas.microsoft.com/office/drawing/2014/main" id="{2B59A994-E501-C288-AE2B-1083C0A0112D}"/>
              </a:ext>
            </a:extLst>
          </p:cNvPr>
          <p:cNvSpPr/>
          <p:nvPr/>
        </p:nvSpPr>
        <p:spPr>
          <a:xfrm>
            <a:off x="8087867" y="3926053"/>
            <a:ext cx="764319" cy="232747"/>
          </a:xfrm>
          <a:prstGeom prst="rect">
            <a:avLst/>
          </a:prstGeom>
          <a:solidFill>
            <a:srgbClr val="F59E0B"/>
          </a:solidFill>
          <a:ln w="12700">
            <a:solidFill>
              <a:srgbClr val="F59E0B"/>
            </a:solidFill>
            <a:prstDash val="solid"/>
          </a:ln>
        </p:spPr>
      </p:sp>
      <p:sp>
        <p:nvSpPr>
          <p:cNvPr id="88" name="Text 42">
            <a:extLst>
              <a:ext uri="{FF2B5EF4-FFF2-40B4-BE49-F238E27FC236}">
                <a16:creationId xmlns:a16="http://schemas.microsoft.com/office/drawing/2014/main" id="{86CC60F3-942F-7937-FF17-4C7D97A7DB56}"/>
              </a:ext>
            </a:extLst>
          </p:cNvPr>
          <p:cNvSpPr/>
          <p:nvPr/>
        </p:nvSpPr>
        <p:spPr>
          <a:xfrm>
            <a:off x="8087867" y="3926053"/>
            <a:ext cx="764319" cy="232747"/>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Medium</a:t>
            </a:r>
            <a:endParaRPr lang="en-US" sz="800" dirty="0"/>
          </a:p>
        </p:txBody>
      </p:sp>
      <p:sp>
        <p:nvSpPr>
          <p:cNvPr id="89" name="Text 43">
            <a:extLst>
              <a:ext uri="{FF2B5EF4-FFF2-40B4-BE49-F238E27FC236}">
                <a16:creationId xmlns:a16="http://schemas.microsoft.com/office/drawing/2014/main" id="{29327855-7CD3-26CC-7736-1FDF514E529E}"/>
              </a:ext>
            </a:extLst>
          </p:cNvPr>
          <p:cNvSpPr/>
          <p:nvPr/>
        </p:nvSpPr>
        <p:spPr>
          <a:xfrm>
            <a:off x="5317211" y="4275174"/>
            <a:ext cx="3630515" cy="805663"/>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UK ($8.37M) and USA ($8.45M) generate the lowest revenue despite high purchasing potential. Localized campaigns, shipping deals, and currency pricing can unlock growth.</a:t>
            </a:r>
            <a:endParaRPr lang="en-US" sz="9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31520" y="-1097280"/>
            <a:ext cx="4114800" cy="4114800"/>
          </a:xfrm>
          <a:prstGeom prst="ellipse">
            <a:avLst/>
          </a:prstGeom>
          <a:solidFill>
            <a:srgbClr val="1B2A3B">
              <a:alpha val="60000"/>
            </a:srgbClr>
          </a:solidFill>
          <a:ln w="12700">
            <a:solidFill>
              <a:srgbClr val="1B2A3B">
                <a:alpha val="60000"/>
              </a:srgbClr>
            </a:solidFill>
            <a:prstDash val="solid"/>
          </a:ln>
        </p:spPr>
      </p:sp>
      <p:sp>
        <p:nvSpPr>
          <p:cNvPr id="3" name="Shape 1"/>
          <p:cNvSpPr/>
          <p:nvPr/>
        </p:nvSpPr>
        <p:spPr>
          <a:xfrm>
            <a:off x="6583680" y="2560320"/>
            <a:ext cx="3200400" cy="3200400"/>
          </a:xfrm>
          <a:prstGeom prst="ellipse">
            <a:avLst/>
          </a:prstGeom>
          <a:solidFill>
            <a:srgbClr val="00897B">
              <a:alpha val="25000"/>
            </a:srgbClr>
          </a:solidFill>
          <a:ln w="12700">
            <a:solidFill>
              <a:srgbClr val="00897B">
                <a:alpha val="25000"/>
              </a:srgbClr>
            </a:solidFill>
            <a:prstDash val="solid"/>
          </a:ln>
        </p:spPr>
      </p:sp>
      <p:sp>
        <p:nvSpPr>
          <p:cNvPr id="4" name="Text 2"/>
          <p:cNvSpPr/>
          <p:nvPr/>
        </p:nvSpPr>
        <p:spPr>
          <a:xfrm>
            <a:off x="502920" y="201168"/>
            <a:ext cx="8229600" cy="594360"/>
          </a:xfrm>
          <a:prstGeom prst="rect">
            <a:avLst/>
          </a:prstGeom>
          <a:noFill/>
          <a:ln/>
        </p:spPr>
        <p:txBody>
          <a:bodyPr wrap="square" lIns="0" tIns="0" rIns="0" bIns="0" rtlCol="0" anchor="ctr"/>
          <a:lstStyle/>
          <a:p>
            <a:pPr marL="0" indent="0">
              <a:buNone/>
            </a:pPr>
            <a:r>
              <a:rPr lang="en-US" sz="2400" b="1" dirty="0">
                <a:solidFill>
                  <a:srgbClr val="FFFFFF"/>
                </a:solidFill>
              </a:rPr>
              <a:t>09  Conclusion &amp; Report Summary</a:t>
            </a:r>
            <a:endParaRPr lang="en-US" sz="2400" dirty="0"/>
          </a:p>
        </p:txBody>
      </p:sp>
      <p:sp>
        <p:nvSpPr>
          <p:cNvPr id="5" name="Shape 3"/>
          <p:cNvSpPr/>
          <p:nvPr/>
        </p:nvSpPr>
        <p:spPr>
          <a:xfrm>
            <a:off x="502920" y="841248"/>
            <a:ext cx="3657600" cy="0"/>
          </a:xfrm>
          <a:prstGeom prst="line">
            <a:avLst/>
          </a:prstGeom>
          <a:noFill/>
          <a:ln w="38100">
            <a:solidFill>
              <a:srgbClr val="00897B"/>
            </a:solidFill>
            <a:prstDash val="solid"/>
          </a:ln>
        </p:spPr>
      </p:sp>
      <p:sp>
        <p:nvSpPr>
          <p:cNvPr id="6" name="Text 4"/>
          <p:cNvSpPr/>
          <p:nvPr/>
        </p:nvSpPr>
        <p:spPr>
          <a:xfrm>
            <a:off x="502920" y="914400"/>
            <a:ext cx="8229600" cy="365760"/>
          </a:xfrm>
          <a:prstGeom prst="rect">
            <a:avLst/>
          </a:prstGeom>
          <a:noFill/>
          <a:ln/>
        </p:spPr>
        <p:txBody>
          <a:bodyPr wrap="square" lIns="0" tIns="0" rIns="0" bIns="0" rtlCol="0" anchor="ctr"/>
          <a:lstStyle/>
          <a:p>
            <a:pPr marL="0" indent="0">
              <a:buNone/>
            </a:pPr>
            <a:r>
              <a:rPr lang="en-US" sz="1400" b="1" dirty="0">
                <a:solidFill>
                  <a:srgbClr val="26A69A"/>
                </a:solidFill>
              </a:rPr>
              <a:t>Business Health: STRONG  •  Growth Potential: HIGH</a:t>
            </a:r>
            <a:endParaRPr lang="en-US" sz="1400" dirty="0"/>
          </a:p>
        </p:txBody>
      </p:sp>
      <p:sp>
        <p:nvSpPr>
          <p:cNvPr id="7" name="Text 5"/>
          <p:cNvSpPr/>
          <p:nvPr/>
        </p:nvSpPr>
        <p:spPr>
          <a:xfrm>
            <a:off x="502920" y="1371600"/>
            <a:ext cx="8229600" cy="594360"/>
          </a:xfrm>
          <a:prstGeom prst="rect">
            <a:avLst/>
          </a:prstGeom>
          <a:noFill/>
          <a:ln/>
        </p:spPr>
        <p:txBody>
          <a:bodyPr wrap="square" lIns="0" tIns="0" rIns="0" bIns="0" rtlCol="0" anchor="ctr"/>
          <a:lstStyle/>
          <a:p>
            <a:pPr marL="0" indent="0">
              <a:buNone/>
            </a:pPr>
            <a:r>
              <a:rPr lang="en-US" sz="1080" b="1" dirty="0">
                <a:solidFill>
                  <a:srgbClr val="26A69A"/>
                </a:solidFill>
              </a:rPr>
              <a:t>▸  </a:t>
            </a:r>
            <a:r>
              <a:rPr lang="en-US" sz="1080" dirty="0">
                <a:solidFill>
                  <a:srgbClr val="CFD8DC"/>
                </a:solidFill>
              </a:rPr>
              <a:t>This Shopify EDA analysed 60,000 orders (2023–2025) across 7 countries and 7 product categories, generating total revenue of ₹5.96 Crore with a profit of ₹5.88 Crore — reflecting an outstanding 98.6% profit margin.</a:t>
            </a:r>
            <a:endParaRPr lang="en-US" sz="1080" dirty="0"/>
          </a:p>
        </p:txBody>
      </p:sp>
      <p:sp>
        <p:nvSpPr>
          <p:cNvPr id="8" name="Text 6"/>
          <p:cNvSpPr/>
          <p:nvPr/>
        </p:nvSpPr>
        <p:spPr>
          <a:xfrm>
            <a:off x="502920" y="2029968"/>
            <a:ext cx="8229600" cy="594360"/>
          </a:xfrm>
          <a:prstGeom prst="rect">
            <a:avLst/>
          </a:prstGeom>
          <a:noFill/>
          <a:ln/>
        </p:spPr>
        <p:txBody>
          <a:bodyPr wrap="square" lIns="0" tIns="0" rIns="0" bIns="0" rtlCol="0" anchor="ctr"/>
          <a:lstStyle/>
          <a:p>
            <a:pPr marL="0" indent="0">
              <a:buNone/>
            </a:pPr>
            <a:r>
              <a:rPr lang="en-US" sz="1080" b="1" dirty="0">
                <a:solidFill>
                  <a:srgbClr val="26A69A"/>
                </a:solidFill>
              </a:rPr>
              <a:t>▸  </a:t>
            </a:r>
            <a:r>
              <a:rPr lang="en-US" sz="1080" dirty="0">
                <a:solidFill>
                  <a:srgbClr val="CFD8DC"/>
                </a:solidFill>
              </a:rPr>
              <a:t>Revenue is growing year-over-year (+0.46% in 2024) with strong Q1/Q2 performance. Electronics leads all categories in both revenue and profit margin (95.51%), while all 7 categories maintain &gt;95% margins — a sign of excellent operational health.</a:t>
            </a:r>
            <a:endParaRPr lang="en-US" sz="1080" dirty="0"/>
          </a:p>
        </p:txBody>
      </p:sp>
      <p:sp>
        <p:nvSpPr>
          <p:cNvPr id="9" name="Text 7"/>
          <p:cNvSpPr/>
          <p:nvPr/>
        </p:nvSpPr>
        <p:spPr>
          <a:xfrm>
            <a:off x="502920" y="2688336"/>
            <a:ext cx="8229600" cy="594360"/>
          </a:xfrm>
          <a:prstGeom prst="rect">
            <a:avLst/>
          </a:prstGeom>
          <a:noFill/>
          <a:ln/>
        </p:spPr>
        <p:txBody>
          <a:bodyPr wrap="square" lIns="0" tIns="0" rIns="0" bIns="0" rtlCol="0" anchor="ctr"/>
          <a:lstStyle/>
          <a:p>
            <a:pPr marL="0" indent="0">
              <a:buNone/>
            </a:pPr>
            <a:r>
              <a:rPr lang="en-US" sz="1080" b="1" dirty="0">
                <a:solidFill>
                  <a:srgbClr val="26A69A"/>
                </a:solidFill>
              </a:rPr>
              <a:t>▸  </a:t>
            </a:r>
            <a:r>
              <a:rPr lang="en-US" sz="1080" dirty="0">
                <a:solidFill>
                  <a:srgbClr val="CFD8DC"/>
                </a:solidFill>
              </a:rPr>
              <a:t>The primary risks are a 14.81% return rate (above 8–12% industry norm), a uniform discount strategy that doesn't differentiate by category, and underperforming Q3/Q4 revenue (−30% vs Q1/Q2) indicating missed seasonal opportunities.</a:t>
            </a:r>
            <a:endParaRPr lang="en-US" sz="1080" dirty="0"/>
          </a:p>
        </p:txBody>
      </p:sp>
      <p:sp>
        <p:nvSpPr>
          <p:cNvPr id="10" name="Text 8"/>
          <p:cNvSpPr/>
          <p:nvPr/>
        </p:nvSpPr>
        <p:spPr>
          <a:xfrm>
            <a:off x="502920" y="3346704"/>
            <a:ext cx="8229600" cy="594360"/>
          </a:xfrm>
          <a:prstGeom prst="rect">
            <a:avLst/>
          </a:prstGeom>
          <a:noFill/>
          <a:ln/>
        </p:spPr>
        <p:txBody>
          <a:bodyPr wrap="square" lIns="0" tIns="0" rIns="0" bIns="0" rtlCol="0" anchor="ctr"/>
          <a:lstStyle/>
          <a:p>
            <a:pPr marL="0" indent="0">
              <a:buNone/>
            </a:pPr>
            <a:r>
              <a:rPr lang="en-US" sz="1080" b="1" dirty="0">
                <a:solidFill>
                  <a:srgbClr val="26A69A"/>
                </a:solidFill>
              </a:rPr>
              <a:t>▸  </a:t>
            </a:r>
            <a:r>
              <a:rPr lang="en-US" sz="1080" dirty="0">
                <a:solidFill>
                  <a:srgbClr val="CFD8DC"/>
                </a:solidFill>
              </a:rPr>
              <a:t>Recommended priority actions: (1) Reduce return rates via product improvements, (2) Shift to Layered discounts — less for Electronics, more for Footwear/Fashion, (3) Launch Q3/Q4 seasonal campaigns, (4) Scale Social Media and Email channels.</a:t>
            </a:r>
            <a:endParaRPr lang="en-US" sz="1080" dirty="0"/>
          </a:p>
        </p:txBody>
      </p:sp>
      <p:sp>
        <p:nvSpPr>
          <p:cNvPr id="11" name="Text 9"/>
          <p:cNvSpPr/>
          <p:nvPr/>
        </p:nvSpPr>
        <p:spPr>
          <a:xfrm>
            <a:off x="502920" y="4005072"/>
            <a:ext cx="8229600" cy="594360"/>
          </a:xfrm>
          <a:prstGeom prst="rect">
            <a:avLst/>
          </a:prstGeom>
          <a:noFill/>
          <a:ln/>
        </p:spPr>
        <p:txBody>
          <a:bodyPr wrap="square" lIns="0" tIns="0" rIns="0" bIns="0" rtlCol="0" anchor="ctr"/>
          <a:lstStyle/>
          <a:p>
            <a:pPr marL="0" indent="0">
              <a:buNone/>
            </a:pPr>
            <a:r>
              <a:rPr lang="en-US" sz="1080" b="1" dirty="0">
                <a:solidFill>
                  <a:srgbClr val="26A69A"/>
                </a:solidFill>
              </a:rPr>
              <a:t>▸  </a:t>
            </a:r>
            <a:r>
              <a:rPr lang="en-US" sz="1080" dirty="0">
                <a:solidFill>
                  <a:srgbClr val="CFD8DC"/>
                </a:solidFill>
              </a:rPr>
              <a:t>With these interventions, a realistic target of 8–10% revenue growth and 1–2% margin improvement is achievable in FY 2025–2026 — translating to approximately ₹65–66 Crore in revenue.</a:t>
            </a:r>
            <a:endParaRPr lang="en-US" sz="1080" dirty="0"/>
          </a:p>
        </p:txBody>
      </p:sp>
      <p:sp>
        <p:nvSpPr>
          <p:cNvPr id="12" name="Shape 10"/>
          <p:cNvSpPr/>
          <p:nvPr/>
        </p:nvSpPr>
        <p:spPr>
          <a:xfrm>
            <a:off x="320040" y="4645152"/>
            <a:ext cx="1664208" cy="438912"/>
          </a:xfrm>
          <a:prstGeom prst="rect">
            <a:avLst/>
          </a:prstGeom>
          <a:solidFill>
            <a:srgbClr val="00897B"/>
          </a:solidFill>
          <a:ln w="12700">
            <a:solidFill>
              <a:srgbClr val="00897B"/>
            </a:solidFill>
            <a:prstDash val="solid"/>
          </a:ln>
        </p:spPr>
      </p:sp>
      <p:sp>
        <p:nvSpPr>
          <p:cNvPr id="13" name="Text 11"/>
          <p:cNvSpPr/>
          <p:nvPr/>
        </p:nvSpPr>
        <p:spPr>
          <a:xfrm>
            <a:off x="320040" y="4663440"/>
            <a:ext cx="1664208" cy="219456"/>
          </a:xfrm>
          <a:prstGeom prst="rect">
            <a:avLst/>
          </a:prstGeom>
          <a:noFill/>
          <a:ln/>
        </p:spPr>
        <p:txBody>
          <a:bodyPr wrap="square" lIns="0" tIns="0" rIns="0" bIns="0" rtlCol="0" anchor="ctr"/>
          <a:lstStyle/>
          <a:p>
            <a:pPr marL="0" indent="0" algn="ctr">
              <a:buNone/>
            </a:pPr>
            <a:r>
              <a:rPr lang="en-US" sz="1200" b="1" dirty="0">
                <a:solidFill>
                  <a:srgbClr val="FFFFFF"/>
                </a:solidFill>
              </a:rPr>
              <a:t>₹5.96 Cr</a:t>
            </a:r>
            <a:endParaRPr lang="en-US" sz="1200" dirty="0"/>
          </a:p>
        </p:txBody>
      </p:sp>
      <p:sp>
        <p:nvSpPr>
          <p:cNvPr id="14" name="Text 12"/>
          <p:cNvSpPr/>
          <p:nvPr/>
        </p:nvSpPr>
        <p:spPr>
          <a:xfrm>
            <a:off x="320040" y="4882896"/>
            <a:ext cx="1664208" cy="164592"/>
          </a:xfrm>
          <a:prstGeom prst="rect">
            <a:avLst/>
          </a:prstGeom>
          <a:noFill/>
          <a:ln/>
        </p:spPr>
        <p:txBody>
          <a:bodyPr wrap="square" lIns="0" tIns="0" rIns="0" bIns="0" rtlCol="0" anchor="ctr"/>
          <a:lstStyle/>
          <a:p>
            <a:pPr marL="0" indent="0" algn="ctr">
              <a:buNone/>
            </a:pPr>
            <a:r>
              <a:rPr lang="en-US" sz="800" dirty="0">
                <a:solidFill>
                  <a:srgbClr val="B2EBF2"/>
                </a:solidFill>
              </a:rPr>
              <a:t>Total Revenue</a:t>
            </a:r>
            <a:endParaRPr lang="en-US" sz="800" dirty="0"/>
          </a:p>
        </p:txBody>
      </p:sp>
      <p:sp>
        <p:nvSpPr>
          <p:cNvPr id="15" name="Shape 13"/>
          <p:cNvSpPr/>
          <p:nvPr/>
        </p:nvSpPr>
        <p:spPr>
          <a:xfrm>
            <a:off x="2084832" y="4645152"/>
            <a:ext cx="1664208" cy="438912"/>
          </a:xfrm>
          <a:prstGeom prst="rect">
            <a:avLst/>
          </a:prstGeom>
          <a:solidFill>
            <a:srgbClr val="00897B"/>
          </a:solidFill>
          <a:ln w="12700">
            <a:solidFill>
              <a:srgbClr val="00897B"/>
            </a:solidFill>
            <a:prstDash val="solid"/>
          </a:ln>
        </p:spPr>
      </p:sp>
      <p:sp>
        <p:nvSpPr>
          <p:cNvPr id="16" name="Text 14"/>
          <p:cNvSpPr/>
          <p:nvPr/>
        </p:nvSpPr>
        <p:spPr>
          <a:xfrm>
            <a:off x="2084832" y="4663440"/>
            <a:ext cx="1664208" cy="219456"/>
          </a:xfrm>
          <a:prstGeom prst="rect">
            <a:avLst/>
          </a:prstGeom>
          <a:noFill/>
          <a:ln/>
        </p:spPr>
        <p:txBody>
          <a:bodyPr wrap="square" lIns="0" tIns="0" rIns="0" bIns="0" rtlCol="0" anchor="ctr"/>
          <a:lstStyle/>
          <a:p>
            <a:pPr marL="0" indent="0" algn="ctr">
              <a:buNone/>
            </a:pPr>
            <a:r>
              <a:rPr lang="en-US" sz="1200" b="1" dirty="0">
                <a:solidFill>
                  <a:srgbClr val="FFFFFF"/>
                </a:solidFill>
              </a:rPr>
              <a:t>98.6%</a:t>
            </a:r>
            <a:endParaRPr lang="en-US" sz="1200" dirty="0"/>
          </a:p>
        </p:txBody>
      </p:sp>
      <p:sp>
        <p:nvSpPr>
          <p:cNvPr id="17" name="Text 15"/>
          <p:cNvSpPr/>
          <p:nvPr/>
        </p:nvSpPr>
        <p:spPr>
          <a:xfrm>
            <a:off x="2084832" y="4882896"/>
            <a:ext cx="1664208" cy="164592"/>
          </a:xfrm>
          <a:prstGeom prst="rect">
            <a:avLst/>
          </a:prstGeom>
          <a:noFill/>
          <a:ln/>
        </p:spPr>
        <p:txBody>
          <a:bodyPr wrap="square" lIns="0" tIns="0" rIns="0" bIns="0" rtlCol="0" anchor="ctr"/>
          <a:lstStyle/>
          <a:p>
            <a:pPr marL="0" indent="0" algn="ctr">
              <a:buNone/>
            </a:pPr>
            <a:r>
              <a:rPr lang="en-US" sz="800" dirty="0">
                <a:solidFill>
                  <a:srgbClr val="B2EBF2"/>
                </a:solidFill>
              </a:rPr>
              <a:t>Avg Profit Margin</a:t>
            </a:r>
            <a:endParaRPr lang="en-US" sz="800" dirty="0"/>
          </a:p>
        </p:txBody>
      </p:sp>
      <p:sp>
        <p:nvSpPr>
          <p:cNvPr id="18" name="Shape 16"/>
          <p:cNvSpPr/>
          <p:nvPr/>
        </p:nvSpPr>
        <p:spPr>
          <a:xfrm>
            <a:off x="3849624" y="4645152"/>
            <a:ext cx="1664208" cy="438912"/>
          </a:xfrm>
          <a:prstGeom prst="rect">
            <a:avLst/>
          </a:prstGeom>
          <a:solidFill>
            <a:srgbClr val="00897B"/>
          </a:solidFill>
          <a:ln w="12700">
            <a:solidFill>
              <a:srgbClr val="00897B"/>
            </a:solidFill>
            <a:prstDash val="solid"/>
          </a:ln>
        </p:spPr>
      </p:sp>
      <p:sp>
        <p:nvSpPr>
          <p:cNvPr id="19" name="Text 17"/>
          <p:cNvSpPr/>
          <p:nvPr/>
        </p:nvSpPr>
        <p:spPr>
          <a:xfrm>
            <a:off x="3849624" y="4663440"/>
            <a:ext cx="1664208" cy="219456"/>
          </a:xfrm>
          <a:prstGeom prst="rect">
            <a:avLst/>
          </a:prstGeom>
          <a:noFill/>
          <a:ln/>
        </p:spPr>
        <p:txBody>
          <a:bodyPr wrap="square" lIns="0" tIns="0" rIns="0" bIns="0" rtlCol="0" anchor="ctr"/>
          <a:lstStyle/>
          <a:p>
            <a:pPr marL="0" indent="0" algn="ctr">
              <a:buNone/>
            </a:pPr>
            <a:r>
              <a:rPr lang="en-US" sz="1200" b="1" dirty="0">
                <a:solidFill>
                  <a:srgbClr val="FFFFFF"/>
                </a:solidFill>
              </a:rPr>
              <a:t>+0.46%</a:t>
            </a:r>
            <a:endParaRPr lang="en-US" sz="1200" dirty="0"/>
          </a:p>
        </p:txBody>
      </p:sp>
      <p:sp>
        <p:nvSpPr>
          <p:cNvPr id="20" name="Text 18"/>
          <p:cNvSpPr/>
          <p:nvPr/>
        </p:nvSpPr>
        <p:spPr>
          <a:xfrm>
            <a:off x="3849624" y="4882896"/>
            <a:ext cx="1664208" cy="164592"/>
          </a:xfrm>
          <a:prstGeom prst="rect">
            <a:avLst/>
          </a:prstGeom>
          <a:noFill/>
          <a:ln/>
        </p:spPr>
        <p:txBody>
          <a:bodyPr wrap="square" lIns="0" tIns="0" rIns="0" bIns="0" rtlCol="0" anchor="ctr"/>
          <a:lstStyle/>
          <a:p>
            <a:pPr marL="0" indent="0" algn="ctr">
              <a:buNone/>
            </a:pPr>
            <a:r>
              <a:rPr lang="en-US" sz="800" dirty="0">
                <a:solidFill>
                  <a:srgbClr val="B2EBF2"/>
                </a:solidFill>
              </a:rPr>
              <a:t>YoY Revenue Growth</a:t>
            </a:r>
            <a:endParaRPr lang="en-US" sz="800" dirty="0"/>
          </a:p>
        </p:txBody>
      </p:sp>
      <p:sp>
        <p:nvSpPr>
          <p:cNvPr id="21" name="Shape 19"/>
          <p:cNvSpPr/>
          <p:nvPr/>
        </p:nvSpPr>
        <p:spPr>
          <a:xfrm>
            <a:off x="5614416" y="4645152"/>
            <a:ext cx="1664208" cy="438912"/>
          </a:xfrm>
          <a:prstGeom prst="rect">
            <a:avLst/>
          </a:prstGeom>
          <a:solidFill>
            <a:srgbClr val="00897B"/>
          </a:solidFill>
          <a:ln w="12700">
            <a:solidFill>
              <a:srgbClr val="00897B"/>
            </a:solidFill>
            <a:prstDash val="solid"/>
          </a:ln>
        </p:spPr>
      </p:sp>
      <p:sp>
        <p:nvSpPr>
          <p:cNvPr id="22" name="Text 20"/>
          <p:cNvSpPr/>
          <p:nvPr/>
        </p:nvSpPr>
        <p:spPr>
          <a:xfrm>
            <a:off x="5614416" y="4663440"/>
            <a:ext cx="1664208" cy="219456"/>
          </a:xfrm>
          <a:prstGeom prst="rect">
            <a:avLst/>
          </a:prstGeom>
          <a:noFill/>
          <a:ln/>
        </p:spPr>
        <p:txBody>
          <a:bodyPr wrap="square" lIns="0" tIns="0" rIns="0" bIns="0" rtlCol="0" anchor="ctr"/>
          <a:lstStyle/>
          <a:p>
            <a:pPr marL="0" indent="0" algn="ctr">
              <a:buNone/>
            </a:pPr>
            <a:r>
              <a:rPr lang="en-US" sz="1200" b="1" dirty="0">
                <a:solidFill>
                  <a:srgbClr val="FFFFFF"/>
                </a:solidFill>
              </a:rPr>
              <a:t>14.81%</a:t>
            </a:r>
            <a:endParaRPr lang="en-US" sz="1200" dirty="0"/>
          </a:p>
        </p:txBody>
      </p:sp>
      <p:sp>
        <p:nvSpPr>
          <p:cNvPr id="23" name="Text 21"/>
          <p:cNvSpPr/>
          <p:nvPr/>
        </p:nvSpPr>
        <p:spPr>
          <a:xfrm>
            <a:off x="5614416" y="4882896"/>
            <a:ext cx="1664208" cy="164592"/>
          </a:xfrm>
          <a:prstGeom prst="rect">
            <a:avLst/>
          </a:prstGeom>
          <a:noFill/>
          <a:ln/>
        </p:spPr>
        <p:txBody>
          <a:bodyPr wrap="square" lIns="0" tIns="0" rIns="0" bIns="0" rtlCol="0" anchor="ctr"/>
          <a:lstStyle/>
          <a:p>
            <a:pPr marL="0" indent="0" algn="ctr">
              <a:buNone/>
            </a:pPr>
            <a:r>
              <a:rPr lang="en-US" sz="800" dirty="0">
                <a:solidFill>
                  <a:srgbClr val="B2EBF2"/>
                </a:solidFill>
              </a:rPr>
              <a:t>Return Rate (Risk)</a:t>
            </a:r>
            <a:endParaRPr lang="en-US" sz="800" dirty="0"/>
          </a:p>
        </p:txBody>
      </p:sp>
      <p:sp>
        <p:nvSpPr>
          <p:cNvPr id="24" name="Shape 22"/>
          <p:cNvSpPr/>
          <p:nvPr/>
        </p:nvSpPr>
        <p:spPr>
          <a:xfrm>
            <a:off x="7379208" y="4645152"/>
            <a:ext cx="1664208" cy="438912"/>
          </a:xfrm>
          <a:prstGeom prst="rect">
            <a:avLst/>
          </a:prstGeom>
          <a:solidFill>
            <a:srgbClr val="00897B"/>
          </a:solidFill>
          <a:ln w="12700">
            <a:solidFill>
              <a:srgbClr val="00897B"/>
            </a:solidFill>
            <a:prstDash val="solid"/>
          </a:ln>
        </p:spPr>
      </p:sp>
      <p:sp>
        <p:nvSpPr>
          <p:cNvPr id="25" name="Text 23"/>
          <p:cNvSpPr/>
          <p:nvPr/>
        </p:nvSpPr>
        <p:spPr>
          <a:xfrm>
            <a:off x="7379208" y="4663440"/>
            <a:ext cx="1664208" cy="219456"/>
          </a:xfrm>
          <a:prstGeom prst="rect">
            <a:avLst/>
          </a:prstGeom>
          <a:noFill/>
          <a:ln/>
        </p:spPr>
        <p:txBody>
          <a:bodyPr wrap="square" lIns="0" tIns="0" rIns="0" bIns="0" rtlCol="0" anchor="ctr"/>
          <a:lstStyle/>
          <a:p>
            <a:pPr marL="0" indent="0" algn="ctr">
              <a:buNone/>
            </a:pPr>
            <a:r>
              <a:rPr lang="en-US" sz="1200" b="1" dirty="0">
                <a:solidFill>
                  <a:srgbClr val="FFFFFF"/>
                </a:solidFill>
              </a:rPr>
              <a:t>8–10%</a:t>
            </a:r>
            <a:endParaRPr lang="en-US" sz="1200" dirty="0"/>
          </a:p>
        </p:txBody>
      </p:sp>
      <p:sp>
        <p:nvSpPr>
          <p:cNvPr id="26" name="Text 24"/>
          <p:cNvSpPr/>
          <p:nvPr/>
        </p:nvSpPr>
        <p:spPr>
          <a:xfrm>
            <a:off x="7379208" y="4882896"/>
            <a:ext cx="1664208" cy="164592"/>
          </a:xfrm>
          <a:prstGeom prst="rect">
            <a:avLst/>
          </a:prstGeom>
          <a:noFill/>
          <a:ln/>
        </p:spPr>
        <p:txBody>
          <a:bodyPr wrap="square" lIns="0" tIns="0" rIns="0" bIns="0" rtlCol="0" anchor="ctr"/>
          <a:lstStyle/>
          <a:p>
            <a:pPr marL="0" indent="0" algn="ctr">
              <a:buNone/>
            </a:pPr>
            <a:r>
              <a:rPr lang="en-US" sz="800" dirty="0">
                <a:solidFill>
                  <a:srgbClr val="B2EBF2"/>
                </a:solidFill>
              </a:rPr>
              <a:t>Target Growth FY26</a:t>
            </a:r>
            <a:endParaRPr lang="en-US" sz="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2393830" y="470657"/>
            <a:ext cx="4114800" cy="4114800"/>
          </a:xfrm>
          <a:prstGeom prst="ellipse">
            <a:avLst/>
          </a:prstGeom>
          <a:solidFill>
            <a:srgbClr val="1B2A3B">
              <a:alpha val="60000"/>
            </a:srgbClr>
          </a:solidFill>
          <a:ln w="12700">
            <a:solidFill>
              <a:srgbClr val="1B2A3B">
                <a:alpha val="60000"/>
              </a:srgbClr>
            </a:solidFill>
            <a:prstDash val="solid"/>
          </a:ln>
        </p:spPr>
      </p:sp>
      <p:sp>
        <p:nvSpPr>
          <p:cNvPr id="3" name="Shape 1"/>
          <p:cNvSpPr/>
          <p:nvPr/>
        </p:nvSpPr>
        <p:spPr>
          <a:xfrm>
            <a:off x="2851030" y="927857"/>
            <a:ext cx="3200400" cy="3200400"/>
          </a:xfrm>
          <a:prstGeom prst="ellipse">
            <a:avLst/>
          </a:prstGeom>
          <a:solidFill>
            <a:srgbClr val="00897B">
              <a:alpha val="25000"/>
            </a:srgbClr>
          </a:solidFill>
          <a:ln w="12700">
            <a:solidFill>
              <a:srgbClr val="00897B">
                <a:alpha val="25000"/>
              </a:srgbClr>
            </a:solidFill>
            <a:prstDash val="solid"/>
          </a:ln>
        </p:spPr>
      </p:sp>
      <p:sp>
        <p:nvSpPr>
          <p:cNvPr id="27" name="TextBox 26">
            <a:extLst>
              <a:ext uri="{FF2B5EF4-FFF2-40B4-BE49-F238E27FC236}">
                <a16:creationId xmlns:a16="http://schemas.microsoft.com/office/drawing/2014/main" id="{CD0AAE6E-7367-FACF-2E62-C2140AE821ED}"/>
              </a:ext>
            </a:extLst>
          </p:cNvPr>
          <p:cNvSpPr txBox="1"/>
          <p:nvPr/>
        </p:nvSpPr>
        <p:spPr>
          <a:xfrm>
            <a:off x="3096883" y="1927893"/>
            <a:ext cx="2708694" cy="1200329"/>
          </a:xfrm>
          <a:prstGeom prst="rect">
            <a:avLst/>
          </a:prstGeom>
          <a:noFill/>
        </p:spPr>
        <p:txBody>
          <a:bodyPr wrap="square" rtlCol="0">
            <a:spAutoFit/>
          </a:bodyPr>
          <a:lstStyle/>
          <a:p>
            <a:pPr algn="ctr"/>
            <a:r>
              <a:rPr lang="en-IN" sz="3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Black" panose="020B0A04020102020204" pitchFamily="34" charset="0"/>
              </a:rPr>
              <a:t>THANK YOU</a:t>
            </a:r>
          </a:p>
        </p:txBody>
      </p:sp>
      <p:sp>
        <p:nvSpPr>
          <p:cNvPr id="29" name="Text 20">
            <a:extLst>
              <a:ext uri="{FF2B5EF4-FFF2-40B4-BE49-F238E27FC236}">
                <a16:creationId xmlns:a16="http://schemas.microsoft.com/office/drawing/2014/main" id="{0DE8B517-600D-2E17-9828-07C315361718}"/>
              </a:ext>
            </a:extLst>
          </p:cNvPr>
          <p:cNvSpPr/>
          <p:nvPr/>
        </p:nvSpPr>
        <p:spPr>
          <a:xfrm>
            <a:off x="328614" y="4701426"/>
            <a:ext cx="8748236" cy="384048"/>
          </a:xfrm>
          <a:prstGeom prst="rect">
            <a:avLst/>
          </a:prstGeom>
          <a:noFill/>
          <a:ln/>
        </p:spPr>
        <p:txBody>
          <a:bodyPr wrap="square" lIns="0" tIns="0" rIns="0" bIns="0" rtlCol="0" anchor="ctr"/>
          <a:lstStyle/>
          <a:p>
            <a:pPr marL="0" indent="0" algn="r">
              <a:buNone/>
            </a:pPr>
            <a:r>
              <a:rPr lang="en-US" sz="2400" b="1" dirty="0">
                <a:solidFill>
                  <a:srgbClr val="FFFFFF"/>
                </a:solidFill>
              </a:rPr>
              <a:t>Prepared by : Krish Makwana</a:t>
            </a:r>
          </a:p>
        </p:txBody>
      </p:sp>
    </p:spTree>
    <p:extLst>
      <p:ext uri="{BB962C8B-B14F-4D97-AF65-F5344CB8AC3E}">
        <p14:creationId xmlns:p14="http://schemas.microsoft.com/office/powerpoint/2010/main" val="30657593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362</TotalTime>
  <Words>2396</Words>
  <Application>Microsoft Office PowerPoint</Application>
  <PresentationFormat>On-screen Show (16:9)</PresentationFormat>
  <Paragraphs>466</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Shopify Sales EDA – Full Report</dc:title>
  <dc:subject>PptxGenJS Presentation</dc:subject>
  <dc:creator>krish makwana</dc:creator>
  <cp:lastModifiedBy>krish makwana</cp:lastModifiedBy>
  <cp:revision>15</cp:revision>
  <dcterms:created xsi:type="dcterms:W3CDTF">2026-05-28T07:49:52Z</dcterms:created>
  <dcterms:modified xsi:type="dcterms:W3CDTF">2026-05-29T12:52:58Z</dcterms:modified>
</cp:coreProperties>
</file>